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Raleway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Poppi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F741FE2-36C7-47BC-9B6F-447858671B19}">
  <a:tblStyle styleId="{EF741FE2-36C7-47BC-9B6F-447858671B1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.fntdata"/><Relationship Id="rId22" Type="http://schemas.openxmlformats.org/officeDocument/2006/relationships/font" Target="fonts/Raleway-boldItalic.fntdata"/><Relationship Id="rId21" Type="http://schemas.openxmlformats.org/officeDocument/2006/relationships/font" Target="fonts/Raleway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Poppins-bold.fntdata"/><Relationship Id="rId27" Type="http://schemas.openxmlformats.org/officeDocument/2006/relationships/font" Target="fonts/Poppi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Poppi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aleway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972600" y="1763267"/>
            <a:ext cx="10251300" cy="20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972600" y="1758200"/>
            <a:ext cx="102516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72600" y="2771833"/>
            <a:ext cx="102516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972434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6191471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973333" y="1758200"/>
            <a:ext cx="4401300" cy="184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961633" y="3708967"/>
            <a:ext cx="4401300" cy="2130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972600" y="1152400"/>
            <a:ext cx="9361500" cy="3980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973333" y="1758200"/>
            <a:ext cx="4401300" cy="224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966600" y="4215367"/>
            <a:ext cx="4401300" cy="1011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6898967" y="1803500"/>
            <a:ext cx="4499100" cy="4034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966600" y="5830068"/>
            <a:ext cx="10263300" cy="614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972600" y="978600"/>
            <a:ext cx="10251300" cy="1659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972600" y="3030517"/>
            <a:ext cx="10251300" cy="210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15.png"/><Relationship Id="rId6" Type="http://schemas.openxmlformats.org/officeDocument/2006/relationships/image" Target="../media/image14.png"/><Relationship Id="rId7" Type="http://schemas.openxmlformats.org/officeDocument/2006/relationships/image" Target="../media/image17.png"/><Relationship Id="rId8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9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18.png"/><Relationship Id="rId7" Type="http://schemas.openxmlformats.org/officeDocument/2006/relationships/image" Target="../media/image20.png"/><Relationship Id="rId8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/>
        </p:nvSpPr>
        <p:spPr>
          <a:xfrm>
            <a:off x="2590561" y="2141190"/>
            <a:ext cx="7011000" cy="16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Seq2Seq ve Attention</a:t>
            </a:r>
            <a:br>
              <a:rPr b="0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Mekanizması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4520803" y="2231677"/>
            <a:ext cx="315039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Bölüm 1</a:t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5619750" y="3660427"/>
            <a:ext cx="9525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4595812" y="4003327"/>
            <a:ext cx="3000375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Seq2Seq Temelleri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1000125" y="3279427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Bir veri dizisini başka bir diziye dönüştürür.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1000125" y="3763267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Girdi ve çıktı uzunlukları farklı olabilir.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1000125" y="4247108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Örnek: İngilizce bir cümleyi Türkçe'ye çevirmek.</a:t>
            </a:r>
            <a:endParaRPr/>
          </a:p>
        </p:txBody>
      </p:sp>
      <p:pic>
        <p:nvPicPr>
          <p:cNvPr descr="image.png" id="103" name="Google Shape;1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2229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0613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289970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Seq2Seq Nedir?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597497"/>
            <a:ext cx="5381625" cy="26631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597497"/>
            <a:ext cx="5381625" cy="266313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914400" y="3673822"/>
            <a:ext cx="493061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Encoder (Kodlayıcı)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914400" y="4188172"/>
            <a:ext cx="46958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Giriş dizisindeki her kelimeyi okur ve cümlenin "anlamını" içeren bir özet oluşturur.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6581775" y="3673822"/>
            <a:ext cx="493061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Decoder (Çözücü)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6581775" y="4188172"/>
            <a:ext cx="46958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Encoder'dan gelen özeti alır ve hedef dildeki kelimeleri tek tek üretmeye başlar.</a:t>
            </a:r>
            <a:endParaRPr/>
          </a:p>
        </p:txBody>
      </p:sp>
      <p:pic>
        <p:nvPicPr>
          <p:cNvPr descr="image.png" id="118" name="Google Shape;11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" y="298802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1775" y="298802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Mimari: İki Ana Bileşen</a:t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/>
        </p:nvSpPr>
        <p:spPr>
          <a:xfrm>
            <a:off x="571500" y="3076575"/>
            <a:ext cx="44196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100%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571500" y="4410075"/>
            <a:ext cx="44196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Anlam Özeti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5372100" y="3307109"/>
            <a:ext cx="656082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Bilginin Sıkıştırılması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5372100" y="3821459"/>
            <a:ext cx="62484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Encoder, tüm cümleyi tek bir sayısal vektöre (Context Vector) sığdırır. Decoder'ın sahip olduğu tek bilgi kaynağı budur.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Bağlam Vektörü (Context Vector)</a:t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/>
        </p:nvSpPr>
        <p:spPr>
          <a:xfrm>
            <a:off x="671513" y="571500"/>
            <a:ext cx="5000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Darboğaz Sorunu</a:t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571500" y="1571625"/>
            <a:ext cx="5200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Nerede Hata Yapıyoruz?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571500" y="2085975"/>
            <a:ext cx="49530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Uzun cümlelerde tüm anlamı tek bir küçük vektöre sığdırmak imkansızdır. Model, cümlenin başındaki kelimeleri "unutmaya" başlar.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571500" y="3108870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Buna </a:t>
            </a: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"Bilgi Darboğazı" (Information Bottleneck)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denir.</a:t>
            </a:r>
            <a:endParaRPr/>
          </a:p>
        </p:txBody>
      </p:sp>
      <p:pic>
        <p:nvPicPr>
          <p:cNvPr id="141" name="Google Shape;14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1325" y="1571625"/>
            <a:ext cx="6960676" cy="4947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/>
        </p:nvSpPr>
        <p:spPr>
          <a:xfrm>
            <a:off x="4265771" y="2231677"/>
            <a:ext cx="366045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Bölüm 2</a:t>
            </a:r>
            <a:endParaRPr/>
          </a:p>
        </p:txBody>
      </p:sp>
      <p:sp>
        <p:nvSpPr>
          <p:cNvPr id="147" name="Google Shape;147;p19"/>
          <p:cNvSpPr/>
          <p:nvPr/>
        </p:nvSpPr>
        <p:spPr>
          <a:xfrm>
            <a:off x="5619750" y="3660427"/>
            <a:ext cx="9525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4352925" y="4003327"/>
            <a:ext cx="34861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Attention Mekanizması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50752"/>
            <a:ext cx="3492549" cy="29564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799" y="2450752"/>
            <a:ext cx="3492549" cy="29564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2450752"/>
            <a:ext cx="3492549" cy="295647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0"/>
          <p:cNvSpPr txBox="1"/>
          <p:nvPr/>
        </p:nvSpPr>
        <p:spPr>
          <a:xfrm>
            <a:off x="914400" y="3527077"/>
            <a:ext cx="29470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Seçici Odak</a:t>
            </a:r>
            <a:endParaRPr/>
          </a:p>
        </p:txBody>
      </p:sp>
      <p:sp>
        <p:nvSpPr>
          <p:cNvPr id="157" name="Google Shape;157;p20"/>
          <p:cNvSpPr txBox="1"/>
          <p:nvPr/>
        </p:nvSpPr>
        <p:spPr>
          <a:xfrm>
            <a:off x="914400" y="4041427"/>
            <a:ext cx="280674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Her kelimeyi üretirken orijinal cümlenin farklı yerlerine bakar.</a:t>
            </a:r>
            <a:endParaRPr/>
          </a:p>
        </p:txBody>
      </p:sp>
      <p:sp>
        <p:nvSpPr>
          <p:cNvPr id="158" name="Google Shape;158;p20"/>
          <p:cNvSpPr txBox="1"/>
          <p:nvPr/>
        </p:nvSpPr>
        <p:spPr>
          <a:xfrm>
            <a:off x="4692699" y="3527077"/>
            <a:ext cx="29470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Dinamik Bağlam</a:t>
            </a:r>
            <a:endParaRPr/>
          </a:p>
        </p:txBody>
      </p:sp>
      <p:sp>
        <p:nvSpPr>
          <p:cNvPr id="159" name="Google Shape;159;p20"/>
          <p:cNvSpPr txBox="1"/>
          <p:nvPr/>
        </p:nvSpPr>
        <p:spPr>
          <a:xfrm>
            <a:off x="4692699" y="4041427"/>
            <a:ext cx="280674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Artık tek bir özet yok, her adımda değişen bir bakış açısı var.</a:t>
            </a:r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8470999" y="3527077"/>
            <a:ext cx="29470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Sınırsız Hafıza</a:t>
            </a:r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8470999" y="4041427"/>
            <a:ext cx="2806749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Uzun cümlelerde bile performansı korur.</a:t>
            </a:r>
            <a:endParaRPr/>
          </a:p>
        </p:txBody>
      </p:sp>
      <p:pic>
        <p:nvPicPr>
          <p:cNvPr descr="image.png" id="162" name="Google Shape;16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284127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92699" y="284127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70999" y="284127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Attention: "Odaklanma" Yeteneği</a:t>
            </a:r>
            <a:endParaRPr/>
          </a:p>
        </p:txBody>
      </p:sp>
      <p:sp>
        <p:nvSpPr>
          <p:cNvPr id="166" name="Google Shape;166;p2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934149"/>
            <a:ext cx="5238750" cy="366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1"/>
          <p:cNvSpPr txBox="1"/>
          <p:nvPr/>
        </p:nvSpPr>
        <p:spPr>
          <a:xfrm>
            <a:off x="6381750" y="3160365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Ağırlıklı Önem</a:t>
            </a:r>
            <a:endParaRPr/>
          </a:p>
        </p:txBody>
      </p:sp>
      <p:sp>
        <p:nvSpPr>
          <p:cNvPr id="173" name="Google Shape;173;p21"/>
          <p:cNvSpPr txBox="1"/>
          <p:nvPr/>
        </p:nvSpPr>
        <p:spPr>
          <a:xfrm>
            <a:off x="6381750" y="3674715"/>
            <a:ext cx="52387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Model, her giriş kelimesine bir "önem skoru" verir. Örneğin "Cat" kelimesini çevirirken orijinal cümledeki "Kedi" kelimesine en yüksek ağırlığı verir.</a:t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Nasıl Çalışır?</a:t>
            </a:r>
            <a:endParaRPr/>
          </a:p>
        </p:txBody>
      </p:sp>
      <p:sp>
        <p:nvSpPr>
          <p:cNvPr id="175" name="Google Shape;175;p2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0" name="Google Shape;180;p22"/>
          <p:cNvGraphicFramePr/>
          <p:nvPr/>
        </p:nvGraphicFramePr>
        <p:xfrm>
          <a:off x="571500" y="23431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{EF741FE2-36C7-47BC-9B6F-447858671B19}</a:tableStyleId>
              </a:tblPr>
              <a:tblGrid>
                <a:gridCol w="3045625"/>
                <a:gridCol w="3726050"/>
                <a:gridCol w="4277325"/>
              </a:tblGrid>
              <a:tr h="63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Özellik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Klasik Seq2Seq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Seq2Seq + Attention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46E5"/>
                    </a:solidFill>
                  </a:tcPr>
                </a:tc>
              </a:tr>
              <a:tr h="63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Bilgi Kaynağı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Tek bir sabit vektör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Girdinin tamamı (seçici)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Cümle Uzunluğu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Uzun cümlelerde zayıf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Tüm uzunluklarda başarılı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Hesaplama Gücü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Düşük / Hızlı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Daha yüksek / Karmaşık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Doğruluk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Orta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Çok Yüksek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1" name="Google Shape;181;p22"/>
          <p:cNvSpPr/>
          <p:nvPr/>
        </p:nvSpPr>
        <p:spPr>
          <a:xfrm>
            <a:off x="571500" y="3614737"/>
            <a:ext cx="30456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3617118" y="3614737"/>
            <a:ext cx="37260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7343179" y="3614737"/>
            <a:ext cx="42773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2"/>
          <p:cNvSpPr/>
          <p:nvPr/>
        </p:nvSpPr>
        <p:spPr>
          <a:xfrm>
            <a:off x="571500" y="4243387"/>
            <a:ext cx="30456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2"/>
          <p:cNvSpPr/>
          <p:nvPr/>
        </p:nvSpPr>
        <p:spPr>
          <a:xfrm>
            <a:off x="3617118" y="4243387"/>
            <a:ext cx="37260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2"/>
          <p:cNvSpPr/>
          <p:nvPr/>
        </p:nvSpPr>
        <p:spPr>
          <a:xfrm>
            <a:off x="7343179" y="4243387"/>
            <a:ext cx="42773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571500" y="4872037"/>
            <a:ext cx="30456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3617118" y="4872037"/>
            <a:ext cx="37260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2"/>
          <p:cNvSpPr/>
          <p:nvPr/>
        </p:nvSpPr>
        <p:spPr>
          <a:xfrm>
            <a:off x="7343179" y="4872037"/>
            <a:ext cx="42773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2"/>
          <p:cNvSpPr/>
          <p:nvPr/>
        </p:nvSpPr>
        <p:spPr>
          <a:xfrm>
            <a:off x="571500" y="5500687"/>
            <a:ext cx="30456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3617118" y="5500687"/>
            <a:ext cx="37260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7343179" y="5500687"/>
            <a:ext cx="42773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Seq2Seq vs Attention</a:t>
            </a:r>
            <a:endParaRPr/>
          </a:p>
        </p:txBody>
      </p:sp>
      <p:sp>
        <p:nvSpPr>
          <p:cNvPr id="194" name="Google Shape;194;p22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202209"/>
            <a:ext cx="3492549" cy="34537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799" y="2202209"/>
            <a:ext cx="3492549" cy="34537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2202209"/>
            <a:ext cx="3492549" cy="34537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70999" y="2545109"/>
            <a:ext cx="2806749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3"/>
          <p:cNvSpPr txBox="1"/>
          <p:nvPr/>
        </p:nvSpPr>
        <p:spPr>
          <a:xfrm>
            <a:off x="914400" y="3278534"/>
            <a:ext cx="29470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Çeviri</a:t>
            </a:r>
            <a:endParaRPr/>
          </a:p>
        </p:txBody>
      </p:sp>
      <p:sp>
        <p:nvSpPr>
          <p:cNvPr id="204" name="Google Shape;204;p23"/>
          <p:cNvSpPr txBox="1"/>
          <p:nvPr/>
        </p:nvSpPr>
        <p:spPr>
          <a:xfrm>
            <a:off x="914400" y="3792884"/>
            <a:ext cx="2806749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Google Translate gibi modern sistemlerin kalbidir.</a:t>
            </a:r>
            <a:endParaRPr/>
          </a:p>
        </p:txBody>
      </p:sp>
      <p:sp>
        <p:nvSpPr>
          <p:cNvPr id="205" name="Google Shape;205;p23"/>
          <p:cNvSpPr txBox="1"/>
          <p:nvPr/>
        </p:nvSpPr>
        <p:spPr>
          <a:xfrm>
            <a:off x="4692699" y="3278534"/>
            <a:ext cx="29470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Özetleme</a:t>
            </a:r>
            <a:endParaRPr/>
          </a:p>
        </p:txBody>
      </p:sp>
      <p:sp>
        <p:nvSpPr>
          <p:cNvPr id="206" name="Google Shape;206;p23"/>
          <p:cNvSpPr txBox="1"/>
          <p:nvPr/>
        </p:nvSpPr>
        <p:spPr>
          <a:xfrm>
            <a:off x="4692699" y="3792884"/>
            <a:ext cx="2806749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Uzun metinlerin kısa ve öz hallerini üretir.</a:t>
            </a:r>
            <a:endParaRPr/>
          </a:p>
        </p:txBody>
      </p:sp>
      <p:sp>
        <p:nvSpPr>
          <p:cNvPr id="207" name="Google Shape;207;p23"/>
          <p:cNvSpPr txBox="1"/>
          <p:nvPr/>
        </p:nvSpPr>
        <p:spPr>
          <a:xfrm>
            <a:off x="8470999" y="4069109"/>
            <a:ext cx="29470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Diğer</a:t>
            </a:r>
            <a:endParaRPr/>
          </a:p>
        </p:txBody>
      </p:sp>
      <p:sp>
        <p:nvSpPr>
          <p:cNvPr id="208" name="Google Shape;208;p23"/>
          <p:cNvSpPr txBox="1"/>
          <p:nvPr/>
        </p:nvSpPr>
        <p:spPr>
          <a:xfrm>
            <a:off x="8470999" y="4583459"/>
            <a:ext cx="2806749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Görüntü altyazılama ve konuşma tanıma.</a:t>
            </a:r>
            <a:endParaRPr/>
          </a:p>
        </p:txBody>
      </p:sp>
      <p:pic>
        <p:nvPicPr>
          <p:cNvPr descr="image.png" id="209" name="Google Shape;20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2592734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2699" y="2592734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70999" y="2545109"/>
            <a:ext cx="2806749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Uygulama Alanları</a:t>
            </a:r>
            <a:endParaRPr/>
          </a:p>
        </p:txBody>
      </p:sp>
      <p:sp>
        <p:nvSpPr>
          <p:cNvPr id="213" name="Google Shape;213;p23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6363" y="443588"/>
            <a:ext cx="9859273" cy="597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