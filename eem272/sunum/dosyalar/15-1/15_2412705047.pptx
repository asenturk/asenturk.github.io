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Lato" panose="020F0502020204030204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-94"/>
      <p:regular r:id="rId22"/>
      <p:bold r:id="rId23"/>
      <p:italic r:id="rId24"/>
      <p:boldItalic r:id="rId25"/>
    </p:embeddedFont>
    <p:embeddedFont>
      <p:font typeface="Poppins Medium" panose="020B0502040204020203" pitchFamily="2" charset="-94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4E"/>
    <a:srgbClr val="3A5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9D580E-EBD5-4966-9547-86318A7F87F3}">
  <a:tblStyle styleId="{C89D580E-EBD5-4966-9547-86318A7F87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a8613f42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a8613f42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8613f421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8613f421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a8613f42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9a8613f42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a8613f421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a8613f421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2311275" y="2694000"/>
            <a:ext cx="7772400" cy="147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400" b="1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Seq2Seq </a:t>
            </a:r>
            <a:r>
              <a:rPr lang="en-US" sz="5400" b="1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5400" b="1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 Attention</a:t>
            </a:r>
            <a:endParaRPr sz="1400" dirty="0">
              <a:solidFill>
                <a:srgbClr val="002C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3"/>
          <p:cNvSpPr/>
          <p:nvPr/>
        </p:nvSpPr>
        <p:spPr>
          <a:xfrm>
            <a:off x="2851700" y="2491750"/>
            <a:ext cx="6720000" cy="76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85611" y="2309812"/>
            <a:ext cx="6220777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Temel Mimari Yapı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500437"/>
            <a:ext cx="952500" cy="76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86238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Sequence-to-Sequence (Seq2Seq) modellerinin teorik temelleri ve Encoder-Decoder çerçevesi.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3174206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Değişken Uzunluklu Diziler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3755231"/>
            <a:ext cx="52863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Girdi ve çıktı dizilerinin uzunluklarının farklı olabildiği (örn. İngilizce'den Türkçe'ye çeviri) görevler için tasarlanmıştır. Model, diziler arasındaki gizli haritalamayı öğrenir.</a:t>
            </a:r>
            <a:endParaRPr sz="1500"/>
          </a:p>
        </p:txBody>
      </p:sp>
      <p:sp>
        <p:nvSpPr>
          <p:cNvPr id="103" name="Google Shape;103;p15"/>
          <p:cNvSpPr txBox="1"/>
          <p:nvPr/>
        </p:nvSpPr>
        <p:spPr>
          <a:xfrm>
            <a:off x="6334125" y="3174206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Koşullu Dil Modelleme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34125" y="3755231"/>
            <a:ext cx="52863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Seq2Seq, girdiye (source) dayalı olarak çıktı (target) dizisinin olasılığını P(y|x) maksimize eder. Bilgi, Encoder'dan Decoder'a aktarılan bir bağlam vektöründe saklanır.</a:t>
            </a:r>
            <a:endParaRPr sz="1500"/>
          </a:p>
        </p:txBody>
      </p:sp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Sequence-to-Sequence Kavramı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12883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287655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Encoder: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Girdi kelimelerini ardışık olarak işler ve son gizli durumu "Context Vector" olarak üretir.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365760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Decoder: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Bağlam vektörünü kullanarak, bir önceki tahmini ve mevcut durumu temel alıp hedef kelimeyi üretir.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43865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Darboğaz Sorunu: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Sabit uzunluklu vektör, uzun cümlelerde bilgi kaybına (information loss) yol açar.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1941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0046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481512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Encoder-Decoder Mekanizması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606275" y="824450"/>
            <a:ext cx="4098300" cy="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412150" y="707025"/>
            <a:ext cx="63765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300" b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Bağlantı Vektörü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72900" y="856075"/>
            <a:ext cx="95400" cy="40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12050" y="2257300"/>
            <a:ext cx="3719100" cy="27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Encoder'ın girdi cümlesinden süzdüğü tüm bilginin "özeti" olan sabit uzunluklu bir sayısal vektördür.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ve Decoder arasındaki tek köprüdür; Decoder bu vektöre bakarak "Ne anlatmak istenmiş?" sorusuna yanıt arar.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075" y="1919200"/>
            <a:ext cx="6035298" cy="35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436025" y="6235800"/>
            <a:ext cx="11030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919BA9"/>
                </a:solidFill>
                <a:latin typeface="Calibri"/>
                <a:ea typeface="Calibri"/>
                <a:cs typeface="Calibri"/>
                <a:sym typeface="Calibri"/>
              </a:rPr>
              <a:t>Kaynak:Exploring the Power of Encoder-Decoder Models:Prons,Cons and Applications.</a:t>
            </a:r>
            <a:endParaRPr sz="1200" i="1">
              <a:solidFill>
                <a:srgbClr val="919B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7"/>
          <p:cNvCxnSpPr>
            <a:stCxn id="132" idx="0"/>
          </p:cNvCxnSpPr>
          <p:nvPr/>
        </p:nvCxnSpPr>
        <p:spPr>
          <a:xfrm rot="10800000">
            <a:off x="535775" y="6225000"/>
            <a:ext cx="5415300" cy="10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3175" y="0"/>
            <a:ext cx="122851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14875"/>
            <a:ext cx="4953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143625"/>
            <a:ext cx="5486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762000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Attention Mekanizması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381250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Darboğaz problemini aşmak için tasarlanan Attention, Decoder'ın her adımda girdi cümlesinin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farklı kısımlarına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odaklanmasını sağlar.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3500437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Dinamik olarak atanan ağırlıklar (Attention Weights), kelimeler arasındaki anlamsal hizalamayı (Alignment) sağlar. Bu sayede model uzun cümlelerde dahi performansı korur.</a:t>
            </a:r>
            <a:endParaRPr/>
          </a:p>
        </p:txBody>
      </p:sp>
      <p:pic>
        <p:nvPicPr>
          <p:cNvPr id="144" name="Google Shape;14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8425" y="4769100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1525" y="0"/>
            <a:ext cx="5990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5993"/>
            <a:ext cx="3492549" cy="338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35993"/>
            <a:ext cx="3492549" cy="338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35993"/>
            <a:ext cx="3492549" cy="338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914400" y="3226593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Teacher Forcing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14400" y="3807618"/>
            <a:ext cx="280674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Eğitimde modelin hatasını düzeltmek için bir sonraki adıma yanlış tahmin değil, gerçek hedef kelime girdi olarak verilir. Yakınsamayı hızlandırır.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692699" y="3226593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Beam Search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692699" y="3807618"/>
            <a:ext cx="280674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Tahmin aşamasında sadece en olası kelimeyi (Greedy) değil, en iyi "k" adet yolu takip ederek küresel olarak en olası cümleyi bulur.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470999" y="3226593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Greedy Search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470999" y="3807618"/>
            <a:ext cx="280674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Her adımda yerel olarak en yüksek olasılıklı kelimeyi seçer. Hızlıdır ancak suboptimal (ideal altı) sonuçlar üretme riski yüksektir.</a:t>
            </a:r>
            <a:endParaRPr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26169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92699" y="261699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70999" y="261699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Eğitim ve Tahmin Stratejileri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3069425"/>
            <a:ext cx="2482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0.4</a:t>
            </a:r>
            <a:r>
              <a:rPr lang="en-US" sz="8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00"/>
          </a:p>
        </p:txBody>
      </p:sp>
      <p:sp>
        <p:nvSpPr>
          <p:cNvPr id="173" name="Google Shape;173;p20"/>
          <p:cNvSpPr txBox="1"/>
          <p:nvPr/>
        </p:nvSpPr>
        <p:spPr>
          <a:xfrm>
            <a:off x="242263" y="4381394"/>
            <a:ext cx="3000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İnsan Kalitesine Yakınlık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143375" y="2981325"/>
            <a:ext cx="785098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2C4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N-Gram Hassasiyeti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143375" y="3562350"/>
            <a:ext cx="7477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Bilingual Evaluation Understudy (BLEU), makine çevirisini n-gram çakışması üzerinden değerlendirir. 1.0 değeri referans metinle tam eşleşmeyi ifade eder.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143375" y="4219575"/>
            <a:ext cx="74771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Metrik, doğruluğu cezalandıran "Brevity Penalty" (kısalık cezası) içerir. Modern sistemler genellikle 0.30 - 0.50 aralığında skorlar elde eder.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BLEU Skoru Analizi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2061418" y="5403056"/>
            <a:ext cx="8069014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Perplexity değeri düştükçe, modelin test verisindeki kelimeleri tahmin etme olasılığı ve başarısı artar.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Perplexity (Karmaşıklık) Trendi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/>
          <p:nvPr/>
        </p:nvSpPr>
        <p:spPr>
          <a:xfrm>
            <a:off x="2222748" y="2266950"/>
            <a:ext cx="7746503" cy="3324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2"/>
          <p:cNvGraphicFramePr/>
          <p:nvPr/>
        </p:nvGraphicFramePr>
        <p:xfrm>
          <a:off x="2222748" y="2266950"/>
          <a:ext cx="7746500" cy="3324250"/>
        </p:xfrm>
        <a:graphic>
          <a:graphicData uri="http://schemas.openxmlformats.org/drawingml/2006/table">
            <a:tbl>
              <a:tblPr firstRow="1" bandRow="1">
                <a:noFill/>
                <a:tableStyleId>{C89D580E-EBD5-4966-9547-86318A7F87F3}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Odak Noktası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İdeal Değer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Avantajı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BLEU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N-gram Çakışması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Yüksek (1.0)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Düşük hesaplama maliyeti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Olasılık Tahmini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Düşük (1.0)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belirsizliğini ölçer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METEOR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Anlamsal Eşleşme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Yüksek (1.0)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Eş anlamlıları dikkate alır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BERTScore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 Embedding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Yüksek (1.0)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Derin anlamsal benzerlik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" name="Google Shape;197;p22"/>
          <p:cNvSpPr/>
          <p:nvPr/>
        </p:nvSpPr>
        <p:spPr>
          <a:xfrm>
            <a:off x="2222748" y="2928937"/>
            <a:ext cx="1371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3594348" y="2928937"/>
            <a:ext cx="2324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918448" y="2928937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7383214" y="2928937"/>
            <a:ext cx="2586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222748" y="3590925"/>
            <a:ext cx="1371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594348" y="3590925"/>
            <a:ext cx="2324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918448" y="3590925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7383214" y="3590925"/>
            <a:ext cx="2586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2222748" y="4252912"/>
            <a:ext cx="1371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594348" y="4252912"/>
            <a:ext cx="2324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918448" y="4252912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7383214" y="4252912"/>
            <a:ext cx="2586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2222748" y="4914900"/>
            <a:ext cx="1371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594348" y="4914900"/>
            <a:ext cx="2324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918448" y="4914900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383214" y="4914900"/>
            <a:ext cx="2586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222748" y="5576887"/>
            <a:ext cx="1371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594348" y="5576887"/>
            <a:ext cx="2324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918448" y="5576887"/>
            <a:ext cx="14647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7383214" y="5576887"/>
            <a:ext cx="2586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Performans</a:t>
            </a:r>
            <a:r>
              <a:rPr lang="en-US" sz="3300" b="1" i="0" u="none" strike="noStrike" cap="none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Metrikleri</a:t>
            </a:r>
            <a:r>
              <a:rPr lang="en-US" sz="3300" b="1" i="0" u="none" strike="noStrike" cap="none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Karşılaştırması</a:t>
            </a:r>
            <a:endParaRPr dirty="0">
              <a:solidFill>
                <a:srgbClr val="002C4E"/>
              </a:solidFill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571500" y="42624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510733" y="3786187"/>
            <a:ext cx="25521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1CAA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2014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436721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RNN Seq2Seq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Sutskever et al.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3383413" y="3786187"/>
            <a:ext cx="25521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1CAA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2015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3444180" y="436721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Attention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Bahdanau / Luong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256094" y="3786187"/>
            <a:ext cx="25521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1CAA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2017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316860" y="436721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Transformers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Attention Is All You Need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128774" y="3786187"/>
            <a:ext cx="25521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1CAA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2018+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189541" y="436721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Large LMs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BERT, GPT Serisi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NLP </a:t>
            </a: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Mimari</a:t>
            </a:r>
            <a:r>
              <a:rPr lang="en-US" sz="3300" b="1" i="0" u="none" strike="noStrike" cap="none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3300" b="1" i="0" u="none" strike="noStrike" cap="none" dirty="0" err="1">
                <a:solidFill>
                  <a:srgbClr val="3A5061"/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3300" b="1" i="0" u="none" strike="noStrike" cap="none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endParaRPr dirty="0"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739125" y="4210074"/>
            <a:ext cx="95400" cy="142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611813" y="4210074"/>
            <a:ext cx="95400" cy="142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484475" y="4210074"/>
            <a:ext cx="95400" cy="142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0357150" y="4224324"/>
            <a:ext cx="95400" cy="142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/>
          <p:nvPr/>
        </p:nvSpPr>
        <p:spPr>
          <a:xfrm>
            <a:off x="1464468" y="2266950"/>
            <a:ext cx="9263062" cy="3324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1464468" y="2266950"/>
          <a:ext cx="9263050" cy="3324250"/>
        </p:xfrm>
        <a:graphic>
          <a:graphicData uri="http://schemas.openxmlformats.org/drawingml/2006/table">
            <a:tbl>
              <a:tblPr firstRow="1" bandRow="1">
                <a:noFill/>
                <a:tableStyleId>{C89D580E-EBD5-4966-9547-86318A7F87F3}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Yıl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Yazar(lar)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Çalışma Adı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Kritik Katkı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Sutskever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Sequence to Sequence Learning...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Seq2Seq ve Encoder-Decoder Giriş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Bahdanau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Neural Machine Translation...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Attention (Dikkat) Mekanizması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Papineni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BLEU: A Method for Evaluation...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Otomatik Çeviri Metriği Tanımı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Jurafsky &amp; Martin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Speech and Language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Kapsamlı NLP Teorik Çerçevesi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7" name="Google Shape;247;p24"/>
          <p:cNvSpPr/>
          <p:nvPr/>
        </p:nvSpPr>
        <p:spPr>
          <a:xfrm>
            <a:off x="1464468" y="2928937"/>
            <a:ext cx="895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2359818" y="2928937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264818" y="2928937"/>
            <a:ext cx="3152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7417593" y="2928937"/>
            <a:ext cx="3309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1464468" y="3590925"/>
            <a:ext cx="895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2359818" y="3590925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264818" y="3590925"/>
            <a:ext cx="3152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417593" y="3590925"/>
            <a:ext cx="3309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1464468" y="4252912"/>
            <a:ext cx="895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2359818" y="4252912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264818" y="4252912"/>
            <a:ext cx="3152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7417593" y="4252912"/>
            <a:ext cx="3309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464468" y="4914900"/>
            <a:ext cx="895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2359818" y="4914900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4264818" y="4914900"/>
            <a:ext cx="3152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7417593" y="4914900"/>
            <a:ext cx="3309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1464468" y="5576887"/>
            <a:ext cx="895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2359818" y="5576887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4264818" y="5576887"/>
            <a:ext cx="3152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7417593" y="5576887"/>
            <a:ext cx="3309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Akademik Referanslar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450"/>
            <a:ext cx="1219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BF2950-A0E7-A147-0640-C9AAC3703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52017"/>
            <a:ext cx="7772400" cy="1470025"/>
          </a:xfrm>
        </p:spPr>
        <p:txBody>
          <a:bodyPr/>
          <a:lstStyle/>
          <a:p>
            <a:r>
              <a:rPr lang="tr-TR" b="1" dirty="0">
                <a:solidFill>
                  <a:srgbClr val="002C4E"/>
                </a:solidFill>
              </a:rPr>
              <a:t>Beni Dinlediğiniz İçin Teşekkür </a:t>
            </a:r>
            <a:r>
              <a:rPr lang="tr-TR" b="1" dirty="0" err="1">
                <a:solidFill>
                  <a:srgbClr val="002C4E"/>
                </a:solidFill>
              </a:rPr>
              <a:t>Edeirm</a:t>
            </a:r>
            <a:endParaRPr lang="tr-TR" b="1" dirty="0">
              <a:solidFill>
                <a:srgbClr val="002C4E"/>
              </a:solidFill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663B7F1-C596-6025-22F1-F18B7A7D4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429000"/>
            <a:ext cx="6400800" cy="1752600"/>
          </a:xfrm>
        </p:spPr>
        <p:txBody>
          <a:bodyPr/>
          <a:lstStyle/>
          <a:p>
            <a:r>
              <a:rPr lang="en-US" sz="3200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Seq2Seq </a:t>
            </a:r>
            <a:r>
              <a:rPr lang="en-US" sz="3200" dirty="0" err="1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3200" dirty="0">
                <a:solidFill>
                  <a:srgbClr val="002C4E"/>
                </a:solidFill>
                <a:latin typeface="Poppins"/>
                <a:ea typeface="Poppins"/>
                <a:cs typeface="Poppins"/>
                <a:sym typeface="Poppins"/>
              </a:rPr>
              <a:t> Attention</a:t>
            </a:r>
            <a:endParaRPr lang="en-US" sz="900" dirty="0">
              <a:solidFill>
                <a:srgbClr val="002C4E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43629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Office PowerPoint</Application>
  <PresentationFormat>Geniş ekran</PresentationFormat>
  <Paragraphs>88</Paragraphs>
  <Slides>15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1" baseType="lpstr">
      <vt:lpstr>Arial</vt:lpstr>
      <vt:lpstr>Calibri</vt:lpstr>
      <vt:lpstr>Poppins</vt:lpstr>
      <vt:lpstr>Lato</vt:lpstr>
      <vt:lpstr>Poppins Medium</vt:lpstr>
      <vt:lpstr>Office Theme</vt:lpstr>
      <vt:lpstr>Seq2Seq ve Attention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Beni Dinlediğiniz İçin Teşekkür Edeirm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Ahmet Akın Mercan</cp:lastModifiedBy>
  <cp:revision>1</cp:revision>
  <dcterms:modified xsi:type="dcterms:W3CDTF">2026-05-03T17:03:07Z</dcterms:modified>
</cp:coreProperties>
</file>