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tr-TR"/>
              <a:t>Asıl alt başlık stilini düzenlemek için tıklayın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6CEDBB-A5B1-4C9E-9186-653730BD5AD4}" type="datetimeFigureOut">
              <a:rPr lang="tr-TR" smtClean="0"/>
              <a:t>2.05.2026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1A02AA-16E4-413F-B749-6DC4A9E6CF03}" type="slidenum">
              <a:rPr lang="tr-TR" smtClean="0"/>
              <a:t>‹#›</a:t>
            </a:fld>
            <a:endParaRPr lang="tr-TR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359293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6CEDBB-A5B1-4C9E-9186-653730BD5AD4}" type="datetimeFigureOut">
              <a:rPr lang="tr-TR" smtClean="0"/>
              <a:t>2.05.2026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1A02AA-16E4-413F-B749-6DC4A9E6CF03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4213130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Bölüm Üst Bilgisi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6CEDBB-A5B1-4C9E-9186-653730BD5AD4}" type="datetimeFigureOut">
              <a:rPr lang="tr-TR" smtClean="0"/>
              <a:t>2.05.2026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1A02AA-16E4-413F-B749-6DC4A9E6CF03}" type="slidenum">
              <a:rPr lang="tr-TR" smtClean="0"/>
              <a:t>‹#›</a:t>
            </a:fld>
            <a:endParaRPr lang="tr-TR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83205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6CEDBB-A5B1-4C9E-9186-653730BD5AD4}" type="datetimeFigureOut">
              <a:rPr lang="tr-TR" smtClean="0"/>
              <a:t>2.05.2026</a:t>
            </a:fld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1A02AA-16E4-413F-B749-6DC4A9E6CF03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1665873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6CEDBB-A5B1-4C9E-9186-653730BD5AD4}" type="datetimeFigureOut">
              <a:rPr lang="tr-TR" smtClean="0"/>
              <a:t>2.05.2026</a:t>
            </a:fld>
            <a:endParaRPr lang="tr-T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1A02AA-16E4-413F-B749-6DC4A9E6CF03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0667524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6CEDBB-A5B1-4C9E-9186-653730BD5AD4}" type="datetimeFigureOut">
              <a:rPr lang="tr-TR" smtClean="0"/>
              <a:t>2.05.2026</a:t>
            </a:fld>
            <a:endParaRPr lang="tr-T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1A02AA-16E4-413F-B749-6DC4A9E6CF03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9263231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6CEDBB-A5B1-4C9E-9186-653730BD5AD4}" type="datetimeFigureOut">
              <a:rPr lang="tr-TR" smtClean="0"/>
              <a:t>2.05.2026</a:t>
            </a:fld>
            <a:endParaRPr lang="tr-T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tr-T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1A02AA-16E4-413F-B749-6DC4A9E6CF03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3328375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6A6CEDBB-A5B1-4C9E-9186-653730BD5AD4}" type="datetimeFigureOut">
              <a:rPr lang="tr-TR" smtClean="0"/>
              <a:t>2.05.2026</a:t>
            </a:fld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61A02AA-16E4-413F-B749-6DC4A9E6CF03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5050853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tr-TR"/>
              <a:t>Resim eklemek için simgeye tıklayın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6CEDBB-A5B1-4C9E-9186-653730BD5AD4}" type="datetimeFigureOut">
              <a:rPr lang="tr-TR" smtClean="0"/>
              <a:t>2.05.2026</a:t>
            </a:fld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1A02AA-16E4-413F-B749-6DC4A9E6CF03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7059639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 ve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6CEDBB-A5B1-4C9E-9186-653730BD5AD4}" type="datetimeFigureOut">
              <a:rPr lang="tr-TR" smtClean="0"/>
              <a:t>2.05.2026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1A02AA-16E4-413F-B749-6DC4A9E6CF03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6607546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6CEDBB-A5B1-4C9E-9186-653730BD5AD4}" type="datetimeFigureOut">
              <a:rPr lang="tr-TR" smtClean="0"/>
              <a:t>2.05.2026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1A02AA-16E4-413F-B749-6DC4A9E6CF03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5764563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6A6CEDBB-A5B1-4C9E-9186-653730BD5AD4}" type="datetimeFigureOut">
              <a:rPr lang="tr-TR" smtClean="0"/>
              <a:t>2.05.2026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861A02AA-16E4-413F-B749-6DC4A9E6CF03}" type="slidenum">
              <a:rPr lang="tr-TR" smtClean="0"/>
              <a:t>‹#›</a:t>
            </a:fld>
            <a:endParaRPr lang="tr-TR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078746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eeksforgeeks.org/" TargetMode="External"/><Relationship Id="rId2" Type="http://schemas.openxmlformats.org/officeDocument/2006/relationships/hyperlink" Target="https://nlp.stanford.edu/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youtube.com/@Sadievrenseker_BK/featured" TargetMode="External"/><Relationship Id="rId4" Type="http://schemas.openxmlformats.org/officeDocument/2006/relationships/hyperlink" Target="https://www-lyzr-ai.translate.goog/glossaries/contextual-embeddings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32E5971E-5B6E-D7F9-C5F2-7DCC2C2F24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77615" y="1192776"/>
            <a:ext cx="9551055" cy="1143000"/>
          </a:xfrm>
        </p:spPr>
        <p:txBody>
          <a:bodyPr/>
          <a:lstStyle/>
          <a:p>
            <a:pPr algn="ctr"/>
            <a:r>
              <a:rPr lang="tr-TR" b="1" dirty="0">
                <a:latin typeface="Bahnschrift" panose="020B0502040204020203" pitchFamily="34" charset="0"/>
              </a:rPr>
              <a:t>WORD EMBEDDINGS</a:t>
            </a:r>
          </a:p>
        </p:txBody>
      </p:sp>
      <p:sp>
        <p:nvSpPr>
          <p:cNvPr id="3" name="Alt Başlık 2">
            <a:extLst>
              <a:ext uri="{FF2B5EF4-FFF2-40B4-BE49-F238E27FC236}">
                <a16:creationId xmlns:a16="http://schemas.microsoft.com/office/drawing/2014/main" id="{C386C36F-4DA5-EDBD-C45E-656F50FCD8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63156" y="2286000"/>
            <a:ext cx="10058400" cy="1143000"/>
          </a:xfrm>
        </p:spPr>
        <p:txBody>
          <a:bodyPr/>
          <a:lstStyle/>
          <a:p>
            <a:r>
              <a:rPr lang="tr-TR" b="1" dirty="0"/>
              <a:t>SUNUM 14</a:t>
            </a:r>
          </a:p>
        </p:txBody>
      </p:sp>
      <p:sp>
        <p:nvSpPr>
          <p:cNvPr id="6" name="Metin kutusu 5">
            <a:extLst>
              <a:ext uri="{FF2B5EF4-FFF2-40B4-BE49-F238E27FC236}">
                <a16:creationId xmlns:a16="http://schemas.microsoft.com/office/drawing/2014/main" id="{C682B84C-E060-47C6-5FB6-D40386EEE343}"/>
              </a:ext>
            </a:extLst>
          </p:cNvPr>
          <p:cNvSpPr txBox="1"/>
          <p:nvPr/>
        </p:nvSpPr>
        <p:spPr>
          <a:xfrm>
            <a:off x="1229032" y="4336026"/>
            <a:ext cx="99266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b="1" dirty="0"/>
              <a:t>HAZIRLAYAN: </a:t>
            </a:r>
            <a:r>
              <a:rPr lang="tr-TR" dirty="0"/>
              <a:t>ALİ TURAN ÇETİN  2222705028</a:t>
            </a:r>
          </a:p>
        </p:txBody>
      </p:sp>
    </p:spTree>
    <p:extLst>
      <p:ext uri="{BB962C8B-B14F-4D97-AF65-F5344CB8AC3E}">
        <p14:creationId xmlns:p14="http://schemas.microsoft.com/office/powerpoint/2010/main" val="30359467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4558D890-7C6C-3116-34EB-102921B0F0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tr-TR" sz="6000" b="1" dirty="0">
                <a:latin typeface="Bahnschrift" panose="020B0502040204020203" pitchFamily="34" charset="0"/>
              </a:rPr>
              <a:t>Word </a:t>
            </a:r>
            <a:r>
              <a:rPr lang="tr-TR" sz="6000" b="1" dirty="0" err="1">
                <a:latin typeface="Bahnschrift" panose="020B0502040204020203" pitchFamily="34" charset="0"/>
              </a:rPr>
              <a:t>embeddings</a:t>
            </a:r>
            <a:r>
              <a:rPr lang="tr-TR" sz="6000" b="1" dirty="0">
                <a:latin typeface="Bahnschrift" panose="020B0502040204020203" pitchFamily="34" charset="0"/>
              </a:rPr>
              <a:t> nedir, niçin kullanılır?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21A6B932-F150-7966-57D6-1982B33924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tr-TR" sz="3200" dirty="0"/>
          </a:p>
          <a:p>
            <a:pPr>
              <a:buFont typeface="Arial" panose="020B0604020202020204" pitchFamily="34" charset="0"/>
              <a:buChar char="•"/>
            </a:pPr>
            <a:r>
              <a:rPr lang="tr-TR" sz="3200" dirty="0"/>
              <a:t>Kelimelerin, sayısal vektörlerle yüksek boyutlu bir uzayda birbirleriyle olan ilişkilerini görselleştirmek ve analiz etmektir.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tr-TR" sz="3200" dirty="0"/>
              <a:t>Metin analizi, dil modelleme ve bilgi alma gibi birçok alanda makine öğrenme algoritmalarının daha etkili bir şekilde çalışmasını sağlar.</a:t>
            </a:r>
          </a:p>
          <a:p>
            <a:pPr>
              <a:buFont typeface="Arial" panose="020B0604020202020204" pitchFamily="34" charset="0"/>
              <a:buChar char="•"/>
            </a:pPr>
            <a:endParaRPr lang="tr-TR" sz="3200" dirty="0"/>
          </a:p>
          <a:p>
            <a:pPr>
              <a:buFont typeface="Arial" panose="020B0604020202020204" pitchFamily="34" charset="0"/>
              <a:buChar char="•"/>
            </a:pPr>
            <a:endParaRPr lang="tr-TR" sz="3200" dirty="0"/>
          </a:p>
        </p:txBody>
      </p:sp>
    </p:spTree>
    <p:extLst>
      <p:ext uri="{BB962C8B-B14F-4D97-AF65-F5344CB8AC3E}">
        <p14:creationId xmlns:p14="http://schemas.microsoft.com/office/powerpoint/2010/main" val="2640041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9EEFDBF3-E2E8-E252-742E-2F6F1C0F42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r-TR" sz="5400" b="1" dirty="0">
                <a:latin typeface="Bahnschrift" panose="020B0502040204020203" pitchFamily="34" charset="0"/>
              </a:rPr>
              <a:t>Word </a:t>
            </a:r>
            <a:r>
              <a:rPr lang="tr-TR" sz="5400" b="1" dirty="0" err="1">
                <a:latin typeface="Bahnschrift" panose="020B0502040204020203" pitchFamily="34" charset="0"/>
              </a:rPr>
              <a:t>Embeddings</a:t>
            </a:r>
            <a:r>
              <a:rPr lang="tr-TR" sz="5400" b="1" dirty="0">
                <a:latin typeface="Bahnschrift" panose="020B0502040204020203" pitchFamily="34" charset="0"/>
              </a:rPr>
              <a:t> Teknikleri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308FC590-9A6F-4040-5C66-107F5BA939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endParaRPr lang="tr-TR" sz="3200" dirty="0"/>
          </a:p>
          <a:p>
            <a:pPr>
              <a:buFont typeface="Arial" panose="020B0604020202020204" pitchFamily="34" charset="0"/>
              <a:buChar char="•"/>
            </a:pPr>
            <a:r>
              <a:rPr lang="tr-TR" sz="3200" dirty="0" err="1"/>
              <a:t>One</a:t>
            </a:r>
            <a:r>
              <a:rPr lang="tr-TR" sz="3200" dirty="0"/>
              <a:t> Hot </a:t>
            </a:r>
            <a:r>
              <a:rPr lang="tr-TR" sz="3200" dirty="0" err="1"/>
              <a:t>Encoding</a:t>
            </a:r>
            <a:endParaRPr lang="tr-TR" sz="3200" dirty="0"/>
          </a:p>
          <a:p>
            <a:pPr>
              <a:buFont typeface="Arial" panose="020B0604020202020204" pitchFamily="34" charset="0"/>
              <a:buChar char="•"/>
            </a:pPr>
            <a:r>
              <a:rPr lang="tr-TR" sz="3200" dirty="0"/>
              <a:t>Word2Vec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tr-TR" sz="3200" dirty="0" err="1"/>
              <a:t>GloVe</a:t>
            </a:r>
            <a:endParaRPr lang="tr-TR" sz="3200" dirty="0"/>
          </a:p>
          <a:p>
            <a:pPr>
              <a:buFont typeface="Arial" panose="020B0604020202020204" pitchFamily="34" charset="0"/>
              <a:buChar char="•"/>
            </a:pPr>
            <a:r>
              <a:rPr lang="tr-TR" sz="3200" dirty="0" err="1"/>
              <a:t>Cosine</a:t>
            </a:r>
            <a:r>
              <a:rPr lang="tr-TR" sz="3200" dirty="0"/>
              <a:t> </a:t>
            </a:r>
            <a:r>
              <a:rPr lang="tr-TR" sz="3200" dirty="0" err="1"/>
              <a:t>Similarity</a:t>
            </a:r>
            <a:endParaRPr lang="tr-TR" sz="3200" dirty="0"/>
          </a:p>
          <a:p>
            <a:pPr>
              <a:buFont typeface="Arial" panose="020B0604020202020204" pitchFamily="34" charset="0"/>
              <a:buChar char="•"/>
            </a:pPr>
            <a:r>
              <a:rPr lang="tr-TR" sz="3200" dirty="0" err="1"/>
              <a:t>Constexual</a:t>
            </a:r>
            <a:r>
              <a:rPr lang="tr-TR" sz="3200" dirty="0"/>
              <a:t> </a:t>
            </a:r>
            <a:r>
              <a:rPr lang="tr-TR" sz="3200" dirty="0" err="1"/>
              <a:t>Embeddings</a:t>
            </a:r>
            <a:endParaRPr lang="tr-TR" sz="3200" dirty="0"/>
          </a:p>
          <a:p>
            <a:pPr marL="0" indent="0">
              <a:buNone/>
            </a:pPr>
            <a:endParaRPr lang="tr-TR" sz="3200" dirty="0"/>
          </a:p>
        </p:txBody>
      </p:sp>
    </p:spTree>
    <p:extLst>
      <p:ext uri="{BB962C8B-B14F-4D97-AF65-F5344CB8AC3E}">
        <p14:creationId xmlns:p14="http://schemas.microsoft.com/office/powerpoint/2010/main" val="21925177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E021C8DE-4921-AC08-0BAB-95405BD519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r-TR" sz="5400" b="1" dirty="0" err="1">
                <a:latin typeface="Bahnschrift" panose="020B0502040204020203" pitchFamily="34" charset="0"/>
              </a:rPr>
              <a:t>One</a:t>
            </a:r>
            <a:r>
              <a:rPr lang="tr-TR" sz="5400" b="1" dirty="0">
                <a:latin typeface="Bahnschrift" panose="020B0502040204020203" pitchFamily="34" charset="0"/>
              </a:rPr>
              <a:t>-Hot </a:t>
            </a:r>
            <a:r>
              <a:rPr lang="tr-TR" sz="5400" b="1" dirty="0" err="1">
                <a:latin typeface="Bahnschrift" panose="020B0502040204020203" pitchFamily="34" charset="0"/>
              </a:rPr>
              <a:t>Encoding</a:t>
            </a:r>
            <a:endParaRPr lang="tr-TR" sz="5400" b="1" dirty="0">
              <a:latin typeface="Bahnschrift" panose="020B0502040204020203" pitchFamily="34" charset="0"/>
            </a:endParaRP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E2B88D76-BEC5-F896-A56F-914D6426AA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1583266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tr-TR" sz="2800" dirty="0"/>
              <a:t>Her kelimeye bir </a:t>
            </a:r>
            <a:r>
              <a:rPr lang="tr-TR" sz="2800" dirty="0" err="1"/>
              <a:t>index</a:t>
            </a:r>
            <a:r>
              <a:rPr lang="tr-TR" sz="2800" dirty="0"/>
              <a:t> numarası verilir ve her kelime sözlük boyutu kadar uzunlukta bir vektör ile temsil edilir. Bu vektörlerde sadece ele aldığımız kelimelerin kendi dizinine denk gelen yerler ‘1’ , diğerleri ‘0’ değerini alır.</a:t>
            </a:r>
          </a:p>
          <a:p>
            <a:pPr marL="0" indent="0">
              <a:buNone/>
            </a:pPr>
            <a:r>
              <a:rPr lang="tr-TR" sz="2800" b="1" dirty="0"/>
              <a:t>Örnek:</a:t>
            </a:r>
          </a:p>
          <a:p>
            <a:pPr marL="0" indent="0">
              <a:buNone/>
            </a:pPr>
            <a:endParaRPr lang="tr-TR" sz="2800" dirty="0"/>
          </a:p>
          <a:p>
            <a:pPr marL="0" indent="0">
              <a:buNone/>
            </a:pPr>
            <a:endParaRPr lang="tr-TR" sz="3200" dirty="0"/>
          </a:p>
        </p:txBody>
      </p:sp>
      <p:sp>
        <p:nvSpPr>
          <p:cNvPr id="7" name="Metin kutusu 6">
            <a:extLst>
              <a:ext uri="{FF2B5EF4-FFF2-40B4-BE49-F238E27FC236}">
                <a16:creationId xmlns:a16="http://schemas.microsoft.com/office/drawing/2014/main" id="{A5812CBA-9739-3BC1-DDFD-45C90E9A2FBF}"/>
              </a:ext>
            </a:extLst>
          </p:cNvPr>
          <p:cNvSpPr txBox="1"/>
          <p:nvPr/>
        </p:nvSpPr>
        <p:spPr>
          <a:xfrm>
            <a:off x="1002891" y="3537374"/>
            <a:ext cx="472931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sz="2000" dirty="0"/>
              <a:t>Köpek su içti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sz="2000" dirty="0"/>
              <a:t>Maymun muz yedi      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sz="2000" dirty="0"/>
              <a:t>Köpek muz yedi</a:t>
            </a:r>
          </a:p>
        </p:txBody>
      </p:sp>
      <p:sp>
        <p:nvSpPr>
          <p:cNvPr id="8" name="Ok: Sağ 7">
            <a:extLst>
              <a:ext uri="{FF2B5EF4-FFF2-40B4-BE49-F238E27FC236}">
                <a16:creationId xmlns:a16="http://schemas.microsoft.com/office/drawing/2014/main" id="{011185E2-DBCF-B599-16C6-A73FB5B42922}"/>
              </a:ext>
            </a:extLst>
          </p:cNvPr>
          <p:cNvSpPr/>
          <p:nvPr/>
        </p:nvSpPr>
        <p:spPr>
          <a:xfrm>
            <a:off x="3539613" y="3922301"/>
            <a:ext cx="2084439" cy="24580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9" name="Metin kutusu 8">
            <a:extLst>
              <a:ext uri="{FF2B5EF4-FFF2-40B4-BE49-F238E27FC236}">
                <a16:creationId xmlns:a16="http://schemas.microsoft.com/office/drawing/2014/main" id="{322CFB6F-8124-0626-1B23-A959F9688F5A}"/>
              </a:ext>
            </a:extLst>
          </p:cNvPr>
          <p:cNvSpPr txBox="1"/>
          <p:nvPr/>
        </p:nvSpPr>
        <p:spPr>
          <a:xfrm>
            <a:off x="5732206" y="3288567"/>
            <a:ext cx="4168879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tr-TR" dirty="0"/>
          </a:p>
          <a:p>
            <a:endParaRPr lang="tr-TR" dirty="0"/>
          </a:p>
          <a:p>
            <a:r>
              <a:rPr lang="tr-TR" sz="2000" dirty="0"/>
              <a:t>[Köpek, su, içti, maymun, muz, yedi]</a:t>
            </a:r>
          </a:p>
          <a:p>
            <a:endParaRPr lang="tr-TR" sz="2000" dirty="0"/>
          </a:p>
        </p:txBody>
      </p:sp>
      <p:sp>
        <p:nvSpPr>
          <p:cNvPr id="10" name="Ok: Köşeli Çift Ayraç 9">
            <a:extLst>
              <a:ext uri="{FF2B5EF4-FFF2-40B4-BE49-F238E27FC236}">
                <a16:creationId xmlns:a16="http://schemas.microsoft.com/office/drawing/2014/main" id="{F3D6B06D-9B25-B933-09EA-46FC0C368169}"/>
              </a:ext>
            </a:extLst>
          </p:cNvPr>
          <p:cNvSpPr/>
          <p:nvPr/>
        </p:nvSpPr>
        <p:spPr>
          <a:xfrm rot="5400000">
            <a:off x="7509077" y="2522242"/>
            <a:ext cx="369330" cy="3687096"/>
          </a:xfrm>
          <a:prstGeom prst="chevr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>
              <a:solidFill>
                <a:schemeClr val="tx1"/>
              </a:solidFill>
            </a:endParaRPr>
          </a:p>
        </p:txBody>
      </p:sp>
      <p:sp>
        <p:nvSpPr>
          <p:cNvPr id="11" name="Metin kutusu 10">
            <a:extLst>
              <a:ext uri="{FF2B5EF4-FFF2-40B4-BE49-F238E27FC236}">
                <a16:creationId xmlns:a16="http://schemas.microsoft.com/office/drawing/2014/main" id="{AFFBAA25-35E5-03ED-7CF1-14DF54F6C14C}"/>
              </a:ext>
            </a:extLst>
          </p:cNvPr>
          <p:cNvSpPr txBox="1"/>
          <p:nvPr/>
        </p:nvSpPr>
        <p:spPr>
          <a:xfrm>
            <a:off x="5732206" y="4550451"/>
            <a:ext cx="38050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r-TR" dirty="0"/>
              <a:t>Sözlük boyutu (v)=6</a:t>
            </a:r>
          </a:p>
        </p:txBody>
      </p:sp>
      <p:sp>
        <p:nvSpPr>
          <p:cNvPr id="12" name="Metin kutusu 11">
            <a:extLst>
              <a:ext uri="{FF2B5EF4-FFF2-40B4-BE49-F238E27FC236}">
                <a16:creationId xmlns:a16="http://schemas.microsoft.com/office/drawing/2014/main" id="{A2A588D8-37B6-04C6-BACD-89EF9D978837}"/>
              </a:ext>
            </a:extLst>
          </p:cNvPr>
          <p:cNvSpPr txBox="1"/>
          <p:nvPr/>
        </p:nvSpPr>
        <p:spPr>
          <a:xfrm>
            <a:off x="1097280" y="4871833"/>
            <a:ext cx="857373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800" dirty="0"/>
              <a:t>Köpek [1,0,0,0,0,0]</a:t>
            </a:r>
          </a:p>
          <a:p>
            <a:r>
              <a:rPr lang="tr-TR" sz="2800" dirty="0"/>
              <a:t>Su        [0,1,0,0,0,0]</a:t>
            </a:r>
          </a:p>
          <a:p>
            <a:r>
              <a:rPr lang="tr-TR" sz="2800" dirty="0"/>
              <a:t>Muz     [0,0,0,0,1,0]</a:t>
            </a:r>
          </a:p>
        </p:txBody>
      </p:sp>
    </p:spTree>
    <p:extLst>
      <p:ext uri="{BB962C8B-B14F-4D97-AF65-F5344CB8AC3E}">
        <p14:creationId xmlns:p14="http://schemas.microsoft.com/office/powerpoint/2010/main" val="24724814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A9BEDEF6-612C-4C01-FDCA-3600D5371D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tr-TR" sz="5400" b="1" dirty="0" err="1">
                <a:latin typeface="Bahnschrift" panose="020B0502040204020203" pitchFamily="34" charset="0"/>
              </a:rPr>
              <a:t>One</a:t>
            </a:r>
            <a:r>
              <a:rPr lang="tr-TR" sz="5400" b="1" dirty="0">
                <a:latin typeface="Bahnschrift" panose="020B0502040204020203" pitchFamily="34" charset="0"/>
              </a:rPr>
              <a:t>-Hot </a:t>
            </a:r>
            <a:r>
              <a:rPr lang="tr-TR" sz="5400" b="1" dirty="0" err="1">
                <a:latin typeface="Bahnschrift" panose="020B0502040204020203" pitchFamily="34" charset="0"/>
              </a:rPr>
              <a:t>vs</a:t>
            </a:r>
            <a:r>
              <a:rPr lang="tr-TR" sz="5400" b="1" dirty="0">
                <a:latin typeface="Bahnschrift" panose="020B0502040204020203" pitchFamily="34" charset="0"/>
              </a:rPr>
              <a:t> Modern </a:t>
            </a:r>
            <a:r>
              <a:rPr lang="tr-TR" sz="5400" b="1" dirty="0" err="1">
                <a:latin typeface="Bahnschrift" panose="020B0502040204020203" pitchFamily="34" charset="0"/>
              </a:rPr>
              <a:t>Embedding</a:t>
            </a:r>
            <a:endParaRPr lang="tr-TR" sz="5400" b="1" dirty="0">
              <a:latin typeface="Bahnschrift" panose="020B0502040204020203" pitchFamily="34" charset="0"/>
            </a:endParaRP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FDBAFC0F-7EA1-69C8-6DE6-82AEDED188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59340"/>
            <a:ext cx="4605430" cy="402336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tr-TR" sz="2400" u="sng" dirty="0" err="1"/>
              <a:t>One</a:t>
            </a:r>
            <a:r>
              <a:rPr lang="tr-TR" sz="2400" u="sng" dirty="0"/>
              <a:t>-Hot Yapısı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tr-TR" sz="2400" dirty="0"/>
              <a:t>Seyrek bir yapıdadır.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tr-TR" sz="2400" dirty="0"/>
              <a:t>Vektörlerin büyük çoğunluğu sıfırlardan oluşur.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tr-TR" sz="2400" dirty="0"/>
              <a:t>Anlamsal yakınlık yoktur.</a:t>
            </a:r>
          </a:p>
        </p:txBody>
      </p:sp>
      <p:sp>
        <p:nvSpPr>
          <p:cNvPr id="4" name="Metin kutusu 3">
            <a:extLst>
              <a:ext uri="{FF2B5EF4-FFF2-40B4-BE49-F238E27FC236}">
                <a16:creationId xmlns:a16="http://schemas.microsoft.com/office/drawing/2014/main" id="{A7A61E8D-BB0F-CE9D-F766-680EEE82DEEB}"/>
              </a:ext>
            </a:extLst>
          </p:cNvPr>
          <p:cNvSpPr txBox="1"/>
          <p:nvPr/>
        </p:nvSpPr>
        <p:spPr>
          <a:xfrm>
            <a:off x="6096000" y="1859340"/>
            <a:ext cx="5059680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r-TR" sz="2400" u="sng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Modern </a:t>
            </a:r>
            <a:r>
              <a:rPr lang="tr-TR" sz="2400" u="sng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Embedding</a:t>
            </a:r>
            <a:endParaRPr lang="tr-TR" sz="2400" u="sng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342900" indent="-342900">
              <a:buClr>
                <a:srgbClr val="FFD700"/>
              </a:buClr>
              <a:buFont typeface="Arial" panose="020B0604020202020204" pitchFamily="34" charset="0"/>
              <a:buChar char="•"/>
            </a:pPr>
            <a:r>
              <a:rPr lang="tr-TR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Yoğun bir yapıdadır.</a:t>
            </a:r>
          </a:p>
          <a:p>
            <a:pPr marL="342900" indent="-342900">
              <a:buClr>
                <a:srgbClr val="FFD700"/>
              </a:buClr>
              <a:buFont typeface="Arial" panose="020B0604020202020204" pitchFamily="34" charset="0"/>
              <a:buChar char="•"/>
            </a:pPr>
            <a:r>
              <a:rPr lang="tr-TR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Boyut sayısı sabittir.(100, 300 veya 768)</a:t>
            </a:r>
          </a:p>
          <a:p>
            <a:pPr marL="342900" indent="-342900">
              <a:buClr>
                <a:srgbClr val="FFD700"/>
              </a:buClr>
              <a:buFont typeface="Arial" panose="020B0604020202020204" pitchFamily="34" charset="0"/>
              <a:buChar char="•"/>
            </a:pPr>
            <a:r>
              <a:rPr lang="tr-TR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Sınırlı sayıdaki bu boyutun her biri ‘0’ değil anlam taşıyan ondalıklı sayılarla doludur.</a:t>
            </a:r>
          </a:p>
          <a:p>
            <a:pPr marL="342900" indent="-342900">
              <a:buClr>
                <a:srgbClr val="FFD700"/>
              </a:buClr>
              <a:buFont typeface="Arial" panose="020B0604020202020204" pitchFamily="34" charset="0"/>
              <a:buChar char="•"/>
            </a:pPr>
            <a:r>
              <a:rPr lang="tr-TR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Anlamsal yakınlık vardır.</a:t>
            </a:r>
          </a:p>
          <a:p>
            <a:pPr marL="342900" indent="-342900">
              <a:buClr>
                <a:srgbClr val="FFD700"/>
              </a:buClr>
              <a:buFont typeface="Arial" panose="020B0604020202020204" pitchFamily="34" charset="0"/>
              <a:buChar char="•"/>
            </a:pPr>
            <a:endParaRPr lang="tr-TR" sz="2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342900" indent="-342900">
              <a:buClr>
                <a:srgbClr val="FFD700"/>
              </a:buClr>
              <a:buFont typeface="Arial" panose="020B0604020202020204" pitchFamily="34" charset="0"/>
              <a:buChar char="•"/>
            </a:pPr>
            <a:endParaRPr lang="tr-TR" sz="2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342900" indent="-342900">
              <a:buClr>
                <a:srgbClr val="FFD700"/>
              </a:buClr>
              <a:buFont typeface="Arial" panose="020B0604020202020204" pitchFamily="34" charset="0"/>
              <a:buChar char="•"/>
            </a:pPr>
            <a:endParaRPr lang="tr-TR" sz="2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576548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etin kutusu 2">
            <a:extLst>
              <a:ext uri="{FF2B5EF4-FFF2-40B4-BE49-F238E27FC236}">
                <a16:creationId xmlns:a16="http://schemas.microsoft.com/office/drawing/2014/main" id="{A9A0F561-F946-B99D-8B5F-B95D65DE6087}"/>
              </a:ext>
            </a:extLst>
          </p:cNvPr>
          <p:cNvSpPr txBox="1"/>
          <p:nvPr/>
        </p:nvSpPr>
        <p:spPr>
          <a:xfrm>
            <a:off x="658761" y="888368"/>
            <a:ext cx="1045169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4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Örnek: Güneş, Yıldız, Tornavida</a:t>
            </a:r>
          </a:p>
          <a:p>
            <a:endParaRPr lang="tr-TR" sz="4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6" name="Metin kutusu 5">
            <a:extLst>
              <a:ext uri="{FF2B5EF4-FFF2-40B4-BE49-F238E27FC236}">
                <a16:creationId xmlns:a16="http://schemas.microsoft.com/office/drawing/2014/main" id="{41805C3B-7337-286F-C03D-0188ACEA8160}"/>
              </a:ext>
            </a:extLst>
          </p:cNvPr>
          <p:cNvSpPr txBox="1"/>
          <p:nvPr/>
        </p:nvSpPr>
        <p:spPr>
          <a:xfrm>
            <a:off x="530942" y="2211807"/>
            <a:ext cx="198611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000" dirty="0"/>
              <a:t>Güneş [1,0,0]</a:t>
            </a:r>
          </a:p>
          <a:p>
            <a:r>
              <a:rPr lang="tr-TR" sz="2000" dirty="0"/>
              <a:t>Yıldız   [0,1,0]</a:t>
            </a:r>
          </a:p>
          <a:p>
            <a:r>
              <a:rPr lang="tr-TR" sz="2000" dirty="0"/>
              <a:t>Tornavida [0,0,1]</a:t>
            </a:r>
          </a:p>
        </p:txBody>
      </p:sp>
      <p:sp>
        <p:nvSpPr>
          <p:cNvPr id="7" name="Ok: Sağ 6">
            <a:extLst>
              <a:ext uri="{FF2B5EF4-FFF2-40B4-BE49-F238E27FC236}">
                <a16:creationId xmlns:a16="http://schemas.microsoft.com/office/drawing/2014/main" id="{39921A9F-6837-5C56-D221-E877D2D08AD3}"/>
              </a:ext>
            </a:extLst>
          </p:cNvPr>
          <p:cNvSpPr/>
          <p:nvPr/>
        </p:nvSpPr>
        <p:spPr>
          <a:xfrm>
            <a:off x="2782529" y="2467897"/>
            <a:ext cx="2202426" cy="39329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8" name="Metin kutusu 7">
            <a:extLst>
              <a:ext uri="{FF2B5EF4-FFF2-40B4-BE49-F238E27FC236}">
                <a16:creationId xmlns:a16="http://schemas.microsoft.com/office/drawing/2014/main" id="{C226D7BE-1750-F261-94CC-EFF782FC899A}"/>
              </a:ext>
            </a:extLst>
          </p:cNvPr>
          <p:cNvSpPr txBox="1"/>
          <p:nvPr/>
        </p:nvSpPr>
        <p:spPr>
          <a:xfrm>
            <a:off x="5250426" y="2202877"/>
            <a:ext cx="549623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>
                <a:solidFill>
                  <a:schemeClr val="tx1">
                    <a:lumMod val="75000"/>
                    <a:lumOff val="25000"/>
                  </a:schemeClr>
                </a:solidFill>
              </a:rPr>
              <a:t>Bu vektörleri koordinat sistemine yerleştirdiğimizde hepsinin birbiriyle arasındaki açı 90 derece yani diktir.</a:t>
            </a:r>
          </a:p>
          <a:p>
            <a:r>
              <a:rPr lang="tr-TR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Aralarında hiçbir benzerlik yoktur.</a:t>
            </a:r>
          </a:p>
        </p:txBody>
      </p:sp>
      <p:sp>
        <p:nvSpPr>
          <p:cNvPr id="9" name="Metin kutusu 8">
            <a:extLst>
              <a:ext uri="{FF2B5EF4-FFF2-40B4-BE49-F238E27FC236}">
                <a16:creationId xmlns:a16="http://schemas.microsoft.com/office/drawing/2014/main" id="{F12CBC99-A480-C2CC-FF24-B27A52C81D6F}"/>
              </a:ext>
            </a:extLst>
          </p:cNvPr>
          <p:cNvSpPr txBox="1"/>
          <p:nvPr/>
        </p:nvSpPr>
        <p:spPr>
          <a:xfrm>
            <a:off x="1907458" y="3303639"/>
            <a:ext cx="66171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r-TR" sz="1400" dirty="0" err="1"/>
              <a:t>One</a:t>
            </a:r>
            <a:r>
              <a:rPr lang="tr-TR" sz="1400" dirty="0"/>
              <a:t>-hot </a:t>
            </a:r>
            <a:r>
              <a:rPr lang="tr-TR" sz="1400" dirty="0" err="1"/>
              <a:t>encoding</a:t>
            </a:r>
            <a:r>
              <a:rPr lang="tr-TR" sz="1400" dirty="0"/>
              <a:t> yapısı</a:t>
            </a:r>
          </a:p>
        </p:txBody>
      </p:sp>
      <p:sp>
        <p:nvSpPr>
          <p:cNvPr id="10" name="Metin kutusu 9">
            <a:extLst>
              <a:ext uri="{FF2B5EF4-FFF2-40B4-BE49-F238E27FC236}">
                <a16:creationId xmlns:a16="http://schemas.microsoft.com/office/drawing/2014/main" id="{E2E5E005-F86F-8AF2-2E30-C4687B8D1E4D}"/>
              </a:ext>
            </a:extLst>
          </p:cNvPr>
          <p:cNvSpPr txBox="1"/>
          <p:nvPr/>
        </p:nvSpPr>
        <p:spPr>
          <a:xfrm>
            <a:off x="530942" y="4319302"/>
            <a:ext cx="3028335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000" dirty="0"/>
              <a:t>Güneş        [0.98 , -0.92]</a:t>
            </a:r>
          </a:p>
          <a:p>
            <a:r>
              <a:rPr lang="tr-TR" sz="2000" dirty="0"/>
              <a:t>Yıldız          [0.94 , -0.88]</a:t>
            </a:r>
          </a:p>
          <a:p>
            <a:r>
              <a:rPr lang="tr-TR" sz="2000" dirty="0"/>
              <a:t>Tornavida [-0.95 , 0,96]</a:t>
            </a:r>
          </a:p>
          <a:p>
            <a:r>
              <a:rPr lang="tr-TR" dirty="0"/>
              <a:t> </a:t>
            </a:r>
          </a:p>
        </p:txBody>
      </p:sp>
      <p:sp>
        <p:nvSpPr>
          <p:cNvPr id="15" name="Metin kutusu 14">
            <a:extLst>
              <a:ext uri="{FF2B5EF4-FFF2-40B4-BE49-F238E27FC236}">
                <a16:creationId xmlns:a16="http://schemas.microsoft.com/office/drawing/2014/main" id="{14EDEF15-3A15-DE82-A4FA-3CD73020C42B}"/>
              </a:ext>
            </a:extLst>
          </p:cNvPr>
          <p:cNvSpPr txBox="1"/>
          <p:nvPr/>
        </p:nvSpPr>
        <p:spPr>
          <a:xfrm>
            <a:off x="1740310" y="4101307"/>
            <a:ext cx="1258529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050" dirty="0"/>
              <a:t>UZAY                 ALET</a:t>
            </a:r>
          </a:p>
        </p:txBody>
      </p:sp>
      <p:sp>
        <p:nvSpPr>
          <p:cNvPr id="17" name="Ok: Sağ 16">
            <a:extLst>
              <a:ext uri="{FF2B5EF4-FFF2-40B4-BE49-F238E27FC236}">
                <a16:creationId xmlns:a16="http://schemas.microsoft.com/office/drawing/2014/main" id="{4917C2D6-4AED-16AE-2DCC-E704470933D8}"/>
              </a:ext>
            </a:extLst>
          </p:cNvPr>
          <p:cNvSpPr/>
          <p:nvPr/>
        </p:nvSpPr>
        <p:spPr>
          <a:xfrm>
            <a:off x="3485535" y="4585153"/>
            <a:ext cx="2202426" cy="39329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18" name="Metin kutusu 17">
            <a:extLst>
              <a:ext uri="{FF2B5EF4-FFF2-40B4-BE49-F238E27FC236}">
                <a16:creationId xmlns:a16="http://schemas.microsoft.com/office/drawing/2014/main" id="{4DB9D29E-0185-274C-4D6C-BBFD6AA81752}"/>
              </a:ext>
            </a:extLst>
          </p:cNvPr>
          <p:cNvSpPr txBox="1"/>
          <p:nvPr/>
        </p:nvSpPr>
        <p:spPr>
          <a:xfrm>
            <a:off x="5953432" y="4189336"/>
            <a:ext cx="490629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Modern modeller devasa metin yığınlarını okur.</a:t>
            </a:r>
          </a:p>
          <a:p>
            <a:r>
              <a:rPr lang="tr-TR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Modelin tek kuralı ‘’Aynı cümlelerde birbirine yakın duran kelimelerin vektörlerini (sayısal değerlerini) birbirine yaklaştır.’’ </a:t>
            </a:r>
            <a:r>
              <a:rPr lang="tr-TR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dır</a:t>
            </a:r>
            <a:r>
              <a:rPr lang="tr-TR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</a:t>
            </a:r>
          </a:p>
        </p:txBody>
      </p:sp>
      <p:sp>
        <p:nvSpPr>
          <p:cNvPr id="21" name="Metin kutusu 20">
            <a:extLst>
              <a:ext uri="{FF2B5EF4-FFF2-40B4-BE49-F238E27FC236}">
                <a16:creationId xmlns:a16="http://schemas.microsoft.com/office/drawing/2014/main" id="{DEC1756A-CE94-6AD3-B202-E71E33960416}"/>
              </a:ext>
            </a:extLst>
          </p:cNvPr>
          <p:cNvSpPr txBox="1"/>
          <p:nvPr/>
        </p:nvSpPr>
        <p:spPr>
          <a:xfrm>
            <a:off x="1091381" y="5602441"/>
            <a:ext cx="831809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r-TR" sz="1400" dirty="0"/>
              <a:t>Modern </a:t>
            </a:r>
            <a:r>
              <a:rPr lang="tr-TR" sz="1400" dirty="0" err="1"/>
              <a:t>embedding</a:t>
            </a:r>
            <a:r>
              <a:rPr lang="tr-TR" sz="1400" dirty="0"/>
              <a:t> yapısı</a:t>
            </a:r>
          </a:p>
        </p:txBody>
      </p:sp>
    </p:spTree>
    <p:extLst>
      <p:ext uri="{BB962C8B-B14F-4D97-AF65-F5344CB8AC3E}">
        <p14:creationId xmlns:p14="http://schemas.microsoft.com/office/powerpoint/2010/main" val="11162276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58A5C246-487F-2DD5-A30F-F8C2DFF6FF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r-TR" sz="5400" dirty="0">
                <a:latin typeface="Bahnschrift" panose="020B0502040204020203" pitchFamily="34" charset="0"/>
              </a:rPr>
              <a:t>Word2Vec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591F8F34-5167-9ED8-4B34-C25717ABF1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tr-TR" sz="3200" dirty="0"/>
              <a:t>Kelimeleri yanındaki komşularına bakarak tanıyan algoritmalardır.</a:t>
            </a:r>
          </a:p>
          <a:p>
            <a:endParaRPr lang="tr-TR" sz="3200" dirty="0"/>
          </a:p>
          <a:p>
            <a:pPr>
              <a:buFont typeface="Arial" panose="020B0604020202020204" pitchFamily="34" charset="0"/>
              <a:buChar char="•"/>
            </a:pPr>
            <a:r>
              <a:rPr lang="tr-TR" sz="3600" dirty="0"/>
              <a:t>CBOW (</a:t>
            </a:r>
            <a:r>
              <a:rPr lang="tr-TR" sz="3600" dirty="0" err="1"/>
              <a:t>Continuous</a:t>
            </a:r>
            <a:r>
              <a:rPr lang="tr-TR" sz="3600" dirty="0"/>
              <a:t> </a:t>
            </a:r>
            <a:r>
              <a:rPr lang="tr-TR" sz="3600" dirty="0" err="1"/>
              <a:t>Bag</a:t>
            </a:r>
            <a:r>
              <a:rPr lang="tr-TR" sz="3600" dirty="0"/>
              <a:t> of </a:t>
            </a:r>
            <a:r>
              <a:rPr lang="tr-TR" sz="3600" dirty="0" err="1"/>
              <a:t>Words</a:t>
            </a:r>
            <a:r>
              <a:rPr lang="tr-TR" sz="3600" dirty="0"/>
              <a:t>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tr-TR" sz="3600" dirty="0" err="1"/>
              <a:t>Skip</a:t>
            </a:r>
            <a:r>
              <a:rPr lang="tr-TR" sz="3600" dirty="0"/>
              <a:t>-Gram</a:t>
            </a:r>
          </a:p>
        </p:txBody>
      </p:sp>
    </p:spTree>
    <p:extLst>
      <p:ext uri="{BB962C8B-B14F-4D97-AF65-F5344CB8AC3E}">
        <p14:creationId xmlns:p14="http://schemas.microsoft.com/office/powerpoint/2010/main" val="1418740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9BC8421E-5079-B4BB-75E9-05F6C91332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98323"/>
            <a:ext cx="10058400" cy="1639037"/>
          </a:xfrm>
        </p:spPr>
        <p:txBody>
          <a:bodyPr>
            <a:normAutofit/>
          </a:bodyPr>
          <a:lstStyle/>
          <a:p>
            <a:r>
              <a:rPr lang="tr-TR" sz="5100" dirty="0">
                <a:latin typeface="Bahnschrift" panose="020B0502040204020203" pitchFamily="34" charset="0"/>
              </a:rPr>
              <a:t>CBOW (</a:t>
            </a:r>
            <a:r>
              <a:rPr lang="tr-TR" sz="5100" dirty="0" err="1">
                <a:latin typeface="Bahnschrift" panose="020B0502040204020203" pitchFamily="34" charset="0"/>
              </a:rPr>
              <a:t>Continuous</a:t>
            </a:r>
            <a:r>
              <a:rPr lang="tr-TR" sz="5100" dirty="0">
                <a:latin typeface="Bahnschrift" panose="020B0502040204020203" pitchFamily="34" charset="0"/>
              </a:rPr>
              <a:t> </a:t>
            </a:r>
            <a:r>
              <a:rPr lang="tr-TR" sz="5100" dirty="0" err="1">
                <a:latin typeface="Bahnschrift" panose="020B0502040204020203" pitchFamily="34" charset="0"/>
              </a:rPr>
              <a:t>Bag</a:t>
            </a:r>
            <a:r>
              <a:rPr lang="tr-TR" sz="5100" dirty="0">
                <a:latin typeface="Bahnschrift" panose="020B0502040204020203" pitchFamily="34" charset="0"/>
              </a:rPr>
              <a:t> of </a:t>
            </a:r>
            <a:r>
              <a:rPr lang="tr-TR" sz="5100" dirty="0" err="1">
                <a:latin typeface="Bahnschrift" panose="020B0502040204020203" pitchFamily="34" charset="0"/>
              </a:rPr>
              <a:t>Words</a:t>
            </a:r>
            <a:r>
              <a:rPr lang="tr-TR" sz="5100" dirty="0">
                <a:latin typeface="Bahnschrift" panose="020B0502040204020203" pitchFamily="34" charset="0"/>
              </a:rPr>
              <a:t>)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9B644511-56E5-123B-6DCA-4CEDB96331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473091"/>
            <a:ext cx="10058400" cy="4023360"/>
          </a:xfrm>
        </p:spPr>
        <p:txBody>
          <a:bodyPr>
            <a:normAutofit/>
          </a:bodyPr>
          <a:lstStyle/>
          <a:p>
            <a:endParaRPr lang="tr-TR" sz="2600" dirty="0"/>
          </a:p>
          <a:p>
            <a:r>
              <a:rPr lang="tr-TR" sz="2600" dirty="0"/>
              <a:t>Etraftaki (komşu) kelimelere bakarak ortadaki kelimeyi tahmin eder.</a:t>
            </a:r>
          </a:p>
          <a:p>
            <a:pPr algn="ctr"/>
            <a:r>
              <a:rPr lang="tr-TR" sz="2600" b="1" dirty="0">
                <a:solidFill>
                  <a:schemeClr val="tx1"/>
                </a:solidFill>
              </a:rPr>
              <a:t>Ali sabahları ..….. kahve içer.</a:t>
            </a:r>
          </a:p>
          <a:p>
            <a:pPr algn="ctr"/>
            <a:endParaRPr lang="tr-TR" sz="2600" dirty="0"/>
          </a:p>
        </p:txBody>
      </p:sp>
      <p:sp>
        <p:nvSpPr>
          <p:cNvPr id="6" name="Metin kutusu 5">
            <a:extLst>
              <a:ext uri="{FF2B5EF4-FFF2-40B4-BE49-F238E27FC236}">
                <a16:creationId xmlns:a16="http://schemas.microsoft.com/office/drawing/2014/main" id="{4C12DC9E-6DA0-261E-04E6-7008068CBB19}"/>
              </a:ext>
            </a:extLst>
          </p:cNvPr>
          <p:cNvSpPr txBox="1"/>
          <p:nvPr/>
        </p:nvSpPr>
        <p:spPr>
          <a:xfrm>
            <a:off x="5958349" y="2546555"/>
            <a:ext cx="119953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400" dirty="0"/>
              <a:t>(sıcak)</a:t>
            </a:r>
          </a:p>
        </p:txBody>
      </p:sp>
      <p:pic>
        <p:nvPicPr>
          <p:cNvPr id="8" name="Resim 7" descr="diyagram, çizgi, metin, ekran görüntüsü içeren bir resim&#10;&#10;Yapay zeka tarafından oluşturulan içerik yanlış olabilir.">
            <a:extLst>
              <a:ext uri="{FF2B5EF4-FFF2-40B4-BE49-F238E27FC236}">
                <a16:creationId xmlns:a16="http://schemas.microsoft.com/office/drawing/2014/main" id="{56467152-A3CE-CD8C-AF65-417F529D3B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4292" y="3269444"/>
            <a:ext cx="3729890" cy="3025402"/>
          </a:xfrm>
          <a:prstGeom prst="rect">
            <a:avLst/>
          </a:prstGeom>
        </p:spPr>
      </p:pic>
      <p:sp>
        <p:nvSpPr>
          <p:cNvPr id="9" name="Metin kutusu 8">
            <a:extLst>
              <a:ext uri="{FF2B5EF4-FFF2-40B4-BE49-F238E27FC236}">
                <a16:creationId xmlns:a16="http://schemas.microsoft.com/office/drawing/2014/main" id="{F7412688-7F2E-D54F-E780-AEBAF79DD102}"/>
              </a:ext>
            </a:extLst>
          </p:cNvPr>
          <p:cNvSpPr txBox="1"/>
          <p:nvPr/>
        </p:nvSpPr>
        <p:spPr>
          <a:xfrm>
            <a:off x="6096000" y="3484771"/>
            <a:ext cx="562405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/>
              <a:t>Pencere boyutu: 2</a:t>
            </a:r>
          </a:p>
          <a:p>
            <a:r>
              <a:rPr lang="tr-TR" dirty="0"/>
              <a:t>İki sağa iki sola bak</a:t>
            </a:r>
          </a:p>
          <a:p>
            <a:endParaRPr lang="tr-TR" dirty="0"/>
          </a:p>
          <a:p>
            <a:r>
              <a:rPr lang="tr-TR" dirty="0"/>
              <a:t>t konumundaki merkez kelimenin solundaki ve sağındaki kelimeleri </a:t>
            </a:r>
            <a:r>
              <a:rPr lang="tr-TR" dirty="0" err="1"/>
              <a:t>input</a:t>
            </a:r>
            <a:r>
              <a:rPr lang="tr-TR" dirty="0"/>
              <a:t> alıp yapay sinir ağlarıyla </a:t>
            </a:r>
            <a:r>
              <a:rPr lang="tr-TR" b="1" u="sng" dirty="0"/>
              <a:t>vektörel ortalamasını </a:t>
            </a:r>
            <a:r>
              <a:rPr lang="tr-TR" dirty="0"/>
              <a:t>alır ve </a:t>
            </a:r>
            <a:r>
              <a:rPr lang="tr-TR" dirty="0" err="1"/>
              <a:t>output</a:t>
            </a:r>
            <a:r>
              <a:rPr lang="tr-TR" dirty="0"/>
              <a:t> olarak ‘sıcak’ kelimesini tahmin eder</a:t>
            </a:r>
          </a:p>
        </p:txBody>
      </p:sp>
    </p:spTree>
    <p:extLst>
      <p:ext uri="{BB962C8B-B14F-4D97-AF65-F5344CB8AC3E}">
        <p14:creationId xmlns:p14="http://schemas.microsoft.com/office/powerpoint/2010/main" val="33702588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5F640E3E-1863-D926-872B-9B52843F21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r-TR" sz="5400" dirty="0">
                <a:latin typeface="Bahnschrift" panose="020B0502040204020203" pitchFamily="34" charset="0"/>
              </a:rPr>
              <a:t>SKIP-GRAM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BA339268-0E94-A254-DB25-91CD011AAE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tr-TR" sz="2600" dirty="0"/>
              <a:t>Ortadaki kelimeye bakarak etraftaki (komşu) kelimeleri tahmin eder.</a:t>
            </a:r>
          </a:p>
          <a:p>
            <a:pPr algn="ctr"/>
            <a:r>
              <a:rPr lang="tr-TR" sz="2600" b="1" dirty="0">
                <a:solidFill>
                  <a:schemeClr val="tx1"/>
                </a:solidFill>
              </a:rPr>
              <a:t>… …. sıcak …. …</a:t>
            </a:r>
          </a:p>
          <a:p>
            <a:pPr algn="ctr"/>
            <a:endParaRPr lang="tr-TR" sz="2600" dirty="0"/>
          </a:p>
        </p:txBody>
      </p:sp>
      <p:pic>
        <p:nvPicPr>
          <p:cNvPr id="5" name="Resim 4" descr="metin, diyagram, çizgi, ekran görüntüsü içeren bir resim&#10;&#10;Yapay zeka tarafından oluşturulan içerik yanlış olabilir.">
            <a:extLst>
              <a:ext uri="{FF2B5EF4-FFF2-40B4-BE49-F238E27FC236}">
                <a16:creationId xmlns:a16="http://schemas.microsoft.com/office/drawing/2014/main" id="{74326320-7696-9708-39E3-42BEC45777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320" y="2889933"/>
            <a:ext cx="4113720" cy="3314222"/>
          </a:xfrm>
          <a:prstGeom prst="rect">
            <a:avLst/>
          </a:prstGeom>
        </p:spPr>
      </p:pic>
      <p:sp>
        <p:nvSpPr>
          <p:cNvPr id="6" name="Metin kutusu 5">
            <a:extLst>
              <a:ext uri="{FF2B5EF4-FFF2-40B4-BE49-F238E27FC236}">
                <a16:creationId xmlns:a16="http://schemas.microsoft.com/office/drawing/2014/main" id="{0958DD46-B825-DCD5-4699-511CC14BBBAC}"/>
              </a:ext>
            </a:extLst>
          </p:cNvPr>
          <p:cNvSpPr txBox="1"/>
          <p:nvPr/>
        </p:nvSpPr>
        <p:spPr>
          <a:xfrm>
            <a:off x="6243484" y="3059668"/>
            <a:ext cx="555522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tr-TR" dirty="0"/>
          </a:p>
          <a:p>
            <a:r>
              <a:rPr lang="tr-TR" dirty="0"/>
              <a:t>Pencere boyutu:2</a:t>
            </a:r>
          </a:p>
          <a:p>
            <a:r>
              <a:rPr lang="tr-TR" dirty="0"/>
              <a:t>İki sağdaki iki soldaki kelimeyi tahmin et</a:t>
            </a:r>
          </a:p>
          <a:p>
            <a:endParaRPr lang="tr-TR" dirty="0"/>
          </a:p>
          <a:p>
            <a:r>
              <a:rPr lang="tr-TR" dirty="0"/>
              <a:t>t konumundaki merkez kelimeyi </a:t>
            </a:r>
            <a:r>
              <a:rPr lang="tr-TR" dirty="0" err="1"/>
              <a:t>input</a:t>
            </a:r>
            <a:r>
              <a:rPr lang="tr-TR" dirty="0"/>
              <a:t> olarak alır</a:t>
            </a:r>
          </a:p>
          <a:p>
            <a:r>
              <a:rPr lang="tr-TR" dirty="0"/>
              <a:t>yapay sinir ağlarıyla bu kelimenin bağlamında geçme </a:t>
            </a:r>
            <a:r>
              <a:rPr lang="tr-TR" b="1" u="sng" dirty="0"/>
              <a:t>ihtimali en yüksek olan komşu kelimeleri </a:t>
            </a:r>
            <a:r>
              <a:rPr lang="tr-TR" dirty="0" err="1"/>
              <a:t>output</a:t>
            </a:r>
            <a:r>
              <a:rPr lang="tr-TR" dirty="0"/>
              <a:t> olarak tahmin eder</a:t>
            </a:r>
          </a:p>
        </p:txBody>
      </p:sp>
    </p:spTree>
    <p:extLst>
      <p:ext uri="{BB962C8B-B14F-4D97-AF65-F5344CB8AC3E}">
        <p14:creationId xmlns:p14="http://schemas.microsoft.com/office/powerpoint/2010/main" val="31246104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564F0BE6-B62B-3878-AC3C-02B12E6FE3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r-TR" sz="5100" dirty="0" err="1">
                <a:latin typeface="Bahnschrift" panose="020B0502040204020203" pitchFamily="34" charset="0"/>
              </a:rPr>
              <a:t>GloVe</a:t>
            </a:r>
            <a:r>
              <a:rPr lang="tr-TR" sz="5100" dirty="0">
                <a:latin typeface="Bahnschrift" panose="020B0502040204020203" pitchFamily="34" charset="0"/>
              </a:rPr>
              <a:t> (Global </a:t>
            </a:r>
            <a:r>
              <a:rPr lang="tr-TR" sz="5100" dirty="0" err="1">
                <a:latin typeface="Bahnschrift" panose="020B0502040204020203" pitchFamily="34" charset="0"/>
              </a:rPr>
              <a:t>Vektors</a:t>
            </a:r>
            <a:r>
              <a:rPr lang="tr-TR" sz="5100" dirty="0">
                <a:latin typeface="Bahnschrift" panose="020B0502040204020203" pitchFamily="34" charset="0"/>
              </a:rPr>
              <a:t> </a:t>
            </a:r>
            <a:r>
              <a:rPr lang="tr-TR" sz="5100" dirty="0" err="1">
                <a:latin typeface="Bahnschrift" panose="020B0502040204020203" pitchFamily="34" charset="0"/>
              </a:rPr>
              <a:t>for</a:t>
            </a:r>
            <a:r>
              <a:rPr lang="tr-TR" sz="5100" dirty="0">
                <a:latin typeface="Bahnschrift" panose="020B0502040204020203" pitchFamily="34" charset="0"/>
              </a:rPr>
              <a:t> Word </a:t>
            </a:r>
            <a:r>
              <a:rPr lang="tr-TR" sz="5100" dirty="0" err="1">
                <a:latin typeface="Bahnschrift" panose="020B0502040204020203" pitchFamily="34" charset="0"/>
              </a:rPr>
              <a:t>Representation</a:t>
            </a:r>
            <a:r>
              <a:rPr lang="tr-TR" sz="5100" dirty="0">
                <a:latin typeface="Bahnschrift" panose="020B0502040204020203" pitchFamily="34" charset="0"/>
              </a:rPr>
              <a:t>)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91D9873A-5DF6-DBB6-5364-69BA8BD9A3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tr-TR" sz="2600" dirty="0" err="1"/>
              <a:t>GloVe</a:t>
            </a:r>
            <a:r>
              <a:rPr lang="tr-TR" sz="2600" dirty="0"/>
              <a:t> kelime tahmin ederken Word2Vec gibi cümledeki o anki pencereye değil, tüm </a:t>
            </a:r>
            <a:r>
              <a:rPr lang="tr-TR" sz="2600" dirty="0" err="1"/>
              <a:t>corpuslara</a:t>
            </a:r>
            <a:r>
              <a:rPr lang="tr-TR" sz="2600" dirty="0"/>
              <a:t> bakar.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tr-TR" sz="2600" dirty="0"/>
              <a:t>Kelimelerin sadece yan yana gelme olasılıklarını değil bu olasılıkları da kendi arasında kıyaslar.</a:t>
            </a:r>
          </a:p>
        </p:txBody>
      </p:sp>
    </p:spTree>
    <p:extLst>
      <p:ext uri="{BB962C8B-B14F-4D97-AF65-F5344CB8AC3E}">
        <p14:creationId xmlns:p14="http://schemas.microsoft.com/office/powerpoint/2010/main" val="14013686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İçerik Yer Tutucusu 4" descr="metin, diyagram, çizgi, öykü gelişim çizgisi; kumpas; grafiğini çıkarma içeren bir resim&#10;&#10;Yapay zeka tarafından oluşturulan içerik yanlış olabilir.">
            <a:extLst>
              <a:ext uri="{FF2B5EF4-FFF2-40B4-BE49-F238E27FC236}">
                <a16:creationId xmlns:a16="http://schemas.microsoft.com/office/drawing/2014/main" id="{344C0620-C55F-6D88-CC8A-E139F37D28E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108" y="127820"/>
            <a:ext cx="7206948" cy="6217658"/>
          </a:xfrm>
        </p:spPr>
      </p:pic>
      <p:sp>
        <p:nvSpPr>
          <p:cNvPr id="6" name="Metin kutusu 5">
            <a:extLst>
              <a:ext uri="{FF2B5EF4-FFF2-40B4-BE49-F238E27FC236}">
                <a16:creationId xmlns:a16="http://schemas.microsoft.com/office/drawing/2014/main" id="{C36FA16B-FDF8-441A-1262-905880AFB3C5}"/>
              </a:ext>
            </a:extLst>
          </p:cNvPr>
          <p:cNvSpPr txBox="1"/>
          <p:nvPr/>
        </p:nvSpPr>
        <p:spPr>
          <a:xfrm>
            <a:off x="7482348" y="127820"/>
            <a:ext cx="402139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tr-TR" sz="3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Kelimeler Arasındaki Anlamsal Mesafeleri Ölçen Model</a:t>
            </a:r>
          </a:p>
        </p:txBody>
      </p:sp>
      <p:sp>
        <p:nvSpPr>
          <p:cNvPr id="7" name="Metin kutusu 6">
            <a:extLst>
              <a:ext uri="{FF2B5EF4-FFF2-40B4-BE49-F238E27FC236}">
                <a16:creationId xmlns:a16="http://schemas.microsoft.com/office/drawing/2014/main" id="{64213B8F-BB35-E695-CFA1-1693ECA5FDA8}"/>
              </a:ext>
            </a:extLst>
          </p:cNvPr>
          <p:cNvSpPr txBox="1"/>
          <p:nvPr/>
        </p:nvSpPr>
        <p:spPr>
          <a:xfrm>
            <a:off x="7629832" y="1799303"/>
            <a:ext cx="4119716" cy="34470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Algoritma cinsiyet veya unvan gibi kavramları kural olarak ezberlemez. Uzayda matematiksel bir </a:t>
            </a:r>
            <a:r>
              <a:rPr lang="tr-TR" sz="2200" b="1" u="sng" dirty="0">
                <a:solidFill>
                  <a:schemeClr val="tx1">
                    <a:lumMod val="75000"/>
                    <a:lumOff val="25000"/>
                  </a:schemeClr>
                </a:solidFill>
              </a:rPr>
              <a:t>yön ve mesafe </a:t>
            </a:r>
            <a:r>
              <a:rPr lang="tr-TR" sz="2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olarak kendisi keşfeder.</a:t>
            </a:r>
          </a:p>
          <a:p>
            <a:r>
              <a:rPr lang="tr-TR" sz="2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Yapay zeka, kelimelerle tıpkı sayılar gibi toplama-çıkarma yapabilir.</a:t>
            </a:r>
          </a:p>
          <a:p>
            <a:endParaRPr lang="tr-TR" sz="2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tr-TR" sz="2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V(Kral)-V(Adam)+V(Kadın)=V(Kraliçe)</a:t>
            </a:r>
          </a:p>
        </p:txBody>
      </p:sp>
    </p:spTree>
    <p:extLst>
      <p:ext uri="{BB962C8B-B14F-4D97-AF65-F5344CB8AC3E}">
        <p14:creationId xmlns:p14="http://schemas.microsoft.com/office/powerpoint/2010/main" val="21033515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F5AE9F58-D296-703D-DEB3-181A050C2C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r-TR" sz="5400" dirty="0">
                <a:latin typeface="Bahnschrift" panose="020B0502040204020203" pitchFamily="34" charset="0"/>
              </a:rPr>
              <a:t>COSINE SIMILARITY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39A7638B-DF1D-E331-43CF-4BA51CA0D8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6841" y="1875231"/>
            <a:ext cx="8626824" cy="4696166"/>
          </a:xfrm>
        </p:spPr>
        <p:txBody>
          <a:bodyPr>
            <a:normAutofit/>
          </a:bodyPr>
          <a:lstStyle/>
          <a:p>
            <a:r>
              <a:rPr lang="tr-TR" sz="2400" dirty="0"/>
              <a:t>Sayısal vektörler halinde uzay alanına yerleştirdiğimiz kelimelerin birbiri arasındaki ilişkileri kosinüs benzerliğiyle hesaplanır.</a:t>
            </a:r>
          </a:p>
          <a:p>
            <a:r>
              <a:rPr lang="tr-TR" sz="2400" dirty="0" err="1"/>
              <a:t>Cosinus</a:t>
            </a:r>
            <a:r>
              <a:rPr lang="tr-TR" sz="2400" dirty="0"/>
              <a:t> değeri -1 ile 1 arasındadır.</a:t>
            </a:r>
          </a:p>
          <a:p>
            <a:r>
              <a:rPr lang="tr-TR" sz="3200" b="1" dirty="0"/>
              <a:t>- </a:t>
            </a:r>
            <a:r>
              <a:rPr lang="tr-TR" sz="2400" dirty="0"/>
              <a:t>Cos(0)=1 değeri</a:t>
            </a:r>
          </a:p>
        </p:txBody>
      </p:sp>
      <p:sp>
        <p:nvSpPr>
          <p:cNvPr id="4" name="Ok: Sağ 3">
            <a:extLst>
              <a:ext uri="{FF2B5EF4-FFF2-40B4-BE49-F238E27FC236}">
                <a16:creationId xmlns:a16="http://schemas.microsoft.com/office/drawing/2014/main" id="{EC5A67F9-04D5-4524-8BF6-F511FE32018A}"/>
              </a:ext>
            </a:extLst>
          </p:cNvPr>
          <p:cNvSpPr/>
          <p:nvPr/>
        </p:nvSpPr>
        <p:spPr>
          <a:xfrm>
            <a:off x="2920180" y="3414921"/>
            <a:ext cx="1327355" cy="24826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5" name="Metin kutusu 4">
            <a:extLst>
              <a:ext uri="{FF2B5EF4-FFF2-40B4-BE49-F238E27FC236}">
                <a16:creationId xmlns:a16="http://schemas.microsoft.com/office/drawing/2014/main" id="{9D68A658-0EA1-F343-50AB-D6A3532F6063}"/>
              </a:ext>
            </a:extLst>
          </p:cNvPr>
          <p:cNvSpPr txBox="1"/>
          <p:nvPr/>
        </p:nvSpPr>
        <p:spPr>
          <a:xfrm>
            <a:off x="4414684" y="3146323"/>
            <a:ext cx="65974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/>
              <a:t>İki vektör üst üste (çakışıktır)</a:t>
            </a:r>
          </a:p>
          <a:p>
            <a:r>
              <a:rPr lang="tr-TR" dirty="0"/>
              <a:t>Kelimeler tamamen aynıdır.</a:t>
            </a:r>
          </a:p>
        </p:txBody>
      </p:sp>
      <p:sp>
        <p:nvSpPr>
          <p:cNvPr id="6" name="Metin kutusu 5">
            <a:extLst>
              <a:ext uri="{FF2B5EF4-FFF2-40B4-BE49-F238E27FC236}">
                <a16:creationId xmlns:a16="http://schemas.microsoft.com/office/drawing/2014/main" id="{F19F1848-679F-CFC5-3ECD-BF87B7EA7E7C}"/>
              </a:ext>
            </a:extLst>
          </p:cNvPr>
          <p:cNvSpPr txBox="1"/>
          <p:nvPr/>
        </p:nvSpPr>
        <p:spPr>
          <a:xfrm>
            <a:off x="540774" y="3856252"/>
            <a:ext cx="401156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3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- </a:t>
            </a:r>
            <a:r>
              <a:rPr lang="tr-TR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Cos(90)=0 değeri</a:t>
            </a:r>
            <a:r>
              <a:rPr lang="tr-TR" sz="3200" b="1" dirty="0"/>
              <a:t>  </a:t>
            </a:r>
          </a:p>
        </p:txBody>
      </p:sp>
      <p:sp>
        <p:nvSpPr>
          <p:cNvPr id="8" name="Ok: Sağ 7">
            <a:extLst>
              <a:ext uri="{FF2B5EF4-FFF2-40B4-BE49-F238E27FC236}">
                <a16:creationId xmlns:a16="http://schemas.microsoft.com/office/drawing/2014/main" id="{6C8B3CCB-9A92-A8B9-C93B-C3BB252C2770}"/>
              </a:ext>
            </a:extLst>
          </p:cNvPr>
          <p:cNvSpPr/>
          <p:nvPr/>
        </p:nvSpPr>
        <p:spPr>
          <a:xfrm>
            <a:off x="3087329" y="4099182"/>
            <a:ext cx="1327355" cy="24826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9" name="Metin kutusu 8">
            <a:extLst>
              <a:ext uri="{FF2B5EF4-FFF2-40B4-BE49-F238E27FC236}">
                <a16:creationId xmlns:a16="http://schemas.microsoft.com/office/drawing/2014/main" id="{8DA32C78-1A78-29DB-6A28-22D9BF7F10BF}"/>
              </a:ext>
            </a:extLst>
          </p:cNvPr>
          <p:cNvSpPr txBox="1"/>
          <p:nvPr/>
        </p:nvSpPr>
        <p:spPr>
          <a:xfrm>
            <a:off x="4552335" y="3856252"/>
            <a:ext cx="287102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/>
              <a:t>İki vektör birbirine diktir.</a:t>
            </a:r>
          </a:p>
          <a:p>
            <a:r>
              <a:rPr lang="tr-TR" dirty="0"/>
              <a:t>Aralarında hiçbir benzerlik yoktur.</a:t>
            </a:r>
          </a:p>
        </p:txBody>
      </p:sp>
      <p:sp>
        <p:nvSpPr>
          <p:cNvPr id="10" name="Metin kutusu 9">
            <a:extLst>
              <a:ext uri="{FF2B5EF4-FFF2-40B4-BE49-F238E27FC236}">
                <a16:creationId xmlns:a16="http://schemas.microsoft.com/office/drawing/2014/main" id="{71583636-A291-3DF0-EBD5-7ADEAB9C1A36}"/>
              </a:ext>
            </a:extLst>
          </p:cNvPr>
          <p:cNvSpPr txBox="1"/>
          <p:nvPr/>
        </p:nvSpPr>
        <p:spPr>
          <a:xfrm>
            <a:off x="639097" y="4689987"/>
            <a:ext cx="628281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3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- </a:t>
            </a:r>
            <a:r>
              <a:rPr lang="tr-TR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Cos(180)=-1 değeri</a:t>
            </a:r>
            <a:endParaRPr lang="tr-TR" sz="32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1" name="Ok: Sağ 10">
            <a:extLst>
              <a:ext uri="{FF2B5EF4-FFF2-40B4-BE49-F238E27FC236}">
                <a16:creationId xmlns:a16="http://schemas.microsoft.com/office/drawing/2014/main" id="{8E9C9380-4983-1943-575D-75E56DF45610}"/>
              </a:ext>
            </a:extLst>
          </p:cNvPr>
          <p:cNvSpPr/>
          <p:nvPr/>
        </p:nvSpPr>
        <p:spPr>
          <a:xfrm>
            <a:off x="3426542" y="4921031"/>
            <a:ext cx="1327355" cy="24826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12" name="Metin kutusu 11">
            <a:extLst>
              <a:ext uri="{FF2B5EF4-FFF2-40B4-BE49-F238E27FC236}">
                <a16:creationId xmlns:a16="http://schemas.microsoft.com/office/drawing/2014/main" id="{CCB5DD11-E870-E2CC-6ADE-D36151B121CB}"/>
              </a:ext>
            </a:extLst>
          </p:cNvPr>
          <p:cNvSpPr txBox="1"/>
          <p:nvPr/>
        </p:nvSpPr>
        <p:spPr>
          <a:xfrm>
            <a:off x="4896465" y="4779582"/>
            <a:ext cx="310699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/>
              <a:t>İki vektör birbirine zıttır.</a:t>
            </a:r>
          </a:p>
          <a:p>
            <a:r>
              <a:rPr lang="tr-TR" dirty="0"/>
              <a:t>Anlamca tamamen karşıt kutuptadır.</a:t>
            </a:r>
          </a:p>
        </p:txBody>
      </p:sp>
      <p:pic>
        <p:nvPicPr>
          <p:cNvPr id="14" name="Resim 13" descr="metin, yazı tipi, beyaz, tipografi içeren bir resim&#10;&#10;Yapay zeka tarafından oluşturulan içerik yanlış olabilir.">
            <a:extLst>
              <a:ext uri="{FF2B5EF4-FFF2-40B4-BE49-F238E27FC236}">
                <a16:creationId xmlns:a16="http://schemas.microsoft.com/office/drawing/2014/main" id="{6EDAE68E-6962-8D07-31A6-E7D6352528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39667" y="3237512"/>
            <a:ext cx="4312999" cy="1158717"/>
          </a:xfrm>
          <a:prstGeom prst="rect">
            <a:avLst/>
          </a:prstGeom>
        </p:spPr>
      </p:pic>
      <p:sp>
        <p:nvSpPr>
          <p:cNvPr id="15" name="Metin kutusu 14">
            <a:extLst>
              <a:ext uri="{FF2B5EF4-FFF2-40B4-BE49-F238E27FC236}">
                <a16:creationId xmlns:a16="http://schemas.microsoft.com/office/drawing/2014/main" id="{1DF4FB98-2356-9335-4260-F5219693D98B}"/>
              </a:ext>
            </a:extLst>
          </p:cNvPr>
          <p:cNvSpPr txBox="1"/>
          <p:nvPr/>
        </p:nvSpPr>
        <p:spPr>
          <a:xfrm>
            <a:off x="8274828" y="4441027"/>
            <a:ext cx="31600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r-TR" sz="1200" dirty="0"/>
              <a:t>İki vektörün </a:t>
            </a:r>
            <a:r>
              <a:rPr lang="tr-TR" sz="1200" dirty="0" err="1"/>
              <a:t>skaler</a:t>
            </a:r>
            <a:r>
              <a:rPr lang="tr-TR" sz="1200" dirty="0"/>
              <a:t> çarpımlarının, uzunluklarının çarpımına oranı</a:t>
            </a:r>
          </a:p>
        </p:txBody>
      </p:sp>
    </p:spTree>
    <p:extLst>
      <p:ext uri="{BB962C8B-B14F-4D97-AF65-F5344CB8AC3E}">
        <p14:creationId xmlns:p14="http://schemas.microsoft.com/office/powerpoint/2010/main" val="11993931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022D3175-3776-6C8B-B39E-F33E203B5D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r-TR" sz="5400" dirty="0">
                <a:latin typeface="Bahnschrift" panose="020B0502040204020203" pitchFamily="34" charset="0"/>
              </a:rPr>
              <a:t>CONSTEXUAL EMBEDDINGS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B0002977-6A9A-CE2D-1EB2-ECBA97AFEB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tr-TR" sz="2600" dirty="0" err="1"/>
              <a:t>Constexual</a:t>
            </a:r>
            <a:r>
              <a:rPr lang="tr-TR" sz="2600" dirty="0"/>
              <a:t> </a:t>
            </a:r>
            <a:r>
              <a:rPr lang="tr-TR" sz="2600" dirty="0" err="1"/>
              <a:t>Embeddings’te</a:t>
            </a:r>
            <a:r>
              <a:rPr lang="tr-TR" sz="2600" dirty="0"/>
              <a:t> kelimelerin önceden belirli bir kimliği yoktur. Vektörler kelime cümleye girdikten sonra kimlik kazanır. Yani elde edilen vektörlerin sayısal değeri kelimenin kendisine değil, cümledeki kullanımına aittir.</a:t>
            </a:r>
          </a:p>
          <a:p>
            <a:r>
              <a:rPr lang="tr-TR" sz="2600" dirty="0"/>
              <a:t>Örnek: (</a:t>
            </a:r>
            <a:r>
              <a:rPr lang="tr-TR" sz="2600" dirty="0" err="1"/>
              <a:t>eşsesli</a:t>
            </a:r>
            <a:r>
              <a:rPr lang="tr-TR" sz="2600" dirty="0"/>
              <a:t> kelimeler)</a:t>
            </a:r>
          </a:p>
          <a:p>
            <a:endParaRPr lang="tr-TR" sz="2600" dirty="0"/>
          </a:p>
          <a:p>
            <a:r>
              <a:rPr lang="tr-TR" sz="2600" dirty="0">
                <a:solidFill>
                  <a:schemeClr val="tx1"/>
                </a:solidFill>
              </a:rPr>
              <a:t>Yüz</a:t>
            </a:r>
          </a:p>
          <a:p>
            <a:endParaRPr lang="tr-TR" sz="2600" dirty="0"/>
          </a:p>
          <a:p>
            <a:endParaRPr lang="tr-TR" sz="2600" dirty="0"/>
          </a:p>
          <a:p>
            <a:endParaRPr lang="tr-TR" sz="2600" dirty="0"/>
          </a:p>
        </p:txBody>
      </p:sp>
      <p:cxnSp>
        <p:nvCxnSpPr>
          <p:cNvPr id="5" name="Düz Ok Bağlayıcısı 4">
            <a:extLst>
              <a:ext uri="{FF2B5EF4-FFF2-40B4-BE49-F238E27FC236}">
                <a16:creationId xmlns:a16="http://schemas.microsoft.com/office/drawing/2014/main" id="{28B1B174-0B8D-1347-BA47-367834192D36}"/>
              </a:ext>
            </a:extLst>
          </p:cNvPr>
          <p:cNvCxnSpPr>
            <a:cxnSpLocks/>
          </p:cNvCxnSpPr>
          <p:nvPr/>
        </p:nvCxnSpPr>
        <p:spPr>
          <a:xfrm flipV="1">
            <a:off x="1750142" y="4404852"/>
            <a:ext cx="894735" cy="22592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Düz Ok Bağlayıcısı 6">
            <a:extLst>
              <a:ext uri="{FF2B5EF4-FFF2-40B4-BE49-F238E27FC236}">
                <a16:creationId xmlns:a16="http://schemas.microsoft.com/office/drawing/2014/main" id="{1E7EC30D-AE1D-1298-804A-E1250C06D2D0}"/>
              </a:ext>
            </a:extLst>
          </p:cNvPr>
          <p:cNvCxnSpPr/>
          <p:nvPr/>
        </p:nvCxnSpPr>
        <p:spPr>
          <a:xfrm>
            <a:off x="1809135" y="4778477"/>
            <a:ext cx="835742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Düz Ok Bağlayıcısı 8">
            <a:extLst>
              <a:ext uri="{FF2B5EF4-FFF2-40B4-BE49-F238E27FC236}">
                <a16:creationId xmlns:a16="http://schemas.microsoft.com/office/drawing/2014/main" id="{ED25BED2-D0CC-795D-3EA2-77E061EF5135}"/>
              </a:ext>
            </a:extLst>
          </p:cNvPr>
          <p:cNvCxnSpPr>
            <a:cxnSpLocks/>
          </p:cNvCxnSpPr>
          <p:nvPr/>
        </p:nvCxnSpPr>
        <p:spPr>
          <a:xfrm>
            <a:off x="1750142" y="4955458"/>
            <a:ext cx="894735" cy="18632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Metin kutusu 11">
            <a:extLst>
              <a:ext uri="{FF2B5EF4-FFF2-40B4-BE49-F238E27FC236}">
                <a16:creationId xmlns:a16="http://schemas.microsoft.com/office/drawing/2014/main" id="{A7DEA022-84CC-5F9D-7C5B-88F83D90D2E7}"/>
              </a:ext>
            </a:extLst>
          </p:cNvPr>
          <p:cNvSpPr txBox="1"/>
          <p:nvPr/>
        </p:nvSpPr>
        <p:spPr>
          <a:xfrm>
            <a:off x="2644877" y="4158826"/>
            <a:ext cx="15928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dirty="0"/>
              <a:t>Surat</a:t>
            </a:r>
          </a:p>
        </p:txBody>
      </p:sp>
      <p:sp>
        <p:nvSpPr>
          <p:cNvPr id="13" name="Metin kutusu 12">
            <a:extLst>
              <a:ext uri="{FF2B5EF4-FFF2-40B4-BE49-F238E27FC236}">
                <a16:creationId xmlns:a16="http://schemas.microsoft.com/office/drawing/2014/main" id="{5222619D-4ED8-F4C2-2163-56FE83E6A471}"/>
              </a:ext>
            </a:extLst>
          </p:cNvPr>
          <p:cNvSpPr txBox="1"/>
          <p:nvPr/>
        </p:nvSpPr>
        <p:spPr>
          <a:xfrm>
            <a:off x="2644877" y="4561457"/>
            <a:ext cx="112087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dirty="0"/>
              <a:t>Sayı</a:t>
            </a:r>
          </a:p>
        </p:txBody>
      </p:sp>
      <p:sp>
        <p:nvSpPr>
          <p:cNvPr id="14" name="Metin kutusu 13">
            <a:extLst>
              <a:ext uri="{FF2B5EF4-FFF2-40B4-BE49-F238E27FC236}">
                <a16:creationId xmlns:a16="http://schemas.microsoft.com/office/drawing/2014/main" id="{3CAD6292-9954-B57A-A7D4-EC3E76CC3B1B}"/>
              </a:ext>
            </a:extLst>
          </p:cNvPr>
          <p:cNvSpPr txBox="1"/>
          <p:nvPr/>
        </p:nvSpPr>
        <p:spPr>
          <a:xfrm>
            <a:off x="2610464" y="4957499"/>
            <a:ext cx="11897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dirty="0"/>
              <a:t>Yüzmek</a:t>
            </a:r>
          </a:p>
        </p:txBody>
      </p:sp>
      <p:sp>
        <p:nvSpPr>
          <p:cNvPr id="15" name="Metin kutusu 14">
            <a:extLst>
              <a:ext uri="{FF2B5EF4-FFF2-40B4-BE49-F238E27FC236}">
                <a16:creationId xmlns:a16="http://schemas.microsoft.com/office/drawing/2014/main" id="{3670628E-96B0-0C41-A033-375C9D405762}"/>
              </a:ext>
            </a:extLst>
          </p:cNvPr>
          <p:cNvSpPr txBox="1"/>
          <p:nvPr/>
        </p:nvSpPr>
        <p:spPr>
          <a:xfrm>
            <a:off x="4886632" y="3857414"/>
            <a:ext cx="681375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dirty="0"/>
              <a:t>Word2vec ve </a:t>
            </a:r>
            <a:r>
              <a:rPr lang="tr-TR" dirty="0" err="1"/>
              <a:t>GloVe</a:t>
            </a:r>
            <a:r>
              <a:rPr lang="tr-TR" dirty="0"/>
              <a:t> bu üç anlamı birbirinden ayıramaz, metinlerdeki kullanımların ortalamasını alır ve ortaya bulanık bir vektör ortaya çıkar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tr-T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dirty="0" err="1"/>
              <a:t>Constexual</a:t>
            </a:r>
            <a:r>
              <a:rPr lang="tr-TR" dirty="0"/>
              <a:t> </a:t>
            </a:r>
            <a:r>
              <a:rPr lang="tr-TR" dirty="0" err="1"/>
              <a:t>Embedding</a:t>
            </a:r>
            <a:r>
              <a:rPr lang="tr-TR" dirty="0"/>
              <a:t>, cümleyi bir bütün olarak okuduğu için ‘Denizde yüz’, ‘Güzel yüz’ gibi farklı vektörler atar.</a:t>
            </a:r>
          </a:p>
        </p:txBody>
      </p:sp>
    </p:spTree>
    <p:extLst>
      <p:ext uri="{BB962C8B-B14F-4D97-AF65-F5344CB8AC3E}">
        <p14:creationId xmlns:p14="http://schemas.microsoft.com/office/powerpoint/2010/main" val="19574490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9B6E6F25-BD6B-A56F-F24F-0D2682B8DB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r-TR" sz="5400" dirty="0">
                <a:latin typeface="Bahnschrift" panose="020B0502040204020203" pitchFamily="34" charset="0"/>
              </a:rPr>
              <a:t>KAYNAKÇA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4A2927C0-12FE-8362-1037-92798EE569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tr-TR" dirty="0">
                <a:hlinkClick r:id="rId2"/>
              </a:rPr>
              <a:t>https://nlp.stanford.edu</a:t>
            </a:r>
            <a:endParaRPr lang="tr-TR" dirty="0"/>
          </a:p>
          <a:p>
            <a:pPr>
              <a:buFont typeface="Arial" panose="020B0604020202020204" pitchFamily="34" charset="0"/>
              <a:buChar char="•"/>
            </a:pPr>
            <a:r>
              <a:rPr lang="tr-TR" dirty="0">
                <a:hlinkClick r:id="rId3"/>
              </a:rPr>
              <a:t>https://www.geeksforgeeks.org</a:t>
            </a:r>
            <a:endParaRPr lang="tr-TR" dirty="0"/>
          </a:p>
          <a:p>
            <a:pPr>
              <a:buFont typeface="Arial" panose="020B0604020202020204" pitchFamily="34" charset="0"/>
              <a:buChar char="•"/>
            </a:pPr>
            <a:r>
              <a:rPr lang="tr-TR" dirty="0">
                <a:hlinkClick r:id="rId4"/>
              </a:rPr>
              <a:t>https://www-lyzr-ai.translate.goog/glossaries/contextual-embeddings</a:t>
            </a:r>
            <a:endParaRPr lang="tr-TR" dirty="0"/>
          </a:p>
          <a:p>
            <a:pPr>
              <a:buFont typeface="Arial" panose="020B0604020202020204" pitchFamily="34" charset="0"/>
              <a:buChar char="•"/>
            </a:pPr>
            <a:r>
              <a:rPr lang="tr-TR" dirty="0">
                <a:hlinkClick r:id="rId5"/>
              </a:rPr>
              <a:t>https://www.youtube.com/@Sadievrenseker_BK/featured</a:t>
            </a:r>
            <a:endParaRPr lang="tr-TR" dirty="0"/>
          </a:p>
          <a:p>
            <a:pPr>
              <a:buFont typeface="Arial" panose="020B0604020202020204" pitchFamily="34" charset="0"/>
              <a:buChar char="•"/>
            </a:pP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826989238"/>
      </p:ext>
    </p:extLst>
  </p:cSld>
  <p:clrMapOvr>
    <a:masterClrMapping/>
  </p:clrMapOvr>
</p:sld>
</file>

<file path=ppt/theme/theme1.xml><?xml version="1.0" encoding="utf-8"?>
<a:theme xmlns:a="http://schemas.openxmlformats.org/drawingml/2006/main" name="Geçmişe bakış">
  <a:themeElements>
    <a:clrScheme name="Özel 3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FFD700"/>
      </a:accent1>
      <a:accent2>
        <a:srgbClr val="FFD700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Geçmişe bakış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eçmişe bakış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241</TotalTime>
  <Words>728</Words>
  <Application>Microsoft Office PowerPoint</Application>
  <PresentationFormat>Geniş ekran</PresentationFormat>
  <Paragraphs>114</Paragraphs>
  <Slides>14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4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14</vt:i4>
      </vt:variant>
    </vt:vector>
  </HeadingPairs>
  <TitlesOfParts>
    <vt:vector size="19" baseType="lpstr">
      <vt:lpstr>Arial</vt:lpstr>
      <vt:lpstr>Bahnschrift</vt:lpstr>
      <vt:lpstr>Calibri</vt:lpstr>
      <vt:lpstr>Calibri Light</vt:lpstr>
      <vt:lpstr>Geçmişe bakış</vt:lpstr>
      <vt:lpstr>WORD EMBEDDINGS</vt:lpstr>
      <vt:lpstr>Word embeddings nedir, niçin kullanılır?</vt:lpstr>
      <vt:lpstr>Word Embeddings Teknikleri</vt:lpstr>
      <vt:lpstr>One-Hot Encoding</vt:lpstr>
      <vt:lpstr>One-Hot vs Modern Embedding</vt:lpstr>
      <vt:lpstr>PowerPoint Sunusu</vt:lpstr>
      <vt:lpstr>Word2Vec</vt:lpstr>
      <vt:lpstr>CBOW (Continuous Bag of Words)</vt:lpstr>
      <vt:lpstr>SKIP-GRAM</vt:lpstr>
      <vt:lpstr>GloVe (Global Vektors for Word Representation)</vt:lpstr>
      <vt:lpstr>PowerPoint Sunusu</vt:lpstr>
      <vt:lpstr>COSINE SIMILARITY</vt:lpstr>
      <vt:lpstr>CONSTEXUAL EMBEDDINGS</vt:lpstr>
      <vt:lpstr>KAYNAKÇA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Yusuf Taha Şahin</dc:creator>
  <cp:lastModifiedBy>Yusuf Taha Şahin</cp:lastModifiedBy>
  <cp:revision>6</cp:revision>
  <dcterms:created xsi:type="dcterms:W3CDTF">2026-05-02T13:36:54Z</dcterms:created>
  <dcterms:modified xsi:type="dcterms:W3CDTF">2026-05-02T18:39:48Z</dcterms:modified>
</cp:coreProperties>
</file>