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EF7D54-A3C6-4206-BEAE-1FC38BB49191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B3031-201A-4942-83E2-C342B69A6A2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7920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B3031-201A-4942-83E2-C342B69A6A2C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1154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DECC28D-21EF-ECC3-0EF6-8D702F250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F80FE701-CB81-27BF-AFAF-FC9AF8DEFE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3016259-8265-E4A4-AA43-B5CE2FC70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BA347-E167-4731-8957-1A9C192DE82C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F1E9BA5-F69D-4B15-5084-C98E2E2BB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95E252D-1219-E3AC-6BBD-9364121C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84D2B-3F69-4CD9-BE4C-24729A937D3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93347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93ED435-53AE-AC57-2729-8C2BB3C10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383F5CB-0104-6AF4-A09C-997918729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C28D969-3D24-F1A7-1E9F-13EE71127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BA347-E167-4731-8957-1A9C192DE82C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B8307CF-042D-9AF2-FC6A-05BC12484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34E24AC-5081-5169-ECF3-FE74461B1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84D2B-3F69-4CD9-BE4C-24729A937D3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83322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F2D9F2B-0BD5-2616-5852-3199BE07D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AE2198C-8E24-5057-4931-C7AF29F06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3EE44F1-F34C-F82A-7D18-5BD568EA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BA347-E167-4731-8957-1A9C192DE82C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B8AF533-336A-6003-64DA-A8686D633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CD40B5C-AB58-6E19-2F3E-42220485B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84D2B-3F69-4CD9-BE4C-24729A937D3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46436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EC0B521-5B1E-257B-16A9-127786678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265DD47-2C18-5F80-A177-D4B7370F0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133FC38A-A972-F683-5557-BC67F478F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C8F65D3-8300-99BE-DC77-F5C4D9A3F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BA347-E167-4731-8957-1A9C192DE82C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4B5A6AF-2DF9-DF40-B6B2-90A035DBC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6EEF323-6266-E3CA-808B-AB6BDB8DD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84D2B-3F69-4CD9-BE4C-24729A937D3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3193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E6D9C39-E4EA-4457-09B9-EC26CBD8B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ECC6300-8775-AEAB-79D7-4EF3621CE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26A0726-9507-F7D6-C031-99B2DC2E1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363245C4-D498-440C-07FA-81559B6B73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BEF77A2D-BE3E-B5CA-EBDF-A8775FA372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4CD280BD-25AA-D6DE-A1D3-D378B2E50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BA347-E167-4731-8957-1A9C192DE82C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D9E1327A-D830-7756-16D4-22EF32143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C4CA13A3-E3D2-5EC4-5682-627006933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84D2B-3F69-4CD9-BE4C-24729A937D3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79375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32D2950-69C9-CCEE-9C38-69E18D638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B0BE4FB7-26DF-EAAD-5EC2-E555AB9A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BA347-E167-4731-8957-1A9C192DE82C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C6966129-4724-050C-C7BF-B395AAD77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D3F16DC1-C9C3-CC94-580D-964F70127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84D2B-3F69-4CD9-BE4C-24729A937D3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49238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86EE256F-23C5-AF49-BCB7-66227119F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BA347-E167-4731-8957-1A9C192DE82C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132ABA94-A169-A3FF-5FFF-20B61B016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B70C7DCE-6614-E0B8-7FA6-FB38F8640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84D2B-3F69-4CD9-BE4C-24729A937D3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64073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8AF8AB4-4B69-76CB-DD6F-76D5D0544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FF2A63D-0A60-D935-625F-60549C4B5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CBD3994-84EC-3D03-E7A3-10BFA474E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243F7ED-F05E-A1DA-C5B2-4AB6B79AB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BA347-E167-4731-8957-1A9C192DE82C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FCFB3C6-BB3F-65F1-E89E-4FE685829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B9DDB9F-935B-C54E-EC7D-5AF2B9D50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84D2B-3F69-4CD9-BE4C-24729A937D3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07678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AE47CC6-16CF-EEFF-011A-FFB5C29C5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320E0BE9-66D7-3B47-8574-D44EEAEBE0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103C6EB6-1B42-76A7-509B-3DA3296CC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34CA57E-FB9C-A35D-695F-FBFD4ACA3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BA347-E167-4731-8957-1A9C192DE82C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98D5059-1A6C-A6AA-733F-23375E5ED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FEF54F6-A07E-EC66-2295-FCBF30A21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84D2B-3F69-4CD9-BE4C-24729A937D3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78592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6E2D02A-6CBE-4CC3-C6A9-24B6C9C44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19441F53-3EA7-5C95-26D0-030F49A249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368A2FE-48B3-E7D4-E157-2C740B42A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BA347-E167-4731-8957-1A9C192DE82C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6629C1F-1D97-C490-8407-839DA7118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AA70F00-0EEB-72C0-E5A3-44695865E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84D2B-3F69-4CD9-BE4C-24729A937D3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79792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B1AF0B0C-3592-1D8B-38F8-34AA90F80A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E64BD11-D21F-D958-C923-8136F3601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54ED0F3-89B5-496D-31B0-6606331AF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BA347-E167-4731-8957-1A9C192DE82C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CF56F0D-B11B-F151-0EB4-AA8E385D3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F118970-FA54-B3A4-8984-EF78F64B1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84D2B-3F69-4CD9-BE4C-24729A937D3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56717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01AF1956-C02B-9C30-7BFE-C1EA453CE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1F3C9BB-FE9E-A163-38F7-933948E9F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3D4C7D0-B756-20AF-5FE4-9B4EDED858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6BA347-E167-4731-8957-1A9C192DE82C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2F15C3C-DC37-A02C-B1C6-C488DEB952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F1DB93F-22FD-C074-4457-7F58FF0FC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F84D2B-3F69-4CD9-BE4C-24729A937D3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31002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E4764F3-51EE-2E17-1953-D2DF3AF233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/>
              <a:t>Sıralı Modeller ve RNN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8B5495A4-7124-38A7-FD5E-0C96E6885E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/>
              <a:t>Yinelemeli Sinir Ağları ve Duygu Analizi Uygulaması</a:t>
            </a:r>
          </a:p>
          <a:p>
            <a:endParaRPr lang="tr-TR" dirty="0"/>
          </a:p>
          <a:p>
            <a:r>
              <a:rPr lang="tr-TR" dirty="0"/>
              <a:t>Mehmet Eren</a:t>
            </a:r>
          </a:p>
          <a:p>
            <a:r>
              <a:rPr lang="tr-TR" dirty="0"/>
              <a:t>2412705019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88321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1E1910C-BA78-0741-E966-473779107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Dizi(</a:t>
            </a:r>
            <a:r>
              <a:rPr lang="tr-TR" b="1" dirty="0" err="1"/>
              <a:t>Sequence</a:t>
            </a:r>
            <a:r>
              <a:rPr lang="tr-TR" b="1" dirty="0"/>
              <a:t>)Türleri</a:t>
            </a:r>
          </a:p>
        </p:txBody>
      </p:sp>
      <p:sp>
        <p:nvSpPr>
          <p:cNvPr id="10" name="İçerik Yer Tutucusu 9">
            <a:extLst>
              <a:ext uri="{FF2B5EF4-FFF2-40B4-BE49-F238E27FC236}">
                <a16:creationId xmlns:a16="http://schemas.microsoft.com/office/drawing/2014/main" id="{07193FC1-A0DD-BBFE-3E5B-72BFF2155E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tr-TR" sz="2400" b="1" dirty="0"/>
          </a:p>
          <a:p>
            <a:pPr marL="0" indent="0">
              <a:buNone/>
            </a:pPr>
            <a:endParaRPr lang="tr-TR" sz="2400" b="1" dirty="0"/>
          </a:p>
          <a:p>
            <a:r>
              <a:rPr lang="tr-TR" sz="2000" b="1" dirty="0" err="1"/>
              <a:t>One-to-Many</a:t>
            </a:r>
            <a:r>
              <a:rPr lang="tr-TR" sz="2000" b="1" dirty="0"/>
              <a:t>:</a:t>
            </a:r>
            <a:r>
              <a:rPr lang="tr-TR" sz="2000" dirty="0"/>
              <a:t> Resimden alt yazı üretme.</a:t>
            </a:r>
          </a:p>
          <a:p>
            <a:r>
              <a:rPr lang="tr-TR" sz="2000" b="1" dirty="0" err="1"/>
              <a:t>Many-to-One</a:t>
            </a:r>
            <a:r>
              <a:rPr lang="tr-TR" sz="2000" b="1" dirty="0"/>
              <a:t>:</a:t>
            </a:r>
            <a:r>
              <a:rPr lang="tr-TR" sz="2000" dirty="0"/>
              <a:t> Duygu analizi (Cümleden tek çıktı).</a:t>
            </a:r>
          </a:p>
          <a:p>
            <a:r>
              <a:rPr lang="tr-TR" sz="2000" b="1" dirty="0" err="1"/>
              <a:t>Many-to-Many</a:t>
            </a:r>
            <a:r>
              <a:rPr lang="tr-TR" sz="2000" b="1" dirty="0"/>
              <a:t>:</a:t>
            </a:r>
            <a:r>
              <a:rPr lang="tr-TR" sz="2000" dirty="0"/>
              <a:t> Makine çevirisi (Google </a:t>
            </a:r>
            <a:r>
              <a:rPr lang="tr-TR" sz="2000" dirty="0" err="1"/>
              <a:t>Translate</a:t>
            </a:r>
            <a:r>
              <a:rPr lang="tr-TR" sz="2000" dirty="0"/>
              <a:t>).</a:t>
            </a:r>
          </a:p>
          <a:p>
            <a:endParaRPr lang="tr-TR" dirty="0"/>
          </a:p>
        </p:txBody>
      </p:sp>
      <p:pic>
        <p:nvPicPr>
          <p:cNvPr id="13" name="İçerik Yer Tutucusu 12">
            <a:extLst>
              <a:ext uri="{FF2B5EF4-FFF2-40B4-BE49-F238E27FC236}">
                <a16:creationId xmlns:a16="http://schemas.microsoft.com/office/drawing/2014/main" id="{C891C908-E064-8EF4-8D9F-290B1AB3C3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522" y="2806870"/>
            <a:ext cx="5181600" cy="162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204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83B568E-C7C5-65FC-FBC1-324014B09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RNN(</a:t>
            </a:r>
            <a:r>
              <a:rPr lang="tr-TR" b="1" dirty="0" err="1"/>
              <a:t>Recurrent</a:t>
            </a:r>
            <a:r>
              <a:rPr lang="tr-TR" b="1" dirty="0"/>
              <a:t> </a:t>
            </a:r>
            <a:r>
              <a:rPr lang="tr-TR" b="1" dirty="0" err="1"/>
              <a:t>Neural</a:t>
            </a:r>
            <a:r>
              <a:rPr lang="tr-TR" b="1" dirty="0"/>
              <a:t> Network)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B1414CE6-2466-3A46-5E07-D3FCF454BFD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endParaRPr lang="tr-TR" sz="2400" dirty="0"/>
              </a:p>
              <a:p>
                <a:pPr marL="0" indent="0">
                  <a:buNone/>
                </a:pPr>
                <a:r>
                  <a:rPr lang="tr-TR" sz="2000" dirty="0"/>
                  <a:t>RNN hücresi her adımda </a:t>
                </a:r>
                <a:r>
                  <a:rPr lang="tr-TR" sz="2000" b="1" dirty="0"/>
                  <a:t>ağırlık paylaşımı (</a:t>
                </a:r>
                <a:r>
                  <a:rPr lang="tr-TR" sz="2000" b="1" dirty="0" err="1"/>
                  <a:t>weight</a:t>
                </a:r>
                <a:r>
                  <a:rPr lang="tr-TR" sz="2000" b="1" dirty="0"/>
                  <a:t> </a:t>
                </a:r>
                <a:r>
                  <a:rPr lang="tr-TR" sz="2000" b="1" dirty="0" err="1"/>
                  <a:t>sharing</a:t>
                </a:r>
                <a:r>
                  <a:rPr lang="tr-TR" sz="2000" b="1" dirty="0"/>
                  <a:t>)</a:t>
                </a:r>
                <a:r>
                  <a:rPr lang="tr-TR" sz="2000" dirty="0"/>
                  <a:t> yaparak parametre sayısını azaltır ve zamansal bağımlılıkları öğrenir.</a:t>
                </a:r>
              </a:p>
              <a:p>
                <a:pPr marL="0" indent="0">
                  <a:buNone/>
                </a:pPr>
                <a:r>
                  <a:rPr lang="tr-TR" sz="2000" dirty="0"/>
                  <a:t>Matematiksel Formül: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tr-TR" sz="2000" b="0" i="0" smtClean="0">
                        <a:latin typeface="Cambria Math" panose="02040503050406030204" pitchFamily="18" charset="0"/>
                      </a:rPr>
                      <m:t>     </m:t>
                    </m:r>
                    <m:sSub>
                      <m:sSubPr>
                        <m:ctrlPr>
                          <a:rPr lang="ar-AE" sz="2000" smtClean="0"/>
                        </m:ctrlPr>
                      </m:sSubPr>
                      <m:e>
                        <m:r>
                          <a:rPr lang="ar-AE" sz="2000" i="1"/>
                          <m:t>h</m:t>
                        </m:r>
                      </m:e>
                      <m:sub>
                        <m:r>
                          <a:rPr lang="ar-AE" sz="2000" i="1"/>
                          <m:t>𝑡</m:t>
                        </m:r>
                      </m:sub>
                    </m:sSub>
                    <m:r>
                      <a:rPr lang="ar-AE" sz="2000"/>
                      <m:t>=</m:t>
                    </m:r>
                    <m:r>
                      <m:rPr>
                        <m:sty m:val="p"/>
                      </m:rPr>
                      <a:rPr lang="tr-TR" sz="2000"/>
                      <m:t>tanh</m:t>
                    </m:r>
                    <m:d>
                      <m:dPr>
                        <m:endChr m:val=""/>
                        <m:ctrlPr>
                          <a:rPr lang="ar-AE" sz="2000" i="1"/>
                        </m:ctrlPr>
                      </m:dPr>
                      <m:e>
                        <m:sSub>
                          <m:sSubPr>
                            <m:ctrlPr>
                              <a:rPr lang="ar-AE" sz="2000" i="1"/>
                            </m:ctrlPr>
                          </m:sSubPr>
                          <m:e>
                            <m:r>
                              <a:rPr lang="ar-AE" sz="2000" i="1"/>
                              <m:t>𝑊</m:t>
                            </m:r>
                          </m:e>
                          <m:sub>
                            <m:r>
                              <a:rPr lang="ar-AE" sz="2000" i="1"/>
                              <m:t>hh</m:t>
                            </m:r>
                          </m:sub>
                        </m:sSub>
                        <m:sSub>
                          <m:sSubPr>
                            <m:ctrlPr>
                              <a:rPr lang="ar-AE" sz="2000" i="1"/>
                            </m:ctrlPr>
                          </m:sSubPr>
                          <m:e>
                            <m:r>
                              <a:rPr lang="ar-AE" sz="2000" i="1"/>
                              <m:t>h</m:t>
                            </m:r>
                          </m:e>
                          <m:sub>
                            <m:r>
                              <a:rPr lang="ar-AE" sz="2000" i="1"/>
                              <m:t>𝑡</m:t>
                            </m:r>
                            <m:r>
                              <a:rPr lang="ar-AE" sz="2000"/>
                              <m:t>−</m:t>
                            </m:r>
                            <m:r>
                              <a:rPr lang="ar-AE" sz="2000"/>
                              <m:t>1</m:t>
                            </m:r>
                          </m:sub>
                        </m:sSub>
                        <m:r>
                          <a:rPr lang="ar-AE" sz="2000"/>
                          <m:t>+</m:t>
                        </m:r>
                        <m:sSub>
                          <m:sSubPr>
                            <m:ctrlPr>
                              <a:rPr lang="ar-AE" sz="2000" i="1"/>
                            </m:ctrlPr>
                          </m:sSubPr>
                          <m:e>
                            <m:r>
                              <a:rPr lang="ar-AE" sz="2000" i="1"/>
                              <m:t>𝑊</m:t>
                            </m:r>
                          </m:e>
                          <m:sub>
                            <m:r>
                              <a:rPr lang="ar-AE" sz="2000" i="1"/>
                              <m:t>𝑥</m:t>
                            </m:r>
                            <m:r>
                              <a:rPr lang="ar-AE" sz="2000" i="1"/>
                              <m:t>h</m:t>
                            </m:r>
                          </m:sub>
                        </m:sSub>
                        <m:sSub>
                          <m:sSubPr>
                            <m:ctrlPr>
                              <a:rPr lang="ar-AE" sz="2000" i="1"/>
                            </m:ctrlPr>
                          </m:sSubPr>
                          <m:e>
                            <m:r>
                              <a:rPr lang="ar-AE" sz="2000" i="1"/>
                              <m:t>𝑥</m:t>
                            </m:r>
                          </m:e>
                          <m:sub>
                            <m:r>
                              <a:rPr lang="ar-AE" sz="2000" i="1"/>
                              <m:t>𝑡</m:t>
                            </m:r>
                          </m:sub>
                        </m:sSub>
                        <m:r>
                          <a:rPr lang="ar-AE" sz="2000"/>
                          <m:t>+</m:t>
                        </m:r>
                        <m:r>
                          <a:rPr lang="ar-AE" sz="2000" i="1"/>
                          <m:t>𝑏</m:t>
                        </m:r>
                      </m:e>
                    </m:d>
                  </m:oMath>
                </a14:m>
                <a:r>
                  <a:rPr lang="tr-TR" sz="2000" dirty="0"/>
                  <a:t>)</a:t>
                </a:r>
              </a:p>
              <a:p>
                <a:pPr marL="0" indent="0">
                  <a:buNone/>
                </a:pPr>
                <a:r>
                  <a:rPr lang="tr-TR" sz="2000" dirty="0"/>
                  <a:t>Geçmişten gelen bilgi ile mevcut girdi                 birleştirilerek yeni bir durum oluşturulur.</a:t>
                </a:r>
                <a:br>
                  <a:rPr lang="ar-AE" sz="2000" dirty="0"/>
                </a:br>
                <a:endParaRPr lang="tr-TR" sz="2000" dirty="0"/>
              </a:p>
            </p:txBody>
          </p:sp>
        </mc:Choice>
        <mc:Fallback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B1414CE6-2466-3A46-5E07-D3FCF454BF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294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İçerik Yer Tutucusu 5">
            <a:extLst>
              <a:ext uri="{FF2B5EF4-FFF2-40B4-BE49-F238E27FC236}">
                <a16:creationId xmlns:a16="http://schemas.microsoft.com/office/drawing/2014/main" id="{70AEA1B1-72C8-0AF2-9E29-96F47ABA5C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580" y="2320413"/>
            <a:ext cx="4129549" cy="233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755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9AE5A86-EFC6-856B-E6E3-900ADEEA9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633"/>
            <a:ext cx="10515600" cy="1325563"/>
          </a:xfrm>
        </p:spPr>
        <p:txBody>
          <a:bodyPr/>
          <a:lstStyle/>
          <a:p>
            <a:r>
              <a:rPr lang="tr-TR" b="1" dirty="0"/>
              <a:t>BPTT: Zaman İçinde Eğitim</a:t>
            </a:r>
            <a:endParaRPr lang="tr-TR" dirty="0"/>
          </a:p>
        </p:txBody>
      </p:sp>
      <p:pic>
        <p:nvPicPr>
          <p:cNvPr id="36" name="İçerik Yer Tutucusu 35">
            <a:extLst>
              <a:ext uri="{FF2B5EF4-FFF2-40B4-BE49-F238E27FC236}">
                <a16:creationId xmlns:a16="http://schemas.microsoft.com/office/drawing/2014/main" id="{D84AC003-0CB8-DA8A-57A9-C94BC8BBC9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95932" y="3297795"/>
            <a:ext cx="447737" cy="428685"/>
          </a:xfrm>
          <a:prstGeom prst="rect">
            <a:avLst/>
          </a:prstGeom>
        </p:spPr>
      </p:pic>
      <p:sp>
        <p:nvSpPr>
          <p:cNvPr id="4" name="Dikdörtgen 3">
            <a:extLst>
              <a:ext uri="{FF2B5EF4-FFF2-40B4-BE49-F238E27FC236}">
                <a16:creationId xmlns:a16="http://schemas.microsoft.com/office/drawing/2014/main" id="{61C4E2A0-8EFD-C41E-79A3-997A456425A1}"/>
              </a:ext>
            </a:extLst>
          </p:cNvPr>
          <p:cNvSpPr/>
          <p:nvPr/>
        </p:nvSpPr>
        <p:spPr>
          <a:xfrm>
            <a:off x="1149761" y="2431024"/>
            <a:ext cx="3126658" cy="1995949"/>
          </a:xfrm>
          <a:prstGeom prst="rect">
            <a:avLst/>
          </a:prstGeom>
          <a:solidFill>
            <a:schemeClr val="bg1">
              <a:lumMod val="95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5FD0EEC9-5B43-6926-1A63-F7DB647602B9}"/>
              </a:ext>
            </a:extLst>
          </p:cNvPr>
          <p:cNvSpPr/>
          <p:nvPr/>
        </p:nvSpPr>
        <p:spPr>
          <a:xfrm>
            <a:off x="4532671" y="2431025"/>
            <a:ext cx="3126658" cy="1995949"/>
          </a:xfrm>
          <a:prstGeom prst="rect">
            <a:avLst/>
          </a:prstGeom>
          <a:solidFill>
            <a:schemeClr val="bg1">
              <a:lumMod val="95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47A1F62F-CB4D-4374-00FB-07F72F9F060B}"/>
              </a:ext>
            </a:extLst>
          </p:cNvPr>
          <p:cNvSpPr/>
          <p:nvPr/>
        </p:nvSpPr>
        <p:spPr>
          <a:xfrm>
            <a:off x="7981335" y="2431024"/>
            <a:ext cx="3126658" cy="1995949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FA64328C-260C-6045-3F67-B6DA30F9C011}"/>
              </a:ext>
            </a:extLst>
          </p:cNvPr>
          <p:cNvSpPr txBox="1"/>
          <p:nvPr/>
        </p:nvSpPr>
        <p:spPr>
          <a:xfrm>
            <a:off x="1248543" y="2987528"/>
            <a:ext cx="2797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Geriye </a:t>
            </a:r>
            <a:r>
              <a:rPr lang="tr-TR" sz="2000" dirty="0"/>
              <a:t>Yayılım</a:t>
            </a:r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08C6B7AE-45FF-E3A4-FE94-2BE2027157E0}"/>
              </a:ext>
            </a:extLst>
          </p:cNvPr>
          <p:cNvSpPr txBox="1"/>
          <p:nvPr/>
        </p:nvSpPr>
        <p:spPr>
          <a:xfrm>
            <a:off x="4744676" y="3028888"/>
            <a:ext cx="2749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Zincir </a:t>
            </a:r>
            <a:r>
              <a:rPr lang="tr-TR" sz="2000" dirty="0"/>
              <a:t>Kuralı</a:t>
            </a:r>
          </a:p>
        </p:txBody>
      </p: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89905D80-3262-65BD-EF67-93DAB51A11DD}"/>
              </a:ext>
            </a:extLst>
          </p:cNvPr>
          <p:cNvSpPr txBox="1"/>
          <p:nvPr/>
        </p:nvSpPr>
        <p:spPr>
          <a:xfrm>
            <a:off x="8047089" y="2986547"/>
            <a:ext cx="28427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Ağırlık </a:t>
            </a:r>
            <a:r>
              <a:rPr lang="tr-TR" sz="2000" dirty="0"/>
              <a:t>Güncelleme</a:t>
            </a:r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85F39873-D7B6-BC7F-3A69-810744BE932F}"/>
              </a:ext>
            </a:extLst>
          </p:cNvPr>
          <p:cNvSpPr txBox="1"/>
          <p:nvPr/>
        </p:nvSpPr>
        <p:spPr>
          <a:xfrm>
            <a:off x="1270820" y="3520670"/>
            <a:ext cx="2782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Hata en son adımdan başa doğru iletilir.</a:t>
            </a:r>
          </a:p>
        </p:txBody>
      </p:sp>
      <p:sp>
        <p:nvSpPr>
          <p:cNvPr id="27" name="Metin kutusu 26">
            <a:extLst>
              <a:ext uri="{FF2B5EF4-FFF2-40B4-BE49-F238E27FC236}">
                <a16:creationId xmlns:a16="http://schemas.microsoft.com/office/drawing/2014/main" id="{2B9EF4DF-1BCE-68AB-9353-DB86DCDE31C8}"/>
              </a:ext>
            </a:extLst>
          </p:cNvPr>
          <p:cNvSpPr txBox="1"/>
          <p:nvPr/>
        </p:nvSpPr>
        <p:spPr>
          <a:xfrm>
            <a:off x="4744677" y="3520670"/>
            <a:ext cx="2749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Gradyanlar zaman adımları boyunca çarpılır.</a:t>
            </a:r>
          </a:p>
        </p:txBody>
      </p:sp>
      <p:sp>
        <p:nvSpPr>
          <p:cNvPr id="28" name="Metin kutusu 27">
            <a:extLst>
              <a:ext uri="{FF2B5EF4-FFF2-40B4-BE49-F238E27FC236}">
                <a16:creationId xmlns:a16="http://schemas.microsoft.com/office/drawing/2014/main" id="{544A16FB-1174-E334-2719-B23476D67009}"/>
              </a:ext>
            </a:extLst>
          </p:cNvPr>
          <p:cNvSpPr txBox="1"/>
          <p:nvPr/>
        </p:nvSpPr>
        <p:spPr>
          <a:xfrm>
            <a:off x="8112843" y="3387638"/>
            <a:ext cx="29128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Tüm adımlardaki gradyanlar toplanarak ağırlıklar optimize edilir.</a:t>
            </a:r>
          </a:p>
        </p:txBody>
      </p:sp>
      <p:pic>
        <p:nvPicPr>
          <p:cNvPr id="34" name="Resim 33">
            <a:extLst>
              <a:ext uri="{FF2B5EF4-FFF2-40B4-BE49-F238E27FC236}">
                <a16:creationId xmlns:a16="http://schemas.microsoft.com/office/drawing/2014/main" id="{A7980B56-735B-4039-6A65-44EE9FF30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500" y="2507028"/>
            <a:ext cx="543001" cy="51442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</p:pic>
      <p:pic>
        <p:nvPicPr>
          <p:cNvPr id="38" name="Resim 37">
            <a:extLst>
              <a:ext uri="{FF2B5EF4-FFF2-40B4-BE49-F238E27FC236}">
                <a16:creationId xmlns:a16="http://schemas.microsoft.com/office/drawing/2014/main" id="{38E7A5A4-63EA-639E-7E03-344ED0E56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932" y="2597745"/>
            <a:ext cx="447737" cy="428685"/>
          </a:xfrm>
          <a:prstGeom prst="rect">
            <a:avLst/>
          </a:prstGeom>
        </p:spPr>
      </p:pic>
      <p:pic>
        <p:nvPicPr>
          <p:cNvPr id="40" name="Resim 39">
            <a:extLst>
              <a:ext uri="{FF2B5EF4-FFF2-40B4-BE49-F238E27FC236}">
                <a16:creationId xmlns:a16="http://schemas.microsoft.com/office/drawing/2014/main" id="{AD11EC4B-31E5-5E6E-D600-2AA665A25D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1742" y="2602508"/>
            <a:ext cx="485843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737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>
            <a:extLst>
              <a:ext uri="{FF2B5EF4-FFF2-40B4-BE49-F238E27FC236}">
                <a16:creationId xmlns:a16="http://schemas.microsoft.com/office/drawing/2014/main" id="{E03A7072-1738-DE9D-763B-246E0387C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RNN Problemleri</a:t>
            </a:r>
          </a:p>
        </p:txBody>
      </p:sp>
      <p:sp>
        <p:nvSpPr>
          <p:cNvPr id="5" name="İçerik Yer Tutucusu 4">
            <a:extLst>
              <a:ext uri="{FF2B5EF4-FFF2-40B4-BE49-F238E27FC236}">
                <a16:creationId xmlns:a16="http://schemas.microsoft.com/office/drawing/2014/main" id="{D3703247-C293-0C16-B067-ACA6D63CE1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67126CF9-1207-5E51-770A-D6A9DF4FC41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10" name="Dikdörtgen: Köşeleri Yuvarlatılmış 9">
            <a:extLst>
              <a:ext uri="{FF2B5EF4-FFF2-40B4-BE49-F238E27FC236}">
                <a16:creationId xmlns:a16="http://schemas.microsoft.com/office/drawing/2014/main" id="{8189BE5A-D15C-0FB4-DB7C-CE094B6FBF50}"/>
              </a:ext>
            </a:extLst>
          </p:cNvPr>
          <p:cNvSpPr/>
          <p:nvPr/>
        </p:nvSpPr>
        <p:spPr>
          <a:xfrm>
            <a:off x="1378974" y="2505008"/>
            <a:ext cx="4100052" cy="2290916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2EB6B5D2-A69C-8FFA-E5CA-E60B5A4BEDCA}"/>
              </a:ext>
            </a:extLst>
          </p:cNvPr>
          <p:cNvSpPr txBox="1"/>
          <p:nvPr/>
        </p:nvSpPr>
        <p:spPr>
          <a:xfrm>
            <a:off x="1637070" y="2619820"/>
            <a:ext cx="2458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/>
              <a:t>Kaybolan Gradyan</a:t>
            </a:r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736C8419-B88F-55D6-7962-A9DDB01C74ED}"/>
              </a:ext>
            </a:extLst>
          </p:cNvPr>
          <p:cNvSpPr/>
          <p:nvPr/>
        </p:nvSpPr>
        <p:spPr>
          <a:xfrm>
            <a:off x="6604821" y="2505008"/>
            <a:ext cx="4100052" cy="2290916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2624ECAC-957D-B9A8-1E95-23505F7A818E}"/>
              </a:ext>
            </a:extLst>
          </p:cNvPr>
          <p:cNvSpPr txBox="1"/>
          <p:nvPr/>
        </p:nvSpPr>
        <p:spPr>
          <a:xfrm>
            <a:off x="1612490" y="3198894"/>
            <a:ext cx="33921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Gradyanlar zamanla sıfıra yaklaşır. Model cümlenin başındaki kelimeleri tamamen unutur.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2B95DFDC-EB26-90D8-4FB9-68938070409B}"/>
              </a:ext>
            </a:extLst>
          </p:cNvPr>
          <p:cNvSpPr txBox="1"/>
          <p:nvPr/>
        </p:nvSpPr>
        <p:spPr>
          <a:xfrm>
            <a:off x="6897331" y="2619820"/>
            <a:ext cx="2458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/>
              <a:t>Patlayan Gradyan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83BA06AB-1C33-17D3-B319-591A3E17EBF5}"/>
              </a:ext>
            </a:extLst>
          </p:cNvPr>
          <p:cNvSpPr txBox="1"/>
          <p:nvPr/>
        </p:nvSpPr>
        <p:spPr>
          <a:xfrm>
            <a:off x="6813755" y="3187710"/>
            <a:ext cx="31954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Gradyanlar kontrolsüzce büyür. Ağırlık güncellemeleri bozulur ve model öğrenemez</a:t>
            </a:r>
          </a:p>
        </p:txBody>
      </p:sp>
    </p:spTree>
    <p:extLst>
      <p:ext uri="{BB962C8B-B14F-4D97-AF65-F5344CB8AC3E}">
        <p14:creationId xmlns:p14="http://schemas.microsoft.com/office/powerpoint/2010/main" val="1036861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24639F9-3AC2-E285-637B-C0CDEEE18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Gradyan Kırpma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0737CB5-8B0E-80C7-58EA-F691B19667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tr-TR" sz="2000" dirty="0"/>
          </a:p>
          <a:p>
            <a:pPr marL="0" indent="0">
              <a:buNone/>
            </a:pPr>
            <a:endParaRPr lang="tr-TR" sz="2000" dirty="0"/>
          </a:p>
          <a:p>
            <a:pPr marL="0" indent="0">
              <a:buNone/>
            </a:pPr>
            <a:r>
              <a:rPr lang="tr-TR" sz="2000" dirty="0"/>
              <a:t>Gradyan patlamasını önlemek için gradyan değeri bir </a:t>
            </a:r>
            <a:r>
              <a:rPr lang="tr-TR" sz="2000" b="1" dirty="0"/>
              <a:t>eşik değer (</a:t>
            </a:r>
            <a:r>
              <a:rPr lang="tr-TR" sz="2000" b="1" dirty="0" err="1"/>
              <a:t>threshold</a:t>
            </a:r>
            <a:r>
              <a:rPr lang="tr-TR" sz="2000" b="1" dirty="0"/>
              <a:t>)</a:t>
            </a:r>
            <a:r>
              <a:rPr lang="tr-TR" sz="2000" dirty="0"/>
              <a:t> ile sınırlanır. Eğer gradyan bu eşiği geçerse, otomatik olarak maksimum sınıra çekilir.</a:t>
            </a:r>
          </a:p>
          <a:p>
            <a:pPr marL="0" indent="0">
              <a:buNone/>
            </a:pPr>
            <a:r>
              <a:rPr lang="tr-TR" sz="2000" dirty="0"/>
              <a:t>Bu sayede eğitim süreci kararlı ve güvenli bir şekilde devam eder.</a:t>
            </a:r>
          </a:p>
        </p:txBody>
      </p:sp>
      <p:pic>
        <p:nvPicPr>
          <p:cNvPr id="6" name="İçerik Yer Tutucusu 5">
            <a:extLst>
              <a:ext uri="{FF2B5EF4-FFF2-40B4-BE49-F238E27FC236}">
                <a16:creationId xmlns:a16="http://schemas.microsoft.com/office/drawing/2014/main" id="{CE790624-0854-1AC4-4AD3-275801D2CDA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58194"/>
            <a:ext cx="518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425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101</TotalTime>
  <Words>193</Words>
  <Application>Microsoft Office PowerPoint</Application>
  <PresentationFormat>Geniş ekran</PresentationFormat>
  <Paragraphs>35</Paragraphs>
  <Slides>6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Office Teması</vt:lpstr>
      <vt:lpstr>Sıralı Modeller ve RNN</vt:lpstr>
      <vt:lpstr>Dizi(Sequence)Türleri</vt:lpstr>
      <vt:lpstr>RNN(Recurrent Neural Network)</vt:lpstr>
      <vt:lpstr>BPTT: Zaman İçinde Eğitim</vt:lpstr>
      <vt:lpstr>RNN Problemleri</vt:lpstr>
      <vt:lpstr>Gradyan Kırpma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Ahmet Turan Eren</dc:creator>
  <cp:lastModifiedBy>Ahmet Turan Eren</cp:lastModifiedBy>
  <cp:revision>2</cp:revision>
  <dcterms:created xsi:type="dcterms:W3CDTF">2026-05-03T12:12:19Z</dcterms:created>
  <dcterms:modified xsi:type="dcterms:W3CDTF">2026-05-03T13:53:46Z</dcterms:modified>
</cp:coreProperties>
</file>