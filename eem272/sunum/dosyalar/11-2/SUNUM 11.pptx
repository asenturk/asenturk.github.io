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59F886-09C0-4E5A-B528-5F65E5F108DE}" type="doc">
      <dgm:prSet loTypeId="urn:microsoft.com/office/officeart/2005/8/layout/vList5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AA691CF3-9E47-404D-B3A7-9730BDC32E3C}">
      <dgm:prSet phldrT="[Metin]"/>
      <dgm:spPr/>
      <dgm:t>
        <a:bodyPr/>
        <a:lstStyle/>
        <a:p>
          <a:r>
            <a:rPr lang="tr-TR" dirty="0"/>
            <a:t>1)  ENCODER</a:t>
          </a:r>
        </a:p>
      </dgm:t>
    </dgm:pt>
    <dgm:pt modelId="{12F9F041-D75A-42AA-A11B-6B2E99AAB3C6}" type="parTrans" cxnId="{8E3E661E-2B1D-4221-918C-6F203C5775FE}">
      <dgm:prSet/>
      <dgm:spPr/>
      <dgm:t>
        <a:bodyPr/>
        <a:lstStyle/>
        <a:p>
          <a:endParaRPr lang="tr-TR"/>
        </a:p>
      </dgm:t>
    </dgm:pt>
    <dgm:pt modelId="{277648D4-5353-4FED-A72A-5FBA39452CDB}" type="sibTrans" cxnId="{8E3E661E-2B1D-4221-918C-6F203C5775FE}">
      <dgm:prSet/>
      <dgm:spPr/>
      <dgm:t>
        <a:bodyPr/>
        <a:lstStyle/>
        <a:p>
          <a:endParaRPr lang="tr-TR"/>
        </a:p>
      </dgm:t>
    </dgm:pt>
    <dgm:pt modelId="{F74470D8-8503-4D3F-87D9-FFBF47B41FAC}">
      <dgm:prSet phldrT="[Metin]"/>
      <dgm:spPr/>
      <dgm:t>
        <a:bodyPr/>
        <a:lstStyle/>
        <a:p>
          <a:r>
            <a:rPr lang="tr-TR" dirty="0"/>
            <a:t>2)BOTTLENECK</a:t>
          </a:r>
        </a:p>
      </dgm:t>
    </dgm:pt>
    <dgm:pt modelId="{900EFDD9-137F-4622-832A-D73BCFF59821}" type="parTrans" cxnId="{9D7BAD7E-EDF9-46ED-BE4D-FCC898297E0C}">
      <dgm:prSet/>
      <dgm:spPr/>
      <dgm:t>
        <a:bodyPr/>
        <a:lstStyle/>
        <a:p>
          <a:endParaRPr lang="tr-TR"/>
        </a:p>
      </dgm:t>
    </dgm:pt>
    <dgm:pt modelId="{A1E9DB6A-0C04-46A9-9CC1-94D6936C836A}" type="sibTrans" cxnId="{9D7BAD7E-EDF9-46ED-BE4D-FCC898297E0C}">
      <dgm:prSet/>
      <dgm:spPr/>
      <dgm:t>
        <a:bodyPr/>
        <a:lstStyle/>
        <a:p>
          <a:endParaRPr lang="tr-TR"/>
        </a:p>
      </dgm:t>
    </dgm:pt>
    <dgm:pt modelId="{D4C235F4-C1BF-4579-8FAF-67E796F5765E}">
      <dgm:prSet phldrT="[Metin]"/>
      <dgm:spPr/>
      <dgm:t>
        <a:bodyPr/>
        <a:lstStyle/>
        <a:p>
          <a:r>
            <a:rPr lang="tr-TR" dirty="0"/>
            <a:t>3) DECODER </a:t>
          </a:r>
        </a:p>
      </dgm:t>
    </dgm:pt>
    <dgm:pt modelId="{948C1E17-720B-4022-ACB1-7C7DFACE2BF2}" type="parTrans" cxnId="{79DB2DC2-F86C-4AEE-913F-CBD325208F79}">
      <dgm:prSet/>
      <dgm:spPr/>
      <dgm:t>
        <a:bodyPr/>
        <a:lstStyle/>
        <a:p>
          <a:endParaRPr lang="tr-TR"/>
        </a:p>
      </dgm:t>
    </dgm:pt>
    <dgm:pt modelId="{2E82C1DB-80FF-4F79-B4DC-D9B0992D3962}" type="sibTrans" cxnId="{79DB2DC2-F86C-4AEE-913F-CBD325208F79}">
      <dgm:prSet/>
      <dgm:spPr/>
      <dgm:t>
        <a:bodyPr/>
        <a:lstStyle/>
        <a:p>
          <a:endParaRPr lang="tr-TR"/>
        </a:p>
      </dgm:t>
    </dgm:pt>
    <dgm:pt modelId="{B8FF62EC-0FC7-4BF0-8280-FBF70A2CDDCC}" type="pres">
      <dgm:prSet presAssocID="{C759F886-09C0-4E5A-B528-5F65E5F108DE}" presName="Name0" presStyleCnt="0">
        <dgm:presLayoutVars>
          <dgm:dir/>
          <dgm:animLvl val="lvl"/>
          <dgm:resizeHandles val="exact"/>
        </dgm:presLayoutVars>
      </dgm:prSet>
      <dgm:spPr/>
    </dgm:pt>
    <dgm:pt modelId="{9EE04222-F2DB-4B81-B421-74C8E3A963D9}" type="pres">
      <dgm:prSet presAssocID="{AA691CF3-9E47-404D-B3A7-9730BDC32E3C}" presName="linNode" presStyleCnt="0"/>
      <dgm:spPr/>
    </dgm:pt>
    <dgm:pt modelId="{708B2B2E-70A9-4B78-BE0F-9B86539041A7}" type="pres">
      <dgm:prSet presAssocID="{AA691CF3-9E47-404D-B3A7-9730BDC32E3C}" presName="parentText" presStyleLbl="node1" presStyleIdx="0" presStyleCnt="3" custScaleX="86155" custScaleY="70762" custLinFactX="-13552" custLinFactNeighborX="-100000" custLinFactNeighborY="-88601">
        <dgm:presLayoutVars>
          <dgm:chMax val="1"/>
          <dgm:bulletEnabled val="1"/>
        </dgm:presLayoutVars>
      </dgm:prSet>
      <dgm:spPr/>
    </dgm:pt>
    <dgm:pt modelId="{4830335E-0509-4631-808F-B1AF98C5CDB0}" type="pres">
      <dgm:prSet presAssocID="{277648D4-5353-4FED-A72A-5FBA39452CDB}" presName="sp" presStyleCnt="0"/>
      <dgm:spPr/>
    </dgm:pt>
    <dgm:pt modelId="{A77455EF-3266-4744-A904-7141AC21D0CA}" type="pres">
      <dgm:prSet presAssocID="{F74470D8-8503-4D3F-87D9-FFBF47B41FAC}" presName="linNode" presStyleCnt="0"/>
      <dgm:spPr/>
    </dgm:pt>
    <dgm:pt modelId="{EEA5E655-612D-4E77-9595-1E6C87F54EB7}" type="pres">
      <dgm:prSet presAssocID="{F74470D8-8503-4D3F-87D9-FFBF47B41FAC}" presName="parentText" presStyleLbl="node1" presStyleIdx="1" presStyleCnt="3" custScaleX="77297" custScaleY="73111" custLinFactY="-1383" custLinFactNeighborX="6974" custLinFactNeighborY="-100000">
        <dgm:presLayoutVars>
          <dgm:chMax val="1"/>
          <dgm:bulletEnabled val="1"/>
        </dgm:presLayoutVars>
      </dgm:prSet>
      <dgm:spPr/>
    </dgm:pt>
    <dgm:pt modelId="{AF005D1D-F945-4F84-9C92-EFCC8FC9710A}" type="pres">
      <dgm:prSet presAssocID="{A1E9DB6A-0C04-46A9-9CC1-94D6936C836A}" presName="sp" presStyleCnt="0"/>
      <dgm:spPr/>
    </dgm:pt>
    <dgm:pt modelId="{F6C3C64B-0FF2-4C0C-98A0-0CD51EB466AC}" type="pres">
      <dgm:prSet presAssocID="{D4C235F4-C1BF-4579-8FAF-67E796F5765E}" presName="linNode" presStyleCnt="0"/>
      <dgm:spPr/>
    </dgm:pt>
    <dgm:pt modelId="{BA97F1AA-DD01-460C-8C5E-840B5F4283D5}" type="pres">
      <dgm:prSet presAssocID="{D4C235F4-C1BF-4579-8FAF-67E796F5765E}" presName="parentText" presStyleLbl="node1" presStyleIdx="2" presStyleCnt="3" custScaleX="88750" custScaleY="71780" custLinFactX="4465" custLinFactY="-100000" custLinFactNeighborX="100000" custLinFactNeighborY="-106383">
        <dgm:presLayoutVars>
          <dgm:chMax val="1"/>
          <dgm:bulletEnabled val="1"/>
        </dgm:presLayoutVars>
      </dgm:prSet>
      <dgm:spPr/>
    </dgm:pt>
  </dgm:ptLst>
  <dgm:cxnLst>
    <dgm:cxn modelId="{8E3E661E-2B1D-4221-918C-6F203C5775FE}" srcId="{C759F886-09C0-4E5A-B528-5F65E5F108DE}" destId="{AA691CF3-9E47-404D-B3A7-9730BDC32E3C}" srcOrd="0" destOrd="0" parTransId="{12F9F041-D75A-42AA-A11B-6B2E99AAB3C6}" sibTransId="{277648D4-5353-4FED-A72A-5FBA39452CDB}"/>
    <dgm:cxn modelId="{88F3FC38-7577-4F8F-8037-31E45283981E}" type="presOf" srcId="{F74470D8-8503-4D3F-87D9-FFBF47B41FAC}" destId="{EEA5E655-612D-4E77-9595-1E6C87F54EB7}" srcOrd="0" destOrd="0" presId="urn:microsoft.com/office/officeart/2005/8/layout/vList5"/>
    <dgm:cxn modelId="{9D7BAD7E-EDF9-46ED-BE4D-FCC898297E0C}" srcId="{C759F886-09C0-4E5A-B528-5F65E5F108DE}" destId="{F74470D8-8503-4D3F-87D9-FFBF47B41FAC}" srcOrd="1" destOrd="0" parTransId="{900EFDD9-137F-4622-832A-D73BCFF59821}" sibTransId="{A1E9DB6A-0C04-46A9-9CC1-94D6936C836A}"/>
    <dgm:cxn modelId="{84A2AB89-0B84-466F-974F-1B3ECC60CCF8}" type="presOf" srcId="{AA691CF3-9E47-404D-B3A7-9730BDC32E3C}" destId="{708B2B2E-70A9-4B78-BE0F-9B86539041A7}" srcOrd="0" destOrd="0" presId="urn:microsoft.com/office/officeart/2005/8/layout/vList5"/>
    <dgm:cxn modelId="{AB11E0B5-EFC8-4E75-890E-FB9B7C833A1B}" type="presOf" srcId="{D4C235F4-C1BF-4579-8FAF-67E796F5765E}" destId="{BA97F1AA-DD01-460C-8C5E-840B5F4283D5}" srcOrd="0" destOrd="0" presId="urn:microsoft.com/office/officeart/2005/8/layout/vList5"/>
    <dgm:cxn modelId="{79DB2DC2-F86C-4AEE-913F-CBD325208F79}" srcId="{C759F886-09C0-4E5A-B528-5F65E5F108DE}" destId="{D4C235F4-C1BF-4579-8FAF-67E796F5765E}" srcOrd="2" destOrd="0" parTransId="{948C1E17-720B-4022-ACB1-7C7DFACE2BF2}" sibTransId="{2E82C1DB-80FF-4F79-B4DC-D9B0992D3962}"/>
    <dgm:cxn modelId="{DAD35FC9-6B4D-41D5-869C-1CAD32EAFCB2}" type="presOf" srcId="{C759F886-09C0-4E5A-B528-5F65E5F108DE}" destId="{B8FF62EC-0FC7-4BF0-8280-FBF70A2CDDCC}" srcOrd="0" destOrd="0" presId="urn:microsoft.com/office/officeart/2005/8/layout/vList5"/>
    <dgm:cxn modelId="{337311C5-4B17-4F23-8D62-01333BC81A1E}" type="presParOf" srcId="{B8FF62EC-0FC7-4BF0-8280-FBF70A2CDDCC}" destId="{9EE04222-F2DB-4B81-B421-74C8E3A963D9}" srcOrd="0" destOrd="0" presId="urn:microsoft.com/office/officeart/2005/8/layout/vList5"/>
    <dgm:cxn modelId="{E25EFD91-B610-499C-9BC4-3EB3AFC86273}" type="presParOf" srcId="{9EE04222-F2DB-4B81-B421-74C8E3A963D9}" destId="{708B2B2E-70A9-4B78-BE0F-9B86539041A7}" srcOrd="0" destOrd="0" presId="urn:microsoft.com/office/officeart/2005/8/layout/vList5"/>
    <dgm:cxn modelId="{6C313845-94CD-46AF-8FA7-CF03FB8568F1}" type="presParOf" srcId="{B8FF62EC-0FC7-4BF0-8280-FBF70A2CDDCC}" destId="{4830335E-0509-4631-808F-B1AF98C5CDB0}" srcOrd="1" destOrd="0" presId="urn:microsoft.com/office/officeart/2005/8/layout/vList5"/>
    <dgm:cxn modelId="{D2F5A274-638A-489F-A4E6-16F5B45478D5}" type="presParOf" srcId="{B8FF62EC-0FC7-4BF0-8280-FBF70A2CDDCC}" destId="{A77455EF-3266-4744-A904-7141AC21D0CA}" srcOrd="2" destOrd="0" presId="urn:microsoft.com/office/officeart/2005/8/layout/vList5"/>
    <dgm:cxn modelId="{B93915F3-CF96-4FE0-A4C6-0ACEA29C678E}" type="presParOf" srcId="{A77455EF-3266-4744-A904-7141AC21D0CA}" destId="{EEA5E655-612D-4E77-9595-1E6C87F54EB7}" srcOrd="0" destOrd="0" presId="urn:microsoft.com/office/officeart/2005/8/layout/vList5"/>
    <dgm:cxn modelId="{BBE290A4-747E-4B69-B3E1-13796F6A0F87}" type="presParOf" srcId="{B8FF62EC-0FC7-4BF0-8280-FBF70A2CDDCC}" destId="{AF005D1D-F945-4F84-9C92-EFCC8FC9710A}" srcOrd="3" destOrd="0" presId="urn:microsoft.com/office/officeart/2005/8/layout/vList5"/>
    <dgm:cxn modelId="{8BBDBE0A-E93A-40EC-A4B3-224FFA003324}" type="presParOf" srcId="{B8FF62EC-0FC7-4BF0-8280-FBF70A2CDDCC}" destId="{F6C3C64B-0FF2-4C0C-98A0-0CD51EB466AC}" srcOrd="4" destOrd="0" presId="urn:microsoft.com/office/officeart/2005/8/layout/vList5"/>
    <dgm:cxn modelId="{259B02E5-A543-4382-8817-F082587AC88F}" type="presParOf" srcId="{F6C3C64B-0FF2-4C0C-98A0-0CD51EB466AC}" destId="{BA97F1AA-DD01-460C-8C5E-840B5F4283D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B2B2E-70A9-4B78-BE0F-9B86539041A7}">
      <dsp:nvSpPr>
        <dsp:cNvPr id="0" name=""/>
        <dsp:cNvSpPr/>
      </dsp:nvSpPr>
      <dsp:spPr>
        <a:xfrm>
          <a:off x="0" y="0"/>
          <a:ext cx="1877078" cy="77400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1)  ENCODER</a:t>
          </a:r>
        </a:p>
      </dsp:txBody>
      <dsp:txXfrm>
        <a:off x="37784" y="37784"/>
        <a:ext cx="1801510" cy="698435"/>
      </dsp:txXfrm>
    </dsp:sp>
    <dsp:sp modelId="{EEA5E655-612D-4E77-9595-1E6C87F54EB7}">
      <dsp:nvSpPr>
        <dsp:cNvPr id="0" name=""/>
        <dsp:cNvSpPr/>
      </dsp:nvSpPr>
      <dsp:spPr>
        <a:xfrm>
          <a:off x="2211139" y="0"/>
          <a:ext cx="1684087" cy="79969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2)BOTTLENECK</a:t>
          </a:r>
        </a:p>
      </dsp:txBody>
      <dsp:txXfrm>
        <a:off x="2250177" y="39038"/>
        <a:ext cx="1606011" cy="721621"/>
      </dsp:txXfrm>
    </dsp:sp>
    <dsp:sp modelId="{BA97F1AA-DD01-460C-8C5E-840B5F4283D5}">
      <dsp:nvSpPr>
        <dsp:cNvPr id="0" name=""/>
        <dsp:cNvSpPr/>
      </dsp:nvSpPr>
      <dsp:spPr>
        <a:xfrm>
          <a:off x="4118391" y="0"/>
          <a:ext cx="1933616" cy="78513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3) DECODER </a:t>
          </a:r>
        </a:p>
      </dsp:txBody>
      <dsp:txXfrm>
        <a:off x="4156718" y="38327"/>
        <a:ext cx="1856962" cy="708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8BF3B-EDE2-46AA-A9D8-25C0A6B4617D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BE3BC-F545-4B75-A371-DE1C761922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7129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6184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6461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237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72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989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833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27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060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337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757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1162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70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1823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8993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6959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8568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3702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48EA4FD-902F-49E0-BF97-530185B3CB3E}" type="datetimeFigureOut">
              <a:rPr lang="tr-TR" smtClean="0"/>
              <a:t>26.04.2026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6301-E291-4F03-9FC9-1DBF4A903D44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3574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F8C1AB-2F71-223B-5464-3D5BFCA1F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272" y="-74644"/>
            <a:ext cx="9806475" cy="2584580"/>
          </a:xfrm>
        </p:spPr>
        <p:txBody>
          <a:bodyPr>
            <a:normAutofit/>
          </a:bodyPr>
          <a:lstStyle/>
          <a:p>
            <a:r>
              <a:rPr lang="tr-TR" sz="6600" dirty="0"/>
              <a:t>SUNUM 11</a:t>
            </a:r>
            <a:br>
              <a:rPr lang="tr-TR" sz="6600" dirty="0"/>
            </a:br>
            <a:r>
              <a:rPr lang="tr-TR" sz="2800" dirty="0"/>
              <a:t>Üretken Modeller ve Autoencoders</a:t>
            </a:r>
            <a:endParaRPr lang="tr-TR" sz="66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9F85A4D-3B11-C221-DCE7-E3625179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2" y="3684901"/>
            <a:ext cx="9486155" cy="2743545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chemeClr val="tx1"/>
                </a:solidFill>
              </a:rPr>
              <a:t>AD: MEHMET EMRE ŞENGÖZ </a:t>
            </a:r>
          </a:p>
          <a:p>
            <a:r>
              <a:rPr lang="tr-TR" sz="2800" dirty="0">
                <a:solidFill>
                  <a:schemeClr val="tx1"/>
                </a:solidFill>
              </a:rPr>
              <a:t>NO:2322705065</a:t>
            </a:r>
          </a:p>
        </p:txBody>
      </p:sp>
      <p:pic>
        <p:nvPicPr>
          <p:cNvPr id="7" name="Grafik 6" descr="Köşeli çift ayraç okları düz dolguyla">
            <a:extLst>
              <a:ext uri="{FF2B5EF4-FFF2-40B4-BE49-F238E27FC236}">
                <a16:creationId xmlns:a16="http://schemas.microsoft.com/office/drawing/2014/main" id="{E4C88D2A-DCC5-F450-2C16-B79BB7BA4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61" y="5056673"/>
            <a:ext cx="1908867" cy="19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7768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şgen 1">
            <a:extLst>
              <a:ext uri="{FF2B5EF4-FFF2-40B4-BE49-F238E27FC236}">
                <a16:creationId xmlns:a16="http://schemas.microsoft.com/office/drawing/2014/main" id="{0875CE47-F6D7-5B69-4811-35D134C17FB5}"/>
              </a:ext>
            </a:extLst>
          </p:cNvPr>
          <p:cNvSpPr/>
          <p:nvPr/>
        </p:nvSpPr>
        <p:spPr>
          <a:xfrm>
            <a:off x="4379168" y="2360644"/>
            <a:ext cx="2525486" cy="2136711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/>
              <a:t>SUNUM AKIŞI</a:t>
            </a: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61309A27-2DB2-CB68-483A-960E5355FEF8}"/>
              </a:ext>
            </a:extLst>
          </p:cNvPr>
          <p:cNvCxnSpPr>
            <a:stCxn id="2" idx="0"/>
          </p:cNvCxnSpPr>
          <p:nvPr/>
        </p:nvCxnSpPr>
        <p:spPr>
          <a:xfrm flipV="1">
            <a:off x="5641911" y="1632857"/>
            <a:ext cx="0" cy="727787"/>
          </a:xfrm>
          <a:prstGeom prst="straightConnector1">
            <a:avLst/>
          </a:prstGeom>
          <a:ln w="5715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11AF00F4-49D9-49B8-A564-C131A7769253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6904651" y="3176793"/>
            <a:ext cx="718459" cy="0"/>
          </a:xfrm>
          <a:prstGeom prst="straightConnector1">
            <a:avLst/>
          </a:prstGeom>
          <a:ln w="5715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F6255CB2-F754-7AA6-A497-66F164661D70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6422327" y="4497350"/>
            <a:ext cx="482324" cy="597164"/>
          </a:xfrm>
          <a:prstGeom prst="straightConnector1">
            <a:avLst/>
          </a:prstGeom>
          <a:ln w="5715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B0981780-BDFE-EECE-4256-CE18810873F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391856" y="4497350"/>
            <a:ext cx="469639" cy="597164"/>
          </a:xfrm>
          <a:prstGeom prst="straightConnector1">
            <a:avLst/>
          </a:prstGeom>
          <a:ln w="5715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4103F1D8-716A-8891-BCFF-4473502D0DAD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722914" y="3176793"/>
            <a:ext cx="656257" cy="0"/>
          </a:xfrm>
          <a:prstGeom prst="straightConnector1">
            <a:avLst/>
          </a:prstGeom>
          <a:ln w="5715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9711DD6-DFB2-7625-68EC-D43F5AB97DBE}"/>
              </a:ext>
            </a:extLst>
          </p:cNvPr>
          <p:cNvSpPr/>
          <p:nvPr/>
        </p:nvSpPr>
        <p:spPr>
          <a:xfrm>
            <a:off x="4258649" y="270035"/>
            <a:ext cx="2785963" cy="11687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/>
              <a:t>Autoencoders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C7E194-2D05-A282-CC6E-545F5BAB1D1F}"/>
              </a:ext>
            </a:extLst>
          </p:cNvPr>
          <p:cNvSpPr/>
          <p:nvPr/>
        </p:nvSpPr>
        <p:spPr>
          <a:xfrm>
            <a:off x="909747" y="2416066"/>
            <a:ext cx="2635891" cy="1521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Uygulama: MNIST Reconstruction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7C9374-2585-C7B9-D2F4-D777AF63A99A}"/>
              </a:ext>
            </a:extLst>
          </p:cNvPr>
          <p:cNvSpPr/>
          <p:nvPr/>
        </p:nvSpPr>
        <p:spPr>
          <a:xfrm>
            <a:off x="7873479" y="2416066"/>
            <a:ext cx="2651451" cy="1473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Variational Autoencoders (VAE)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E37EA2-08FE-4B40-3614-2ABA569D4D20}"/>
              </a:ext>
            </a:extLst>
          </p:cNvPr>
          <p:cNvSpPr/>
          <p:nvPr/>
        </p:nvSpPr>
        <p:spPr>
          <a:xfrm>
            <a:off x="7178354" y="4395006"/>
            <a:ext cx="2329543" cy="1399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Generative Adversarial Networks (GAN)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FC19BC-61B6-9833-F189-E984EAB59B22}"/>
              </a:ext>
            </a:extLst>
          </p:cNvPr>
          <p:cNvSpPr/>
          <p:nvPr/>
        </p:nvSpPr>
        <p:spPr>
          <a:xfrm>
            <a:off x="1664455" y="4395006"/>
            <a:ext cx="2453701" cy="13990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Super Resolution</a:t>
            </a:r>
          </a:p>
        </p:txBody>
      </p:sp>
    </p:spTree>
    <p:extLst>
      <p:ext uri="{BB962C8B-B14F-4D97-AF65-F5344CB8AC3E}">
        <p14:creationId xmlns:p14="http://schemas.microsoft.com/office/powerpoint/2010/main" val="265835070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F570E0-95AC-8DC5-20EB-8F58A3EE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7" y="150828"/>
            <a:ext cx="6564349" cy="1284953"/>
          </a:xfrm>
        </p:spPr>
        <p:txBody>
          <a:bodyPr>
            <a:normAutofit/>
          </a:bodyPr>
          <a:lstStyle/>
          <a:p>
            <a:r>
              <a:rPr lang="tr-TR" sz="4800" dirty="0"/>
              <a:t>Autoencoders Nedir</a:t>
            </a:r>
            <a:r>
              <a:rPr lang="tr-TR" sz="6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tr-TR" sz="4800" dirty="0"/>
          </a:p>
        </p:txBody>
      </p:sp>
      <p:graphicFrame>
        <p:nvGraphicFramePr>
          <p:cNvPr id="13" name="Diyagram 12">
            <a:extLst>
              <a:ext uri="{FF2B5EF4-FFF2-40B4-BE49-F238E27FC236}">
                <a16:creationId xmlns:a16="http://schemas.microsoft.com/office/drawing/2014/main" id="{6A3C49C4-4D3C-26D4-777C-F4043CEEB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851156"/>
              </p:ext>
            </p:extLst>
          </p:nvPr>
        </p:nvGraphicFramePr>
        <p:xfrm>
          <a:off x="537328" y="2234153"/>
          <a:ext cx="6052008" cy="2469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Resim Yer Tutucusu 11" descr="diyagram, daire, çizgi içeren bir resim&#10;&#10;Açıklama otomatik olarak oluşturuldu">
            <a:extLst>
              <a:ext uri="{FF2B5EF4-FFF2-40B4-BE49-F238E27FC236}">
                <a16:creationId xmlns:a16="http://schemas.microsoft.com/office/drawing/2014/main" id="{86704120-E221-5F02-F3CC-4227940406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" b="1526"/>
          <a:stretch/>
        </p:blipFill>
        <p:spPr>
          <a:xfrm>
            <a:off x="7008137" y="1727201"/>
            <a:ext cx="5120819" cy="47507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92C72780-8DB9-432D-44E0-986B908F4FDD}"/>
              </a:ext>
            </a:extLst>
          </p:cNvPr>
          <p:cNvSpPr txBox="1"/>
          <p:nvPr/>
        </p:nvSpPr>
        <p:spPr>
          <a:xfrm>
            <a:off x="284838" y="4030376"/>
            <a:ext cx="489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400" dirty="0"/>
              <a:t>NEDEN İHTİYAÇ</a:t>
            </a:r>
            <a:r>
              <a:rPr lang="tr-TR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182961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0FB49D-49D7-A2B7-EC85-32027449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1809"/>
            <a:ext cx="6021334" cy="1458176"/>
          </a:xfrm>
        </p:spPr>
        <p:txBody>
          <a:bodyPr>
            <a:normAutofit/>
          </a:bodyPr>
          <a:lstStyle/>
          <a:p>
            <a:r>
              <a:rPr lang="tr-TR" sz="4800" dirty="0"/>
              <a:t>Latent Space</a:t>
            </a:r>
          </a:p>
        </p:txBody>
      </p:sp>
      <p:pic>
        <p:nvPicPr>
          <p:cNvPr id="6" name="Resim Yer Tutucusu 5" descr="diyagram, çizgi, daire içeren bir resim&#10;&#10;Açıklama otomatik olarak oluşturuldu">
            <a:extLst>
              <a:ext uri="{FF2B5EF4-FFF2-40B4-BE49-F238E27FC236}">
                <a16:creationId xmlns:a16="http://schemas.microsoft.com/office/drawing/2014/main" id="{8A0F156E-D732-1E87-1C27-42F5A9250F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7" r="3767"/>
          <a:stretch>
            <a:fillRect/>
          </a:stretch>
        </p:blipFill>
        <p:spPr>
          <a:xfrm>
            <a:off x="7024688" y="1371600"/>
            <a:ext cx="4610585" cy="4572000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8C1D6DA-CF8C-A31E-F656-912627B63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01" y="3790670"/>
            <a:ext cx="5409508" cy="1458176"/>
          </a:xfrm>
        </p:spPr>
        <p:txBody>
          <a:bodyPr>
            <a:normAutofit/>
          </a:bodyPr>
          <a:lstStyle/>
          <a:p>
            <a:r>
              <a:rPr lang="tr-TR" sz="2800" dirty="0"/>
              <a:t>Bottle Neck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BE9111B-C165-8FE2-F156-1C1FFBDF87C4}"/>
              </a:ext>
            </a:extLst>
          </p:cNvPr>
          <p:cNvSpPr txBox="1"/>
          <p:nvPr/>
        </p:nvSpPr>
        <p:spPr>
          <a:xfrm>
            <a:off x="556727" y="1341176"/>
            <a:ext cx="3172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Nedir</a:t>
            </a:r>
            <a:r>
              <a:rPr lang="tr-TR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?</a:t>
            </a:r>
            <a:endParaRPr lang="tr-TR" sz="2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1FEA885-ADCD-97A3-A804-2318EA13A6CA}"/>
              </a:ext>
            </a:extLst>
          </p:cNvPr>
          <p:cNvSpPr txBox="1"/>
          <p:nvPr/>
        </p:nvSpPr>
        <p:spPr>
          <a:xfrm>
            <a:off x="556727" y="2172864"/>
            <a:ext cx="3662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28x28 (MNIST)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F1316D5F-9383-B0A1-F8D3-65EC0B07D74C}"/>
              </a:ext>
            </a:extLst>
          </p:cNvPr>
          <p:cNvSpPr txBox="1"/>
          <p:nvPr/>
        </p:nvSpPr>
        <p:spPr>
          <a:xfrm>
            <a:off x="539901" y="2993408"/>
            <a:ext cx="2470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784              32</a:t>
            </a:r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8D5D51AD-8A27-D9B4-1AAF-36F2CB4757A6}"/>
              </a:ext>
            </a:extLst>
          </p:cNvPr>
          <p:cNvCxnSpPr/>
          <p:nvPr/>
        </p:nvCxnSpPr>
        <p:spPr>
          <a:xfrm>
            <a:off x="1459597" y="3224240"/>
            <a:ext cx="631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k: Sağ 16">
            <a:extLst>
              <a:ext uri="{FF2B5EF4-FFF2-40B4-BE49-F238E27FC236}">
                <a16:creationId xmlns:a16="http://schemas.microsoft.com/office/drawing/2014/main" id="{55265271-3949-2DFE-7811-9B8DC761C79C}"/>
              </a:ext>
            </a:extLst>
          </p:cNvPr>
          <p:cNvSpPr/>
          <p:nvPr/>
        </p:nvSpPr>
        <p:spPr>
          <a:xfrm>
            <a:off x="83976" y="1492898"/>
            <a:ext cx="455925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Ok: Sağ 17">
            <a:extLst>
              <a:ext uri="{FF2B5EF4-FFF2-40B4-BE49-F238E27FC236}">
                <a16:creationId xmlns:a16="http://schemas.microsoft.com/office/drawing/2014/main" id="{E7DE928E-D4CA-64B0-6FA0-1E230C56E292}"/>
              </a:ext>
            </a:extLst>
          </p:cNvPr>
          <p:cNvSpPr/>
          <p:nvPr/>
        </p:nvSpPr>
        <p:spPr>
          <a:xfrm>
            <a:off x="100802" y="2299701"/>
            <a:ext cx="455925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Ok: Sağ 18">
            <a:extLst>
              <a:ext uri="{FF2B5EF4-FFF2-40B4-BE49-F238E27FC236}">
                <a16:creationId xmlns:a16="http://schemas.microsoft.com/office/drawing/2014/main" id="{9594FC79-5FC9-C182-8C1C-30684E9BB03E}"/>
              </a:ext>
            </a:extLst>
          </p:cNvPr>
          <p:cNvSpPr/>
          <p:nvPr/>
        </p:nvSpPr>
        <p:spPr>
          <a:xfrm>
            <a:off x="100802" y="3049446"/>
            <a:ext cx="455925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Ok: Sağ 19">
            <a:extLst>
              <a:ext uri="{FF2B5EF4-FFF2-40B4-BE49-F238E27FC236}">
                <a16:creationId xmlns:a16="http://schemas.microsoft.com/office/drawing/2014/main" id="{748927A9-F9F7-8805-52A2-29B5AE92356E}"/>
              </a:ext>
            </a:extLst>
          </p:cNvPr>
          <p:cNvSpPr/>
          <p:nvPr/>
        </p:nvSpPr>
        <p:spPr>
          <a:xfrm>
            <a:off x="100802" y="3949015"/>
            <a:ext cx="455925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08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F74F72-DA20-5E5C-927B-7D6ACDFA5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6" y="-821095"/>
            <a:ext cx="5516436" cy="1968759"/>
          </a:xfrm>
        </p:spPr>
        <p:txBody>
          <a:bodyPr/>
          <a:lstStyle/>
          <a:p>
            <a:r>
              <a:rPr lang="tr-TR" sz="3200" dirty="0"/>
              <a:t>Variational Autoencoders (VAE)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9979BDF7-9FE0-E876-693B-0AE24AC67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0437" y="1570719"/>
            <a:ext cx="6681462" cy="3716562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6306660-ED95-5DF2-FB0D-189A171AE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133" y="1778491"/>
            <a:ext cx="3640982" cy="4454358"/>
          </a:xfrm>
        </p:spPr>
        <p:txBody>
          <a:bodyPr>
            <a:normAutofit/>
          </a:bodyPr>
          <a:lstStyle/>
          <a:p>
            <a:r>
              <a:rPr lang="tr-TR" sz="2800" dirty="0"/>
              <a:t>Nedir</a:t>
            </a:r>
            <a:r>
              <a:rPr lang="tr-TR" sz="2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?</a:t>
            </a:r>
            <a:endParaRPr lang="tr-TR" sz="2800" dirty="0"/>
          </a:p>
          <a:p>
            <a:endParaRPr lang="tr-TR" sz="2800" dirty="0"/>
          </a:p>
          <a:p>
            <a:r>
              <a:rPr lang="tr-TR" sz="2800" dirty="0"/>
              <a:t>Olasılıksal Yaklaşım</a:t>
            </a:r>
          </a:p>
          <a:p>
            <a:endParaRPr lang="tr-TR" sz="2800" dirty="0"/>
          </a:p>
          <a:p>
            <a:r>
              <a:rPr lang="tr-TR" sz="2800" dirty="0"/>
              <a:t>Sürekli Gizli Uzay</a:t>
            </a:r>
          </a:p>
          <a:p>
            <a:endParaRPr lang="tr-TR" sz="2800" dirty="0"/>
          </a:p>
          <a:p>
            <a:r>
              <a:rPr lang="tr-TR" sz="2800" dirty="0"/>
              <a:t>Üretken Yetenek (Generative)</a:t>
            </a:r>
          </a:p>
        </p:txBody>
      </p:sp>
      <p:sp>
        <p:nvSpPr>
          <p:cNvPr id="7" name="Ok: Sağ 6">
            <a:extLst>
              <a:ext uri="{FF2B5EF4-FFF2-40B4-BE49-F238E27FC236}">
                <a16:creationId xmlns:a16="http://schemas.microsoft.com/office/drawing/2014/main" id="{3059698E-3BBE-B965-258E-9058B0B848E3}"/>
              </a:ext>
            </a:extLst>
          </p:cNvPr>
          <p:cNvSpPr/>
          <p:nvPr/>
        </p:nvSpPr>
        <p:spPr>
          <a:xfrm>
            <a:off x="130629" y="1931437"/>
            <a:ext cx="408504" cy="298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k: Sağ 7">
            <a:extLst>
              <a:ext uri="{FF2B5EF4-FFF2-40B4-BE49-F238E27FC236}">
                <a16:creationId xmlns:a16="http://schemas.microsoft.com/office/drawing/2014/main" id="{03D26BA4-B908-571C-CE19-FDA2E8A01D07}"/>
              </a:ext>
            </a:extLst>
          </p:cNvPr>
          <p:cNvSpPr/>
          <p:nvPr/>
        </p:nvSpPr>
        <p:spPr>
          <a:xfrm>
            <a:off x="130629" y="3013243"/>
            <a:ext cx="408504" cy="298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Ok: Sağ 12">
            <a:extLst>
              <a:ext uri="{FF2B5EF4-FFF2-40B4-BE49-F238E27FC236}">
                <a16:creationId xmlns:a16="http://schemas.microsoft.com/office/drawing/2014/main" id="{20C7EC26-C2DF-08BE-CCAE-C26DB1242785}"/>
              </a:ext>
            </a:extLst>
          </p:cNvPr>
          <p:cNvSpPr/>
          <p:nvPr/>
        </p:nvSpPr>
        <p:spPr>
          <a:xfrm>
            <a:off x="130629" y="4095049"/>
            <a:ext cx="408504" cy="298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Ok: Sağ 13">
            <a:extLst>
              <a:ext uri="{FF2B5EF4-FFF2-40B4-BE49-F238E27FC236}">
                <a16:creationId xmlns:a16="http://schemas.microsoft.com/office/drawing/2014/main" id="{BF577020-5C8A-62DB-4DA5-3C7B2D30B346}"/>
              </a:ext>
            </a:extLst>
          </p:cNvPr>
          <p:cNvSpPr/>
          <p:nvPr/>
        </p:nvSpPr>
        <p:spPr>
          <a:xfrm>
            <a:off x="130629" y="5163949"/>
            <a:ext cx="408504" cy="298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689074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A4F205-3623-8A09-5EB6-262122CC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96" y="130129"/>
            <a:ext cx="9015412" cy="866834"/>
          </a:xfrm>
        </p:spPr>
        <p:txBody>
          <a:bodyPr>
            <a:normAutofit/>
          </a:bodyPr>
          <a:lstStyle/>
          <a:p>
            <a:r>
              <a:rPr lang="tr-TR" sz="3200" dirty="0"/>
              <a:t>Generative Adversarial Networks (GAN)</a:t>
            </a:r>
          </a:p>
        </p:txBody>
      </p:sp>
      <p:pic>
        <p:nvPicPr>
          <p:cNvPr id="8" name="Resim Yer Tutucusu 7" descr="metin, diyagram, ekran görüntüsü, çizgi içeren bir resim&#10;&#10;Açıklama otomatik olarak oluşturuldu">
            <a:extLst>
              <a:ext uri="{FF2B5EF4-FFF2-40B4-BE49-F238E27FC236}">
                <a16:creationId xmlns:a16="http://schemas.microsoft.com/office/drawing/2014/main" id="{94FE882E-1386-EA40-E8B7-324F097A3D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3" b="1833"/>
          <a:stretch>
            <a:fillRect/>
          </a:stretch>
        </p:blipFill>
        <p:spPr>
          <a:xfrm>
            <a:off x="269081" y="1405003"/>
            <a:ext cx="11653837" cy="4631903"/>
          </a:xfrm>
        </p:spPr>
      </p:pic>
    </p:spTree>
    <p:extLst>
      <p:ext uri="{BB962C8B-B14F-4D97-AF65-F5344CB8AC3E}">
        <p14:creationId xmlns:p14="http://schemas.microsoft.com/office/powerpoint/2010/main" val="105189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42565-F8E3-47C3-DCDF-7A4276F1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4962"/>
            <a:ext cx="7423232" cy="1038486"/>
          </a:xfrm>
        </p:spPr>
        <p:txBody>
          <a:bodyPr/>
          <a:lstStyle/>
          <a:p>
            <a:r>
              <a:rPr lang="tr-TR" dirty="0"/>
              <a:t>GAN Uygulama Örnekleri</a:t>
            </a:r>
          </a:p>
        </p:txBody>
      </p:sp>
      <p:pic>
        <p:nvPicPr>
          <p:cNvPr id="6" name="İçerik Yer Tutucusu 5" descr="insan yüzü, kişi, şahıs, giyim, yaşlı kimse içeren bir resim&#10;&#10;Açıklama otomatik olarak oluşturuldu">
            <a:extLst>
              <a:ext uri="{FF2B5EF4-FFF2-40B4-BE49-F238E27FC236}">
                <a16:creationId xmlns:a16="http://schemas.microsoft.com/office/drawing/2014/main" id="{97E827A5-A1A8-4F64-7537-946CFB23AD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3" y="2941467"/>
            <a:ext cx="5464175" cy="2693524"/>
          </a:xfrm>
        </p:spPr>
      </p:pic>
      <p:pic>
        <p:nvPicPr>
          <p:cNvPr id="8" name="İçerik Yer Tutucusu 7" descr="kişi, şahıs, insan yüzü, gülümsemek, gülüş, dudak içeren bir resim&#10;&#10;Açıklama otomatik olarak oluşturuldu">
            <a:extLst>
              <a:ext uri="{FF2B5EF4-FFF2-40B4-BE49-F238E27FC236}">
                <a16:creationId xmlns:a16="http://schemas.microsoft.com/office/drawing/2014/main" id="{72EC2B77-67CD-E950-B8CF-8542BBAE17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13" y="2956912"/>
            <a:ext cx="5464175" cy="2666613"/>
          </a:xfrm>
        </p:spPr>
      </p:pic>
    </p:spTree>
    <p:extLst>
      <p:ext uri="{BB962C8B-B14F-4D97-AF65-F5344CB8AC3E}">
        <p14:creationId xmlns:p14="http://schemas.microsoft.com/office/powerpoint/2010/main" val="225478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888F2C-1E86-5A5F-335E-799BF5C7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03316"/>
            <a:ext cx="5369442" cy="1480008"/>
          </a:xfrm>
        </p:spPr>
        <p:txBody>
          <a:bodyPr>
            <a:normAutofit/>
          </a:bodyPr>
          <a:lstStyle/>
          <a:p>
            <a:r>
              <a:rPr lang="tr-TR" sz="4800" dirty="0"/>
              <a:t>Super Resolution</a:t>
            </a:r>
          </a:p>
        </p:txBody>
      </p:sp>
      <p:pic>
        <p:nvPicPr>
          <p:cNvPr id="13" name="Resim Yer Tutucusu 12">
            <a:extLst>
              <a:ext uri="{FF2B5EF4-FFF2-40B4-BE49-F238E27FC236}">
                <a16:creationId xmlns:a16="http://schemas.microsoft.com/office/drawing/2014/main" id="{06A8CB6C-BCB3-3E2B-1E7B-695C71229AC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283" r="12283"/>
          <a:stretch/>
        </p:blipFill>
        <p:spPr>
          <a:xfrm>
            <a:off x="6805541" y="1342534"/>
            <a:ext cx="3476625" cy="4572000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3EFEA97-137B-3391-1F5A-3BDD8AC71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7266" y="2158738"/>
            <a:ext cx="5938275" cy="4251489"/>
          </a:xfrm>
        </p:spPr>
        <p:txBody>
          <a:bodyPr>
            <a:normAutofit/>
          </a:bodyPr>
          <a:lstStyle/>
          <a:p>
            <a:r>
              <a:rPr lang="tr-TR" sz="3200" dirty="0"/>
              <a:t>Nedir</a:t>
            </a:r>
            <a:r>
              <a:rPr lang="tr-TR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?</a:t>
            </a:r>
          </a:p>
          <a:p>
            <a:endParaRPr lang="tr-TR" sz="32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tr-TR" sz="3200" dirty="0"/>
              <a:t>Piksel Tahmini</a:t>
            </a:r>
          </a:p>
          <a:p>
            <a:endParaRPr lang="tr-TR" sz="3200" dirty="0"/>
          </a:p>
          <a:p>
            <a:r>
              <a:rPr lang="tr-TR" sz="3200" dirty="0"/>
              <a:t>Kullanım Alanları</a:t>
            </a:r>
          </a:p>
        </p:txBody>
      </p:sp>
      <p:sp>
        <p:nvSpPr>
          <p:cNvPr id="5" name="Ok: Sağ 4">
            <a:extLst>
              <a:ext uri="{FF2B5EF4-FFF2-40B4-BE49-F238E27FC236}">
                <a16:creationId xmlns:a16="http://schemas.microsoft.com/office/drawing/2014/main" id="{BE3D4511-E4D4-8A7A-554B-B0F75299A5B1}"/>
              </a:ext>
            </a:extLst>
          </p:cNvPr>
          <p:cNvSpPr/>
          <p:nvPr/>
        </p:nvSpPr>
        <p:spPr>
          <a:xfrm>
            <a:off x="179109" y="2224726"/>
            <a:ext cx="544152" cy="44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Ok: Sağ 5">
            <a:extLst>
              <a:ext uri="{FF2B5EF4-FFF2-40B4-BE49-F238E27FC236}">
                <a16:creationId xmlns:a16="http://schemas.microsoft.com/office/drawing/2014/main" id="{79AC518B-D894-46F1-1499-87DEC7A547CE}"/>
              </a:ext>
            </a:extLst>
          </p:cNvPr>
          <p:cNvSpPr/>
          <p:nvPr/>
        </p:nvSpPr>
        <p:spPr>
          <a:xfrm>
            <a:off x="179109" y="3476134"/>
            <a:ext cx="544152" cy="44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Ok: Sağ 6">
            <a:extLst>
              <a:ext uri="{FF2B5EF4-FFF2-40B4-BE49-F238E27FC236}">
                <a16:creationId xmlns:a16="http://schemas.microsoft.com/office/drawing/2014/main" id="{FDF1408F-91E4-305D-6B2D-C05B4502CDC7}"/>
              </a:ext>
            </a:extLst>
          </p:cNvPr>
          <p:cNvSpPr/>
          <p:nvPr/>
        </p:nvSpPr>
        <p:spPr>
          <a:xfrm>
            <a:off x="179109" y="4727542"/>
            <a:ext cx="544152" cy="44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646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95BB32-A5AA-FBF6-8E1B-CF83EFC1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7" y="-75184"/>
            <a:ext cx="9404723" cy="1400530"/>
          </a:xfrm>
        </p:spPr>
        <p:txBody>
          <a:bodyPr/>
          <a:lstStyle/>
          <a:p>
            <a:r>
              <a:rPr lang="tr-TR" dirty="0"/>
              <a:t>Uygulama - MNIST Autoencoder</a:t>
            </a:r>
          </a:p>
        </p:txBody>
      </p:sp>
      <p:pic>
        <p:nvPicPr>
          <p:cNvPr id="5" name="İçerik Yer Tutucusu 4" descr="metin, ekran görüntüsü, sayı, numara, yazı tipi içeren bir resim&#10;&#10;Açıklama otomatik olarak oluşturuldu">
            <a:extLst>
              <a:ext uri="{FF2B5EF4-FFF2-40B4-BE49-F238E27FC236}">
                <a16:creationId xmlns:a16="http://schemas.microsoft.com/office/drawing/2014/main" id="{7C4926F3-4C5A-2E4B-7A39-15100D24E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7" y="1684993"/>
            <a:ext cx="7322446" cy="4195762"/>
          </a:xfrm>
        </p:spPr>
      </p:pic>
    </p:spTree>
    <p:extLst>
      <p:ext uri="{BB962C8B-B14F-4D97-AF65-F5344CB8AC3E}">
        <p14:creationId xmlns:p14="http://schemas.microsoft.com/office/powerpoint/2010/main" val="327682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A7610D-B04A-0230-2EF3-EB27457B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6" y="56792"/>
            <a:ext cx="9404723" cy="1400530"/>
          </a:xfrm>
        </p:spPr>
        <p:txBody>
          <a:bodyPr/>
          <a:lstStyle/>
          <a:p>
            <a:r>
              <a:rPr lang="tr-TR" dirty="0"/>
              <a:t>Eğitim Süreci ve Parametreler</a:t>
            </a:r>
          </a:p>
        </p:txBody>
      </p:sp>
      <p:pic>
        <p:nvPicPr>
          <p:cNvPr id="5" name="İçerik Yer Tutucusu 4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E0B49B08-2EC0-BC8A-EE39-3927E3AC2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59" y="1634580"/>
            <a:ext cx="7917630" cy="4907622"/>
          </a:xfrm>
        </p:spPr>
      </p:pic>
    </p:spTree>
    <p:extLst>
      <p:ext uri="{BB962C8B-B14F-4D97-AF65-F5344CB8AC3E}">
        <p14:creationId xmlns:p14="http://schemas.microsoft.com/office/powerpoint/2010/main" val="379709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E2959A-03FD-64BD-B826-13F77BBA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31" y="81700"/>
            <a:ext cx="9404723" cy="1400530"/>
          </a:xfrm>
        </p:spPr>
        <p:txBody>
          <a:bodyPr/>
          <a:lstStyle/>
          <a:p>
            <a:r>
              <a:rPr lang="tr-TR" dirty="0"/>
              <a:t>Final Sonuçları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23E7936-605D-92B0-5C64-9293BE2E7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624" y="2343346"/>
            <a:ext cx="11654752" cy="2403215"/>
          </a:xfrm>
        </p:spPr>
      </p:pic>
    </p:spTree>
    <p:extLst>
      <p:ext uri="{BB962C8B-B14F-4D97-AF65-F5344CB8AC3E}">
        <p14:creationId xmlns:p14="http://schemas.microsoft.com/office/powerpoint/2010/main" val="4150488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094C416F-DB2C-A67D-55D3-49F0F852E341}"/>
              </a:ext>
            </a:extLst>
          </p:cNvPr>
          <p:cNvSpPr txBox="1"/>
          <p:nvPr/>
        </p:nvSpPr>
        <p:spPr>
          <a:xfrm>
            <a:off x="2202025" y="2307209"/>
            <a:ext cx="8481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600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3979757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3886</TotalTime>
  <Words>107</Words>
  <Application>Microsoft Office PowerPoint</Application>
  <PresentationFormat>Geniş ekran</PresentationFormat>
  <Paragraphs>39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 3</vt:lpstr>
      <vt:lpstr>İyon</vt:lpstr>
      <vt:lpstr>SUNUM 11 Üretken Modeller ve Autoencoders</vt:lpstr>
      <vt:lpstr>PowerPoint Sunusu</vt:lpstr>
      <vt:lpstr>Autoencoders Nedir?</vt:lpstr>
      <vt:lpstr>Latent Space</vt:lpstr>
      <vt:lpstr>Variational Autoencoders (VAE)</vt:lpstr>
      <vt:lpstr>Generative Adversarial Networks (GAN)</vt:lpstr>
      <vt:lpstr>GAN Uygulama Örnekleri</vt:lpstr>
      <vt:lpstr>Super Resolution</vt:lpstr>
      <vt:lpstr>Uygulama - MNIST Autoencoder</vt:lpstr>
      <vt:lpstr>Eğitim Süreci ve Parametreler</vt:lpstr>
      <vt:lpstr>Final Sonuçları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5</cp:revision>
  <dcterms:created xsi:type="dcterms:W3CDTF">2026-04-23T06:52:50Z</dcterms:created>
  <dcterms:modified xsi:type="dcterms:W3CDTF">2026-04-26T10:08:55Z</dcterms:modified>
</cp:coreProperties>
</file>