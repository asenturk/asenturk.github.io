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48" r:id="rId1"/>
  </p:sldMasterIdLst>
  <p:sldIdLst>
    <p:sldId id="256" r:id="rId2"/>
    <p:sldId id="257" r:id="rId3"/>
    <p:sldId id="258" r:id="rId4"/>
    <p:sldId id="262" r:id="rId5"/>
    <p:sldId id="261" r:id="rId6"/>
    <p:sldId id="259" r:id="rId7"/>
    <p:sldId id="263" r:id="rId8"/>
    <p:sldId id="260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tr-TR" smtClean="0"/>
              <a:t>Asıl alt başlık stilini düzenlemek için tıklatın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Dikdörtgen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Dikdörtgen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  <p:sp>
        <p:nvSpPr>
          <p:cNvPr id="12" name="Dikdörtgen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Dikdörtgen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tr-TR" smtClean="0"/>
              <a:t>Resim eklemek için simgeyi tıklatın</a:t>
            </a:r>
            <a:endParaRPr kumimoji="0" lang="en-US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11" name="Dikdörtgen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Dikdörtgen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ikdörtgen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Dikdörtgen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tr-TR" smtClean="0"/>
              <a:t>Asıl metin stillerini düzenlemek için tıklatın</a:t>
            </a:r>
          </a:p>
          <a:p>
            <a:pPr lvl="1" eaLnBrk="1" latinLnBrk="0" hangingPunct="1"/>
            <a:r>
              <a:rPr lang="tr-TR" smtClean="0"/>
              <a:t>İkinci düzey</a:t>
            </a:r>
          </a:p>
          <a:p>
            <a:pPr lvl="2" eaLnBrk="1" latinLnBrk="0" hangingPunct="1"/>
            <a:r>
              <a:rPr lang="tr-TR" smtClean="0"/>
              <a:t>Üçüncü düzey</a:t>
            </a:r>
          </a:p>
          <a:p>
            <a:pPr lvl="3" eaLnBrk="1" latinLnBrk="0" hangingPunct="1"/>
            <a:r>
              <a:rPr lang="tr-TR" smtClean="0"/>
              <a:t>Dördüncü düzey</a:t>
            </a:r>
          </a:p>
          <a:p>
            <a:pPr lvl="4" eaLnBrk="1" latinLnBrk="0" hangingPunct="1"/>
            <a:r>
              <a:rPr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kdörtgen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Dikdörtgen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tr-TR" smtClean="0"/>
              <a:t>Asıl başlık stili için tıklatın</a:t>
            </a:r>
            <a:endParaRPr kumimoji="0"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tr-TR" smtClean="0"/>
              <a:t>Asıl metin stillerini düzenlemek için tıklatın</a:t>
            </a:r>
          </a:p>
          <a:p>
            <a:pPr lvl="1" eaLnBrk="1" latinLnBrk="0" hangingPunct="1"/>
            <a:r>
              <a:rPr kumimoji="0" lang="tr-TR" smtClean="0"/>
              <a:t>İkinci düzey</a:t>
            </a:r>
          </a:p>
          <a:p>
            <a:pPr lvl="2" eaLnBrk="1" latinLnBrk="0" hangingPunct="1"/>
            <a:r>
              <a:rPr kumimoji="0" lang="tr-TR" smtClean="0"/>
              <a:t>Üçüncü düzey</a:t>
            </a:r>
          </a:p>
          <a:p>
            <a:pPr lvl="3" eaLnBrk="1" latinLnBrk="0" hangingPunct="1"/>
            <a:r>
              <a:rPr kumimoji="0" lang="tr-TR" smtClean="0"/>
              <a:t>Dördüncü düzey</a:t>
            </a:r>
          </a:p>
          <a:p>
            <a:pPr lvl="4" eaLnBrk="1" latinLnBrk="0" hangingPunct="1"/>
            <a:r>
              <a:rPr kumimoji="0" lang="tr-TR" smtClean="0"/>
              <a:t>Beşinci düzey</a:t>
            </a:r>
            <a:endParaRPr kumimoji="0"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8C0448D6-4C04-4AA7-8366-1577E58C323C}" type="datetimeFigureOut">
              <a:rPr lang="tr-TR" smtClean="0"/>
              <a:t>27.04.2026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59FBB2DD-A386-4E8F-827E-B3AD02015E8C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9" r:id="rId1"/>
    <p:sldLayoutId id="2147484250" r:id="rId2"/>
    <p:sldLayoutId id="2147484251" r:id="rId3"/>
    <p:sldLayoutId id="2147484252" r:id="rId4"/>
    <p:sldLayoutId id="2147484253" r:id="rId5"/>
    <p:sldLayoutId id="2147484254" r:id="rId6"/>
    <p:sldLayoutId id="2147484255" r:id="rId7"/>
    <p:sldLayoutId id="2147484256" r:id="rId8"/>
    <p:sldLayoutId id="2147484257" r:id="rId9"/>
    <p:sldLayoutId id="2147484258" r:id="rId10"/>
    <p:sldLayoutId id="2147484259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here.com/llmu/sentence-word-embeddings" TargetMode="External"/><Relationship Id="rId2" Type="http://schemas.openxmlformats.org/officeDocument/2006/relationships/hyperlink" Target="https://www.ibm.com/think/topics/word-embedding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nlp/word-embeddings-in-nlp/" TargetMode="External"/><Relationship Id="rId4" Type="http://schemas.openxmlformats.org/officeDocument/2006/relationships/hyperlink" Target="https://medium.com/bili%C5%9Fim-hareketi/word-embedding-teknikleri-word2vec-nedir-tf-idf-nedir-e2f826dd917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şlık 2"/>
          <p:cNvSpPr>
            <a:spLocks noGrp="1"/>
          </p:cNvSpPr>
          <p:nvPr>
            <p:ph type="ctrTitle"/>
          </p:nvPr>
        </p:nvSpPr>
        <p:spPr>
          <a:xfrm>
            <a:off x="467544" y="1844824"/>
            <a:ext cx="8229600" cy="2209800"/>
          </a:xfrm>
        </p:spPr>
        <p:txBody>
          <a:bodyPr>
            <a:normAutofit/>
          </a:bodyPr>
          <a:lstStyle/>
          <a:p>
            <a:pPr algn="l"/>
            <a:r>
              <a:rPr lang="tr-TR" sz="6000" dirty="0" smtClean="0">
                <a:solidFill>
                  <a:schemeClr val="tx1"/>
                </a:solidFill>
                <a:latin typeface="Artifakt Element Black" panose="020B0A03050000020004" pitchFamily="34" charset="-94"/>
                <a:ea typeface="Artifakt Element Black" panose="020B0A03050000020004" pitchFamily="34" charset="-94"/>
              </a:rPr>
              <a:t>WORD EMBEDDINGS</a:t>
            </a:r>
            <a:r>
              <a:rPr lang="tr-TR" dirty="0" smtClean="0">
                <a:solidFill>
                  <a:schemeClr val="tx1"/>
                </a:solidFill>
                <a:latin typeface="Artifakt Element Black" panose="020B0A03050000020004" pitchFamily="34" charset="-94"/>
                <a:ea typeface="Artifakt Element Black" panose="020B0A03050000020004" pitchFamily="34" charset="-94"/>
              </a:rPr>
              <a:t/>
            </a:r>
            <a:br>
              <a:rPr lang="tr-TR" dirty="0" smtClean="0">
                <a:solidFill>
                  <a:schemeClr val="tx1"/>
                </a:solidFill>
                <a:latin typeface="Artifakt Element Black" panose="020B0A03050000020004" pitchFamily="34" charset="-94"/>
                <a:ea typeface="Artifakt Element Black" panose="020B0A03050000020004" pitchFamily="34" charset="-94"/>
              </a:rPr>
            </a:br>
            <a:r>
              <a:rPr lang="tr-TR" sz="2400" dirty="0" smtClean="0">
                <a:solidFill>
                  <a:schemeClr val="tx1"/>
                </a:solidFill>
                <a:latin typeface="Artifakt Element Black" panose="020B0A03050000020004" pitchFamily="34" charset="-94"/>
                <a:ea typeface="Artifakt Element Black" panose="020B0A03050000020004" pitchFamily="34" charset="-94"/>
              </a:rPr>
              <a:t>HAFTA 13</a:t>
            </a:r>
            <a:endParaRPr lang="tr-TR" sz="2400" dirty="0">
              <a:solidFill>
                <a:schemeClr val="tx1"/>
              </a:solidFill>
              <a:latin typeface="Artifakt Element Black" panose="020B0A03050000020004" pitchFamily="34" charset="-94"/>
              <a:ea typeface="Artifakt Element Black" panose="020B0A03050000020004" pitchFamily="34" charset="-94"/>
            </a:endParaRPr>
          </a:p>
        </p:txBody>
      </p:sp>
      <p:sp>
        <p:nvSpPr>
          <p:cNvPr id="2" name="Alt Başlık 1"/>
          <p:cNvSpPr>
            <a:spLocks noGrp="1"/>
          </p:cNvSpPr>
          <p:nvPr>
            <p:ph type="subTitle" idx="1"/>
          </p:nvPr>
        </p:nvSpPr>
        <p:spPr>
          <a:xfrm>
            <a:off x="2267744" y="4869160"/>
            <a:ext cx="6560234" cy="1752600"/>
          </a:xfrm>
        </p:spPr>
        <p:txBody>
          <a:bodyPr>
            <a:normAutofit/>
          </a:bodyPr>
          <a:lstStyle/>
          <a:p>
            <a:pPr algn="r"/>
            <a:r>
              <a:rPr lang="tr-TR" sz="2600" dirty="0" smtClean="0">
                <a:latin typeface="Artifakt Element Black" panose="020B0A03050000020004" pitchFamily="34" charset="-94"/>
                <a:ea typeface="Artifakt Element Black" panose="020B0A03050000020004" pitchFamily="34" charset="-94"/>
              </a:rPr>
              <a:t>Hazırlayan:</a:t>
            </a:r>
          </a:p>
          <a:p>
            <a:pPr algn="r"/>
            <a:r>
              <a:rPr lang="tr-TR" sz="3000" dirty="0" smtClean="0">
                <a:latin typeface="Artifakt Element Black" panose="020B0A03050000020004" pitchFamily="34" charset="-94"/>
                <a:ea typeface="Artifakt Element Black" panose="020B0A03050000020004" pitchFamily="34" charset="-94"/>
              </a:rPr>
              <a:t>Hikmet FİLİK</a:t>
            </a:r>
          </a:p>
          <a:p>
            <a:pPr algn="r"/>
            <a:r>
              <a:rPr lang="tr-TR" sz="3000" dirty="0" smtClean="0">
                <a:latin typeface="Artifakt Element Black" panose="020B0A03050000020004" pitchFamily="34" charset="-94"/>
                <a:ea typeface="Artifakt Element Black" panose="020B0A03050000020004" pitchFamily="34" charset="-94"/>
              </a:rPr>
              <a:t>2222705062</a:t>
            </a:r>
            <a:endParaRPr lang="tr-TR" sz="3000" dirty="0">
              <a:latin typeface="Artifakt Element Black" panose="020B0A03050000020004" pitchFamily="34" charset="-94"/>
              <a:ea typeface="Artifakt Element Black" panose="020B0A03050000020004" pitchFamily="34" charset="-94"/>
            </a:endParaRPr>
          </a:p>
        </p:txBody>
      </p:sp>
    </p:spTree>
    <p:extLst>
      <p:ext uri="{BB962C8B-B14F-4D97-AF65-F5344CB8AC3E}">
        <p14:creationId xmlns:p14="http://schemas.microsoft.com/office/powerpoint/2010/main" val="291525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tr-TR" sz="4600" dirty="0">
                <a:solidFill>
                  <a:schemeClr val="bg1"/>
                </a:solidFill>
              </a:rPr>
              <a:t>Word Embedding Nedir?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Kelimelerin anlamsal özelliklerini içeren </a:t>
            </a:r>
            <a:r>
              <a:rPr lang="tr-TR" sz="2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yoğun vektörlere </a:t>
            </a:r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dönüştürülmesidir</a:t>
            </a:r>
            <a:r>
              <a:rPr lang="tr-TR" sz="2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tr-TR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Bilgisayarlar sadece sayıları </a:t>
            </a:r>
            <a:r>
              <a:rPr lang="tr-TR" sz="2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işleyebilir </a:t>
            </a:r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kelimeleri işleyemez</a:t>
            </a:r>
            <a:r>
              <a:rPr lang="tr-TR" sz="2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Bu yüzden kelimeleri sayısal vektörlere dönüştürmek gerekir.</a:t>
            </a:r>
            <a:endParaRPr lang="tr-TR" sz="2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8872" indent="0">
              <a:buNone/>
            </a:pP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3776677"/>
            <a:ext cx="5973152" cy="2956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4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600" dirty="0" err="1">
                <a:solidFill>
                  <a:schemeClr val="bg1"/>
                </a:solidFill>
              </a:rPr>
              <a:t>One</a:t>
            </a:r>
            <a:r>
              <a:rPr lang="tr-TR" sz="4600" dirty="0">
                <a:solidFill>
                  <a:schemeClr val="bg1"/>
                </a:solidFill>
              </a:rPr>
              <a:t>-Hot Encoding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Verilerin sayısal olarak ifade edilebilmesi için kullanılan en temel tekniklerden birisi One Hot Encoding </a:t>
            </a:r>
            <a:r>
              <a:rPr lang="tr-TR" sz="2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tekniğidir. </a:t>
            </a:r>
          </a:p>
          <a:p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Vektörlerin değeri, her bir sözel ifadenin kendi indeksine ait olan değeri 1 diğerleri </a:t>
            </a:r>
            <a:r>
              <a:rPr lang="tr-TR" sz="25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</a:t>
            </a:r>
            <a:r>
              <a:rPr lang="tr-TR" sz="2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olacak şekilde atanır.</a:t>
            </a:r>
            <a:endParaRPr lang="tr-TR" sz="25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3573016"/>
            <a:ext cx="8929802" cy="246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600" dirty="0">
                <a:solidFill>
                  <a:schemeClr val="bg1"/>
                </a:solidFill>
              </a:rPr>
              <a:t>One-Hot vs. Embedding</a:t>
            </a:r>
          </a:p>
        </p:txBody>
      </p:sp>
      <p:sp>
        <p:nvSpPr>
          <p:cNvPr id="4" name="Metin Yer Tutucusu 3"/>
          <p:cNvSpPr>
            <a:spLocks noGrp="1"/>
          </p:cNvSpPr>
          <p:nvPr>
            <p:ph type="body" idx="1"/>
          </p:nvPr>
        </p:nvSpPr>
        <p:spPr>
          <a:xfrm>
            <a:off x="467544" y="1556792"/>
            <a:ext cx="4040188" cy="715355"/>
          </a:xfrm>
        </p:spPr>
        <p:txBody>
          <a:bodyPr/>
          <a:lstStyle/>
          <a:p>
            <a:r>
              <a:rPr lang="tr-TR" dirty="0" smtClean="0"/>
              <a:t>One-Hot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tr-TR" sz="2500" dirty="0"/>
              <a:t>H</a:t>
            </a:r>
            <a:r>
              <a:rPr lang="tr-TR" sz="2500" dirty="0" smtClean="0"/>
              <a:t>er </a:t>
            </a:r>
            <a:r>
              <a:rPr lang="tr-TR" sz="2500" dirty="0"/>
              <a:t>yeni </a:t>
            </a:r>
            <a:r>
              <a:rPr lang="tr-TR" sz="2500" dirty="0" smtClean="0"/>
              <a:t>kelime </a:t>
            </a:r>
            <a:r>
              <a:rPr lang="tr-TR" sz="2500" dirty="0"/>
              <a:t>vektör uzunluğunu bir artırır. Bu durum </a:t>
            </a:r>
            <a:r>
              <a:rPr lang="tr-TR" sz="2500" dirty="0" smtClean="0"/>
              <a:t>bellek </a:t>
            </a:r>
            <a:r>
              <a:rPr lang="tr-TR" sz="2500" dirty="0"/>
              <a:t>yükü oluşturur</a:t>
            </a:r>
            <a:r>
              <a:rPr lang="tr-TR" sz="2500" dirty="0" smtClean="0"/>
              <a:t>.</a:t>
            </a:r>
          </a:p>
          <a:p>
            <a:r>
              <a:rPr lang="tr-TR" sz="2500" dirty="0"/>
              <a:t>V</a:t>
            </a:r>
            <a:r>
              <a:rPr lang="tr-TR" sz="2500" dirty="0" smtClean="0"/>
              <a:t>ektörlerin %99’u sıfırlardan oluşur. Bu verimsiz bir temsil biçimidir.</a:t>
            </a:r>
          </a:p>
          <a:p>
            <a:r>
              <a:rPr lang="tr-TR" sz="2500" dirty="0"/>
              <a:t>V</a:t>
            </a:r>
            <a:r>
              <a:rPr lang="tr-TR" sz="2500" dirty="0" smtClean="0"/>
              <a:t>ektörler </a:t>
            </a:r>
            <a:r>
              <a:rPr lang="tr-TR" sz="2500" dirty="0"/>
              <a:t>birbirine matematiksel olarak diktir</a:t>
            </a:r>
            <a:r>
              <a:rPr lang="tr-TR" sz="2500" dirty="0" smtClean="0"/>
              <a:t>.</a:t>
            </a:r>
            <a:endParaRPr lang="tr-TR" sz="2500" b="1" dirty="0" smtClean="0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4008" y="1556792"/>
            <a:ext cx="4041775" cy="715355"/>
          </a:xfrm>
        </p:spPr>
        <p:txBody>
          <a:bodyPr/>
          <a:lstStyle/>
          <a:p>
            <a:r>
              <a:rPr lang="tr-TR" dirty="0" err="1" smtClean="0"/>
              <a:t>embedding</a:t>
            </a:r>
            <a:endParaRPr lang="tr-TR" dirty="0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tr-TR" sz="2500" dirty="0" smtClean="0"/>
              <a:t>Kelimeleri sabit ve küçük boyutta temsil eder.</a:t>
            </a:r>
          </a:p>
          <a:p>
            <a:r>
              <a:rPr lang="tr-TR" sz="2500" dirty="0" smtClean="0"/>
              <a:t>Vektörün her bir hücresi sıfır yerine anlamlı ondalıklı sayılar içerir.</a:t>
            </a:r>
          </a:p>
          <a:p>
            <a:r>
              <a:rPr lang="tr-TR" sz="2500" dirty="0" smtClean="0"/>
              <a:t>Benzer kelimeleri birbirine yakın konumlar.</a:t>
            </a:r>
            <a:endParaRPr lang="tr-TR" sz="2500" dirty="0"/>
          </a:p>
        </p:txBody>
      </p:sp>
    </p:spTree>
    <p:extLst>
      <p:ext uri="{BB962C8B-B14F-4D97-AF65-F5344CB8AC3E}">
        <p14:creationId xmlns:p14="http://schemas.microsoft.com/office/powerpoint/2010/main" val="193642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600" dirty="0">
                <a:solidFill>
                  <a:schemeClr val="bg1"/>
                </a:solidFill>
              </a:rPr>
              <a:t>Word2Vec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500" dirty="0" smtClean="0"/>
              <a:t>Word2vec </a:t>
            </a:r>
            <a:r>
              <a:rPr lang="tr-TR" sz="2500" dirty="0"/>
              <a:t>sıklıkla kullanılan </a:t>
            </a:r>
            <a:r>
              <a:rPr lang="tr-TR" sz="2500" dirty="0" err="1"/>
              <a:t>word</a:t>
            </a:r>
            <a:r>
              <a:rPr lang="tr-TR" sz="2500" dirty="0"/>
              <a:t> </a:t>
            </a:r>
            <a:r>
              <a:rPr lang="tr-TR" sz="2500" dirty="0" err="1"/>
              <a:t>embedding</a:t>
            </a:r>
            <a:r>
              <a:rPr lang="tr-TR" sz="2500" dirty="0"/>
              <a:t> tekniklerinden bir diğeridir. Bütün </a:t>
            </a:r>
            <a:r>
              <a:rPr lang="tr-TR" sz="2500" dirty="0" err="1"/>
              <a:t>corpus</a:t>
            </a:r>
            <a:r>
              <a:rPr lang="tr-TR" sz="2500" dirty="0"/>
              <a:t> taranarak hedef kelimenin daha çok hangi kelimelerle birlikte geçtiği tespit edilerek vektör oluşturma işlemi </a:t>
            </a:r>
            <a:r>
              <a:rPr lang="tr-TR" sz="2500" dirty="0" smtClean="0"/>
              <a:t>gerçekleştirilir.</a:t>
            </a:r>
            <a:endParaRPr lang="tr-TR" sz="25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478" y="3645024"/>
            <a:ext cx="3761525" cy="312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7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95536" y="44624"/>
            <a:ext cx="8229600" cy="1252728"/>
          </a:xfrm>
        </p:spPr>
        <p:txBody>
          <a:bodyPr>
            <a:noAutofit/>
          </a:bodyPr>
          <a:lstStyle/>
          <a:p>
            <a:r>
              <a:rPr lang="tr-TR" sz="4600" dirty="0" smtClean="0">
                <a:solidFill>
                  <a:schemeClr val="bg1"/>
                </a:solidFill>
              </a:rPr>
              <a:t>Word2Vec </a:t>
            </a:r>
            <a:r>
              <a:rPr lang="tr-TR" sz="4600" dirty="0">
                <a:solidFill>
                  <a:schemeClr val="bg1"/>
                </a:solidFill>
              </a:rPr>
              <a:t>Mimarileri: CBOW ve Skip-gram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500" b="1" dirty="0"/>
              <a:t>CBOW (</a:t>
            </a:r>
            <a:r>
              <a:rPr lang="tr-TR" sz="2500" b="1" dirty="0" err="1"/>
              <a:t>Continuous</a:t>
            </a:r>
            <a:r>
              <a:rPr lang="tr-TR" sz="2500" b="1" dirty="0"/>
              <a:t> </a:t>
            </a:r>
            <a:r>
              <a:rPr lang="tr-TR" sz="2500" b="1" dirty="0" err="1"/>
              <a:t>Bag</a:t>
            </a:r>
            <a:r>
              <a:rPr lang="tr-TR" sz="2500" b="1" dirty="0"/>
              <a:t> of </a:t>
            </a:r>
            <a:r>
              <a:rPr lang="tr-TR" sz="2500" b="1" dirty="0" err="1"/>
              <a:t>Words</a:t>
            </a:r>
            <a:r>
              <a:rPr lang="tr-TR" sz="2500" b="1" dirty="0"/>
              <a:t>):</a:t>
            </a:r>
            <a:r>
              <a:rPr lang="tr-TR" sz="2500" dirty="0"/>
              <a:t> Çevredeki kelimelerden </a:t>
            </a:r>
            <a:r>
              <a:rPr lang="tr-TR" sz="2500" dirty="0" smtClean="0"/>
              <a:t>hedef </a:t>
            </a:r>
            <a:r>
              <a:rPr lang="tr-TR" sz="2500" dirty="0"/>
              <a:t>kelimeyi tahmin eder</a:t>
            </a:r>
            <a:r>
              <a:rPr lang="tr-TR" sz="2500" dirty="0" smtClean="0"/>
              <a:t>.</a:t>
            </a:r>
          </a:p>
          <a:p>
            <a:endParaRPr lang="tr-TR" sz="2500" dirty="0"/>
          </a:p>
          <a:p>
            <a:r>
              <a:rPr lang="tr-TR" sz="2500" b="1" dirty="0"/>
              <a:t>Skip-gram:</a:t>
            </a:r>
            <a:r>
              <a:rPr lang="tr-TR" sz="2500" dirty="0"/>
              <a:t> Hedef kelimeden çevre kelimeleri tahmin eder</a:t>
            </a:r>
            <a:r>
              <a:rPr lang="tr-TR" sz="2500" dirty="0" smtClean="0"/>
              <a:t>.</a:t>
            </a:r>
            <a:endParaRPr lang="tr-TR" sz="2500" dirty="0"/>
          </a:p>
          <a:p>
            <a:pPr marL="118872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63525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021287"/>
          </a:xfrm>
        </p:spPr>
      </p:pic>
    </p:spTree>
    <p:extLst>
      <p:ext uri="{BB962C8B-B14F-4D97-AF65-F5344CB8AC3E}">
        <p14:creationId xmlns:p14="http://schemas.microsoft.com/office/powerpoint/2010/main" val="118475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3059832" y="188640"/>
            <a:ext cx="5916330" cy="978408"/>
          </a:xfrm>
        </p:spPr>
        <p:txBody>
          <a:bodyPr>
            <a:noAutofit/>
          </a:bodyPr>
          <a:lstStyle/>
          <a:p>
            <a:r>
              <a:rPr lang="tr-TR" sz="4600" dirty="0" smtClean="0">
                <a:solidFill>
                  <a:schemeClr val="bg1"/>
                </a:solidFill>
              </a:rPr>
              <a:t>GloVe </a:t>
            </a:r>
            <a:r>
              <a:rPr lang="tr-TR" sz="4600" dirty="0">
                <a:solidFill>
                  <a:schemeClr val="bg1"/>
                </a:solidFill>
              </a:rPr>
              <a:t>(Global Vectors)</a:t>
            </a:r>
          </a:p>
        </p:txBody>
      </p:sp>
      <p:sp>
        <p:nvSpPr>
          <p:cNvPr id="5" name="Metin Yer Tutucusu 4"/>
          <p:cNvSpPr>
            <a:spLocks noGrp="1"/>
          </p:cNvSpPr>
          <p:nvPr>
            <p:ph type="body" sz="half" idx="2"/>
          </p:nvPr>
        </p:nvSpPr>
        <p:spPr>
          <a:xfrm>
            <a:off x="179512" y="1628800"/>
            <a:ext cx="4464496" cy="4673218"/>
          </a:xfrm>
        </p:spPr>
        <p:txBody>
          <a:bodyPr>
            <a:normAutofit fontScale="25000" lnSpcReduction="20000"/>
          </a:bodyPr>
          <a:lstStyle/>
          <a:p>
            <a:endParaRPr lang="tr-TR" sz="10000" dirty="0" smtClean="0"/>
          </a:p>
          <a:p>
            <a:r>
              <a:rPr lang="tr-TR" sz="10000" dirty="0" smtClean="0"/>
              <a:t>Kelimelerin </a:t>
            </a:r>
            <a:r>
              <a:rPr lang="tr-TR" sz="10000" dirty="0"/>
              <a:t>bir bütün olarak tüm metin kümesindeki istatistiksel verilerini kullanarak vektör oluşturan bir modeldir</a:t>
            </a:r>
            <a:r>
              <a:rPr lang="tr-TR" sz="10000" dirty="0" smtClean="0"/>
              <a:t>.</a:t>
            </a:r>
          </a:p>
          <a:p>
            <a:endParaRPr lang="tr-TR" sz="10000" dirty="0"/>
          </a:p>
          <a:p>
            <a:r>
              <a:rPr lang="tr-TR" sz="10000" dirty="0"/>
              <a:t>Word2vec bir sinir ağı üzerinden tahminleme yaparken GloVe, istatistiksel bir matris ayrıştırma mantığıyla çalışır.</a:t>
            </a:r>
          </a:p>
          <a:p>
            <a:endParaRPr lang="tr-TR" dirty="0"/>
          </a:p>
        </p:txBody>
      </p:sp>
      <p:pic>
        <p:nvPicPr>
          <p:cNvPr id="8" name="Resim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083" y="2636911"/>
            <a:ext cx="4700606" cy="25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4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şlık 4"/>
          <p:cNvSpPr>
            <a:spLocks noGrp="1"/>
          </p:cNvSpPr>
          <p:nvPr>
            <p:ph type="title"/>
          </p:nvPr>
        </p:nvSpPr>
        <p:spPr>
          <a:xfrm>
            <a:off x="107504" y="44624"/>
            <a:ext cx="8928992" cy="1252728"/>
          </a:xfrm>
        </p:spPr>
        <p:txBody>
          <a:bodyPr>
            <a:noAutofit/>
          </a:bodyPr>
          <a:lstStyle/>
          <a:p>
            <a:r>
              <a:rPr lang="tr-TR" sz="4600" dirty="0">
                <a:solidFill>
                  <a:schemeClr val="bg1"/>
                </a:solidFill>
              </a:rPr>
              <a:t>Cosine Similarity </a:t>
            </a:r>
            <a:r>
              <a:rPr lang="tr-TR" sz="4600" dirty="0" smtClean="0">
                <a:solidFill>
                  <a:schemeClr val="bg1"/>
                </a:solidFill>
              </a:rPr>
              <a:t/>
            </a:r>
            <a:br>
              <a:rPr lang="tr-TR" sz="4600" dirty="0" smtClean="0">
                <a:solidFill>
                  <a:schemeClr val="bg1"/>
                </a:solidFill>
              </a:rPr>
            </a:br>
            <a:r>
              <a:rPr lang="tr-TR" sz="4600" dirty="0" smtClean="0">
                <a:solidFill>
                  <a:schemeClr val="bg1"/>
                </a:solidFill>
              </a:rPr>
              <a:t>(Kosinüs Benzerliği</a:t>
            </a:r>
            <a:r>
              <a:rPr lang="tr-TR" sz="4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500" dirty="0"/>
              <a:t>İki kelime vektörü arasındaki anlamsal </a:t>
            </a:r>
            <a:r>
              <a:rPr lang="tr-TR" sz="2500" dirty="0" smtClean="0"/>
              <a:t>benzerliği </a:t>
            </a:r>
            <a:r>
              <a:rPr lang="tr-TR" sz="2500" dirty="0"/>
              <a:t>aralarındaki açının kosinüs değerini hesaplayarak ölçen matematiksel yöntemdir.</a:t>
            </a:r>
          </a:p>
          <a:p>
            <a:r>
              <a:rPr lang="tr-TR" sz="2500" dirty="0" smtClean="0"/>
              <a:t>Vektörlerin </a:t>
            </a:r>
            <a:r>
              <a:rPr lang="tr-TR" sz="2500" dirty="0"/>
              <a:t>uzunluğuna değil doğrultusuna odaklandığı </a:t>
            </a:r>
            <a:r>
              <a:rPr lang="tr-TR" sz="2500" dirty="0" smtClean="0"/>
              <a:t>için </a:t>
            </a:r>
            <a:r>
              <a:rPr lang="tr-TR" sz="2500" dirty="0"/>
              <a:t>kelime sıklığından bağımsız olarak saf anlamsal yakınlığı hatasız bir şekilde tespit eder</a:t>
            </a:r>
            <a:r>
              <a:rPr lang="tr-TR" sz="2500" dirty="0" smtClean="0"/>
              <a:t>.</a:t>
            </a:r>
            <a:br>
              <a:rPr lang="tr-TR" sz="2500" dirty="0" smtClean="0"/>
            </a:br>
            <a:endParaRPr lang="tr-TR" sz="2500" dirty="0" smtClean="0"/>
          </a:p>
          <a:p>
            <a:r>
              <a:rPr lang="tr-TR" sz="2500" dirty="0" smtClean="0"/>
              <a:t>A ve B iki vektör olsun;</a:t>
            </a:r>
          </a:p>
          <a:p>
            <a:endParaRPr lang="tr-TR" sz="2500" dirty="0"/>
          </a:p>
          <a:p>
            <a:endParaRPr lang="tr-TR" sz="2500" dirty="0" smtClean="0"/>
          </a:p>
          <a:p>
            <a:pPr marL="118872" indent="0">
              <a:buNone/>
            </a:pPr>
            <a:endParaRPr lang="tr-TR" dirty="0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5085184"/>
            <a:ext cx="4931541" cy="1189915"/>
          </a:xfrm>
          <a:prstGeom prst="rect">
            <a:avLst/>
          </a:prstGeom>
        </p:spPr>
      </p:pic>
      <p:sp>
        <p:nvSpPr>
          <p:cNvPr id="8" name="Metin kutusu 7"/>
          <p:cNvSpPr txBox="1"/>
          <p:nvPr/>
        </p:nvSpPr>
        <p:spPr>
          <a:xfrm>
            <a:off x="107504" y="6381328"/>
            <a:ext cx="748883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300" dirty="0" smtClean="0"/>
              <a:t>Not: Paydaki nokta çarpımı, paydadaki ise vektörlerin büyüklükleridir</a:t>
            </a:r>
            <a:r>
              <a:rPr lang="tr-TR" sz="1100" dirty="0" smtClean="0"/>
              <a:t>.</a:t>
            </a:r>
            <a:endParaRPr lang="tr-TR" sz="1100" dirty="0"/>
          </a:p>
        </p:txBody>
      </p:sp>
    </p:spTree>
    <p:extLst>
      <p:ext uri="{BB962C8B-B14F-4D97-AF65-F5344CB8AC3E}">
        <p14:creationId xmlns:p14="http://schemas.microsoft.com/office/powerpoint/2010/main" val="2074223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600" dirty="0">
                <a:solidFill>
                  <a:schemeClr val="bg1"/>
                </a:solidFill>
              </a:rPr>
              <a:t>Contextual Embeddings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500" dirty="0"/>
              <a:t>Geleneksel </a:t>
            </a:r>
            <a:r>
              <a:rPr lang="tr-TR" sz="2500" dirty="0" smtClean="0"/>
              <a:t>modeller her </a:t>
            </a:r>
            <a:r>
              <a:rPr lang="tr-TR" sz="2500" dirty="0"/>
              <a:t>kelimeye tek bir sabit vektör </a:t>
            </a:r>
            <a:r>
              <a:rPr lang="tr-TR" sz="2500" dirty="0" smtClean="0"/>
              <a:t>verirken </a:t>
            </a:r>
            <a:r>
              <a:rPr lang="tr-TR" sz="2500" dirty="0"/>
              <a:t>bağlamsal modeller, kelimenin anlamını içinde bulunduğu cümleye göre dinamik olarak değiştirir</a:t>
            </a:r>
            <a:r>
              <a:rPr lang="tr-TR" sz="2500" dirty="0" smtClean="0"/>
              <a:t>.</a:t>
            </a:r>
          </a:p>
          <a:p>
            <a:endParaRPr lang="tr-TR" sz="2500" dirty="0"/>
          </a:p>
          <a:p>
            <a:r>
              <a:rPr lang="tr-TR" sz="2500" dirty="0" smtClean="0"/>
              <a:t>Bu </a:t>
            </a:r>
            <a:r>
              <a:rPr lang="tr-TR" sz="2500" dirty="0"/>
              <a:t>yöntem sayesinde </a:t>
            </a:r>
            <a:r>
              <a:rPr lang="tr-TR" sz="2500" dirty="0" smtClean="0"/>
              <a:t>yüz </a:t>
            </a:r>
            <a:r>
              <a:rPr lang="tr-TR" sz="2500" dirty="0"/>
              <a:t>kelimesinin </a:t>
            </a:r>
            <a:r>
              <a:rPr lang="tr-TR" sz="2500" dirty="0" smtClean="0"/>
              <a:t>sayı çehre </a:t>
            </a:r>
            <a:r>
              <a:rPr lang="tr-TR" sz="2500" dirty="0"/>
              <a:t>veya </a:t>
            </a:r>
            <a:r>
              <a:rPr lang="tr-TR" sz="2500" dirty="0" smtClean="0"/>
              <a:t>yüzmek </a:t>
            </a:r>
            <a:r>
              <a:rPr lang="tr-TR" sz="2500" dirty="0"/>
              <a:t>eylemi olup olmadığı, çevresindeki kelimeler analiz edilerek birbirinden farklı vektörlerle temsil edilir.</a:t>
            </a:r>
          </a:p>
          <a:p>
            <a:pPr marL="118872" indent="0">
              <a:buNone/>
            </a:pPr>
            <a:endParaRPr lang="tr-T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653136"/>
            <a:ext cx="5724525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4309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4600" dirty="0" smtClean="0">
                <a:solidFill>
                  <a:schemeClr val="bg1"/>
                </a:solidFill>
              </a:rPr>
              <a:t>Kaynakça</a:t>
            </a:r>
            <a:endParaRPr lang="tr-TR" sz="4600" dirty="0">
              <a:solidFill>
                <a:schemeClr val="bg1"/>
              </a:solidFill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500" dirty="0">
                <a:hlinkClick r:id="rId2"/>
              </a:rPr>
              <a:t>https://</a:t>
            </a:r>
            <a:r>
              <a:rPr lang="tr-TR" sz="2500" dirty="0" smtClean="0">
                <a:hlinkClick r:id="rId2"/>
              </a:rPr>
              <a:t>www.ibm.com/think/topics/word-embeddings</a:t>
            </a:r>
            <a:endParaRPr lang="tr-TR" sz="2500" dirty="0" smtClean="0"/>
          </a:p>
          <a:p>
            <a:r>
              <a:rPr lang="tr-TR" sz="2500" dirty="0">
                <a:hlinkClick r:id="rId3"/>
              </a:rPr>
              <a:t>https://</a:t>
            </a:r>
            <a:r>
              <a:rPr lang="tr-TR" sz="2500" dirty="0" smtClean="0">
                <a:hlinkClick r:id="rId3"/>
              </a:rPr>
              <a:t>cohere.com/llmu/sentence-word-embeddings</a:t>
            </a:r>
            <a:endParaRPr lang="tr-TR" sz="2500" dirty="0" smtClean="0"/>
          </a:p>
          <a:p>
            <a:r>
              <a:rPr lang="tr-TR" sz="2500" dirty="0">
                <a:hlinkClick r:id="rId4"/>
              </a:rPr>
              <a:t>https://</a:t>
            </a:r>
            <a:r>
              <a:rPr lang="tr-TR" sz="2500" dirty="0" smtClean="0">
                <a:hlinkClick r:id="rId4"/>
              </a:rPr>
              <a:t>medium.com/bili%C5%9Fim-hareketi/word-embedding-teknikleri-word2vec-nedir-tf-idf-nedir-e2f826dd9178</a:t>
            </a:r>
            <a:endParaRPr lang="tr-TR" sz="2500" dirty="0" smtClean="0"/>
          </a:p>
          <a:p>
            <a:r>
              <a:rPr lang="tr-TR" sz="2500" dirty="0">
                <a:hlinkClick r:id="rId5"/>
              </a:rPr>
              <a:t>https://www.geeksforgeeks.org/nlp/word-embeddings-in-nlp</a:t>
            </a:r>
            <a:r>
              <a:rPr lang="tr-TR" sz="2500" dirty="0" smtClean="0">
                <a:hlinkClick r:id="rId5"/>
              </a:rPr>
              <a:t>/</a:t>
            </a:r>
            <a:endParaRPr lang="tr-TR" sz="2500" dirty="0" smtClean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08594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ül">
  <a:themeElements>
    <a:clrScheme name="Görünüş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odül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dü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97</TotalTime>
  <Words>335</Words>
  <Application>Microsoft Office PowerPoint</Application>
  <PresentationFormat>Ekran Gösterisi (4:3)</PresentationFormat>
  <Paragraphs>45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2" baseType="lpstr">
      <vt:lpstr>Modül</vt:lpstr>
      <vt:lpstr>WORD EMBEDDINGS HAFTA 13</vt:lpstr>
      <vt:lpstr>Word Embedding Nedir?</vt:lpstr>
      <vt:lpstr>One-Hot Encoding</vt:lpstr>
      <vt:lpstr>One-Hot vs. Embedding</vt:lpstr>
      <vt:lpstr>Word2Vec</vt:lpstr>
      <vt:lpstr>Word2Vec Mimarileri: CBOW ve Skip-gram</vt:lpstr>
      <vt:lpstr>PowerPoint Sunusu</vt:lpstr>
      <vt:lpstr>GloVe (Global Vectors)</vt:lpstr>
      <vt:lpstr>Cosine Similarity  (Kosinüs Benzerliği)</vt:lpstr>
      <vt:lpstr>Contextual Embeddings</vt:lpstr>
      <vt:lpstr>Kaynakça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EMBEDDESING HAFTA 13</dc:title>
  <dc:creator>HİKMET</dc:creator>
  <cp:lastModifiedBy>HİKMET</cp:lastModifiedBy>
  <cp:revision>10</cp:revision>
  <dcterms:created xsi:type="dcterms:W3CDTF">2026-04-27T13:51:02Z</dcterms:created>
  <dcterms:modified xsi:type="dcterms:W3CDTF">2026-04-27T15:28:55Z</dcterms:modified>
</cp:coreProperties>
</file>