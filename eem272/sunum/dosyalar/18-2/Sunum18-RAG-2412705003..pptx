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4" r:id="rId1"/>
  </p:sldMasterIdLst>
  <p:sldIdLst>
    <p:sldId id="256" r:id="rId2"/>
    <p:sldId id="257" r:id="rId3"/>
    <p:sldId id="258" r:id="rId4"/>
    <p:sldId id="259" r:id="rId5"/>
    <p:sldId id="260" r:id="rId6"/>
    <p:sldId id="261" r:id="rId7"/>
    <p:sldId id="262" r:id="rId8"/>
    <p:sldId id="263" r:id="rId9"/>
    <p:sldId id="264" r:id="rId10"/>
    <p:sldId id="265" r:id="rId11"/>
    <p:sldId id="268" r:id="rId12"/>
    <p:sldId id="266" r:id="rId13"/>
    <p:sldId id="267"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yşe Hilal Akar" initials="AHA" lastIdx="1" clrIdx="0">
    <p:extLst>
      <p:ext uri="{19B8F6BF-5375-455C-9EA6-DF929625EA0E}">
        <p15:presenceInfo xmlns:p15="http://schemas.microsoft.com/office/powerpoint/2012/main" userId="ea664622cd3b884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1" d="100"/>
          <a:sy n="91" d="100"/>
        </p:scale>
        <p:origin x="322"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tr-TR"/>
              <a:t>Asıl başlık stilini düzenlemek için tıklayın</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6B1C14A8-1840-4571-A385-6876E064928E}" type="datetimeFigureOut">
              <a:rPr lang="tr-TR" smtClean="0"/>
              <a:t>10.05.2026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1C260E6-7E7C-4DBF-A393-F94E33EFFE87}" type="slidenum">
              <a:rPr lang="tr-TR" smtClean="0"/>
              <a:t>‹#›</a:t>
            </a:fld>
            <a:endParaRPr lang="tr-TR"/>
          </a:p>
        </p:txBody>
      </p:sp>
    </p:spTree>
    <p:extLst>
      <p:ext uri="{BB962C8B-B14F-4D97-AF65-F5344CB8AC3E}">
        <p14:creationId xmlns:p14="http://schemas.microsoft.com/office/powerpoint/2010/main" val="2037896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B1C14A8-1840-4571-A385-6876E064928E}" type="datetimeFigureOut">
              <a:rPr lang="tr-TR" smtClean="0"/>
              <a:t>10.05.2026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1C260E6-7E7C-4DBF-A393-F94E33EFFE87}" type="slidenum">
              <a:rPr lang="tr-TR" smtClean="0"/>
              <a:t>‹#›</a:t>
            </a:fld>
            <a:endParaRPr lang="tr-TR"/>
          </a:p>
        </p:txBody>
      </p:sp>
    </p:spTree>
    <p:extLst>
      <p:ext uri="{BB962C8B-B14F-4D97-AF65-F5344CB8AC3E}">
        <p14:creationId xmlns:p14="http://schemas.microsoft.com/office/powerpoint/2010/main" val="4141372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6B1C14A8-1840-4571-A385-6876E064928E}" type="datetimeFigureOut">
              <a:rPr lang="tr-TR" smtClean="0"/>
              <a:t>10.05.2026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1C260E6-7E7C-4DBF-A393-F94E33EFFE87}" type="slidenum">
              <a:rPr lang="tr-TR" smtClean="0"/>
              <a:t>‹#›</a:t>
            </a:fld>
            <a:endParaRPr lang="tr-TR"/>
          </a:p>
        </p:txBody>
      </p:sp>
    </p:spTree>
    <p:extLst>
      <p:ext uri="{BB962C8B-B14F-4D97-AF65-F5344CB8AC3E}">
        <p14:creationId xmlns:p14="http://schemas.microsoft.com/office/powerpoint/2010/main" val="2400245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6B1C14A8-1840-4571-A385-6876E064928E}" type="datetimeFigureOut">
              <a:rPr lang="tr-TR" smtClean="0"/>
              <a:t>10.05.2026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1C260E6-7E7C-4DBF-A393-F94E33EFFE87}" type="slidenum">
              <a:rPr lang="tr-TR" smtClean="0"/>
              <a:t>‹#›</a:t>
            </a:fld>
            <a:endParaRPr lang="tr-TR"/>
          </a:p>
        </p:txBody>
      </p:sp>
    </p:spTree>
    <p:extLst>
      <p:ext uri="{BB962C8B-B14F-4D97-AF65-F5344CB8AC3E}">
        <p14:creationId xmlns:p14="http://schemas.microsoft.com/office/powerpoint/2010/main" val="1014504981"/>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913795" y="2912232"/>
            <a:ext cx="5107208" cy="287896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172200" y="2912232"/>
            <a:ext cx="5095357" cy="287896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6B1C14A8-1840-4571-A385-6876E064928E}" type="datetimeFigureOut">
              <a:rPr lang="tr-TR" smtClean="0"/>
              <a:t>10.05.2026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F1C260E6-7E7C-4DBF-A393-F94E33EFFE87}" type="slidenum">
              <a:rPr lang="tr-TR" smtClean="0"/>
              <a:t>‹#›</a:t>
            </a:fld>
            <a:endParaRPr lang="tr-TR"/>
          </a:p>
        </p:txBody>
      </p:sp>
    </p:spTree>
    <p:extLst>
      <p:ext uri="{BB962C8B-B14F-4D97-AF65-F5344CB8AC3E}">
        <p14:creationId xmlns:p14="http://schemas.microsoft.com/office/powerpoint/2010/main" val="307170988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6B1C14A8-1840-4571-A385-6876E064928E}" type="datetimeFigureOut">
              <a:rPr lang="tr-TR" smtClean="0"/>
              <a:t>10.05.2026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F1C260E6-7E7C-4DBF-A393-F94E33EFFE87}" type="slidenum">
              <a:rPr lang="tr-TR" smtClean="0"/>
              <a:t>‹#›</a:t>
            </a:fld>
            <a:endParaRPr lang="tr-TR"/>
          </a:p>
        </p:txBody>
      </p:sp>
    </p:spTree>
    <p:extLst>
      <p:ext uri="{BB962C8B-B14F-4D97-AF65-F5344CB8AC3E}">
        <p14:creationId xmlns:p14="http://schemas.microsoft.com/office/powerpoint/2010/main" val="2565935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1C14A8-1840-4571-A385-6876E064928E}" type="datetimeFigureOut">
              <a:rPr lang="tr-TR" smtClean="0"/>
              <a:t>10.05.2026</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F1C260E6-7E7C-4DBF-A393-F94E33EFFE87}" type="slidenum">
              <a:rPr lang="tr-TR" smtClean="0"/>
              <a:t>‹#›</a:t>
            </a:fld>
            <a:endParaRPr lang="tr-TR"/>
          </a:p>
        </p:txBody>
      </p:sp>
    </p:spTree>
    <p:extLst>
      <p:ext uri="{BB962C8B-B14F-4D97-AF65-F5344CB8AC3E}">
        <p14:creationId xmlns:p14="http://schemas.microsoft.com/office/powerpoint/2010/main" val="315042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tr-TR"/>
              <a:t>Asıl başlık stilini düzenlemek için tıklayın</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B1C14A8-1840-4571-A385-6876E064928E}" type="datetimeFigureOut">
              <a:rPr lang="tr-TR" smtClean="0"/>
              <a:t>10.05.2026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1C260E6-7E7C-4DBF-A393-F94E33EFFE87}" type="slidenum">
              <a:rPr lang="tr-TR" smtClean="0"/>
              <a:t>‹#›</a:t>
            </a:fld>
            <a:endParaRPr lang="tr-TR"/>
          </a:p>
        </p:txBody>
      </p:sp>
    </p:spTree>
    <p:extLst>
      <p:ext uri="{BB962C8B-B14F-4D97-AF65-F5344CB8AC3E}">
        <p14:creationId xmlns:p14="http://schemas.microsoft.com/office/powerpoint/2010/main" val="211550169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B1C14A8-1840-4571-A385-6876E064928E}" type="datetimeFigureOut">
              <a:rPr lang="tr-TR" smtClean="0"/>
              <a:t>10.05.2026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1C260E6-7E7C-4DBF-A393-F94E33EFFE87}" type="slidenum">
              <a:rPr lang="tr-TR" smtClean="0"/>
              <a:t>‹#›</a:t>
            </a:fld>
            <a:endParaRPr lang="tr-TR"/>
          </a:p>
        </p:txBody>
      </p:sp>
    </p:spTree>
    <p:extLst>
      <p:ext uri="{BB962C8B-B14F-4D97-AF65-F5344CB8AC3E}">
        <p14:creationId xmlns:p14="http://schemas.microsoft.com/office/powerpoint/2010/main" val="1000516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B1C14A8-1840-4571-A385-6876E064928E}" type="datetimeFigureOut">
              <a:rPr lang="tr-TR" smtClean="0"/>
              <a:t>10.05.2026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1C260E6-7E7C-4DBF-A393-F94E33EFFE87}" type="slidenum">
              <a:rPr lang="tr-TR" smtClean="0"/>
              <a:t>‹#›</a:t>
            </a:fld>
            <a:endParaRPr lang="tr-TR"/>
          </a:p>
        </p:txBody>
      </p:sp>
    </p:spTree>
    <p:extLst>
      <p:ext uri="{BB962C8B-B14F-4D97-AF65-F5344CB8AC3E}">
        <p14:creationId xmlns:p14="http://schemas.microsoft.com/office/powerpoint/2010/main" val="2240933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B1C14A8-1840-4571-A385-6876E064928E}" type="datetimeFigureOut">
              <a:rPr lang="tr-TR" smtClean="0"/>
              <a:t>10.05.2026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1C260E6-7E7C-4DBF-A393-F94E33EFFE87}" type="slidenum">
              <a:rPr lang="tr-TR" smtClean="0"/>
              <a:t>‹#›</a:t>
            </a:fld>
            <a:endParaRPr lang="tr-TR"/>
          </a:p>
        </p:txBody>
      </p:sp>
    </p:spTree>
    <p:extLst>
      <p:ext uri="{BB962C8B-B14F-4D97-AF65-F5344CB8AC3E}">
        <p14:creationId xmlns:p14="http://schemas.microsoft.com/office/powerpoint/2010/main" val="40775974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tr-TR"/>
              <a:t>Asıl başlık stilini düzenlemek için tıklayın</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B1C14A8-1840-4571-A385-6876E064928E}" type="datetimeFigureOut">
              <a:rPr lang="tr-TR" smtClean="0"/>
              <a:t>10.05.2026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1C260E6-7E7C-4DBF-A393-F94E33EFFE87}" type="slidenum">
              <a:rPr lang="tr-TR" smtClean="0"/>
              <a:t>‹#›</a:t>
            </a:fld>
            <a:endParaRPr lang="tr-TR"/>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968229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B1C14A8-1840-4571-A385-6876E064928E}" type="datetimeFigureOut">
              <a:rPr lang="tr-TR" smtClean="0"/>
              <a:t>10.05.2026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1C260E6-7E7C-4DBF-A393-F94E33EFFE87}" type="slidenum">
              <a:rPr lang="tr-TR" smtClean="0"/>
              <a:t>‹#›</a:t>
            </a:fld>
            <a:endParaRPr lang="tr-TR"/>
          </a:p>
        </p:txBody>
      </p:sp>
    </p:spTree>
    <p:extLst>
      <p:ext uri="{BB962C8B-B14F-4D97-AF65-F5344CB8AC3E}">
        <p14:creationId xmlns:p14="http://schemas.microsoft.com/office/powerpoint/2010/main" val="3144395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tr-TR"/>
              <a:t>Asıl başlık stilini düzenlemek için tıklayın</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6B1C14A8-1840-4571-A385-6876E064928E}" type="datetimeFigureOut">
              <a:rPr lang="tr-TR" smtClean="0"/>
              <a:t>10.05.2026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F1C260E6-7E7C-4DBF-A393-F94E33EFFE87}" type="slidenum">
              <a:rPr lang="tr-TR" smtClean="0"/>
              <a:t>‹#›</a:t>
            </a:fld>
            <a:endParaRPr lang="tr-TR"/>
          </a:p>
        </p:txBody>
      </p:sp>
    </p:spTree>
    <p:extLst>
      <p:ext uri="{BB962C8B-B14F-4D97-AF65-F5344CB8AC3E}">
        <p14:creationId xmlns:p14="http://schemas.microsoft.com/office/powerpoint/2010/main" val="24682703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tr-TR"/>
              <a:t>Asıl başlık stilini düzenlemek için tıklayın</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6B1C14A8-1840-4571-A385-6876E064928E}" type="datetimeFigureOut">
              <a:rPr lang="tr-TR" smtClean="0"/>
              <a:t>10.05.2026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F1C260E6-7E7C-4DBF-A393-F94E33EFFE87}" type="slidenum">
              <a:rPr lang="tr-TR" smtClean="0"/>
              <a:t>‹#›</a:t>
            </a:fld>
            <a:endParaRPr lang="tr-TR"/>
          </a:p>
        </p:txBody>
      </p:sp>
    </p:spTree>
    <p:extLst>
      <p:ext uri="{BB962C8B-B14F-4D97-AF65-F5344CB8AC3E}">
        <p14:creationId xmlns:p14="http://schemas.microsoft.com/office/powerpoint/2010/main" val="40878469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B1C14A8-1840-4571-A385-6876E064928E}" type="datetimeFigureOut">
              <a:rPr lang="tr-TR" smtClean="0"/>
              <a:t>10.05.2026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1C260E6-7E7C-4DBF-A393-F94E33EFFE87}" type="slidenum">
              <a:rPr lang="tr-TR" smtClean="0"/>
              <a:t>‹#›</a:t>
            </a:fld>
            <a:endParaRPr lang="tr-TR"/>
          </a:p>
        </p:txBody>
      </p:sp>
    </p:spTree>
    <p:extLst>
      <p:ext uri="{BB962C8B-B14F-4D97-AF65-F5344CB8AC3E}">
        <p14:creationId xmlns:p14="http://schemas.microsoft.com/office/powerpoint/2010/main" val="23302595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B1C14A8-1840-4571-A385-6876E064928E}" type="datetimeFigureOut">
              <a:rPr lang="tr-TR" smtClean="0"/>
              <a:t>10.05.2026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1C260E6-7E7C-4DBF-A393-F94E33EFFE87}" type="slidenum">
              <a:rPr lang="tr-TR" smtClean="0"/>
              <a:t>‹#›</a:t>
            </a:fld>
            <a:endParaRPr lang="tr-TR"/>
          </a:p>
        </p:txBody>
      </p:sp>
    </p:spTree>
    <p:extLst>
      <p:ext uri="{BB962C8B-B14F-4D97-AF65-F5344CB8AC3E}">
        <p14:creationId xmlns:p14="http://schemas.microsoft.com/office/powerpoint/2010/main" val="3210322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B1C14A8-1840-4571-A385-6876E064928E}" type="datetimeFigureOut">
              <a:rPr lang="tr-TR" smtClean="0"/>
              <a:t>10.05.2026</a:t>
            </a:fld>
            <a:endParaRPr lang="tr-TR"/>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F1C260E6-7E7C-4DBF-A393-F94E33EFFE87}" type="slidenum">
              <a:rPr lang="tr-TR" smtClean="0"/>
              <a:t>‹#›</a:t>
            </a:fld>
            <a:endParaRPr lang="tr-TR"/>
          </a:p>
        </p:txBody>
      </p:sp>
    </p:spTree>
    <p:extLst>
      <p:ext uri="{BB962C8B-B14F-4D97-AF65-F5344CB8AC3E}">
        <p14:creationId xmlns:p14="http://schemas.microsoft.com/office/powerpoint/2010/main" val="2572159429"/>
      </p:ext>
    </p:extLst>
  </p:cSld>
  <p:clrMap bg1="dk1" tx1="lt1" bg2="dk2" tx2="lt2" accent1="accent1" accent2="accent2" accent3="accent3" accent4="accent4" accent5="accent5" accent6="accent6" hlink="hlink" folHlink="folHlink"/>
  <p:sldLayoutIdLst>
    <p:sldLayoutId id="2147484475" r:id="rId1"/>
    <p:sldLayoutId id="2147484476" r:id="rId2"/>
    <p:sldLayoutId id="2147484477" r:id="rId3"/>
    <p:sldLayoutId id="2147484478" r:id="rId4"/>
    <p:sldLayoutId id="2147484479" r:id="rId5"/>
    <p:sldLayoutId id="2147484480" r:id="rId6"/>
    <p:sldLayoutId id="2147484481" r:id="rId7"/>
    <p:sldLayoutId id="2147484482" r:id="rId8"/>
    <p:sldLayoutId id="2147484483" r:id="rId9"/>
    <p:sldLayoutId id="2147484484" r:id="rId10"/>
    <p:sldLayoutId id="2147484485" r:id="rId11"/>
    <p:sldLayoutId id="2147484486" r:id="rId12"/>
    <p:sldLayoutId id="2147484487" r:id="rId13"/>
    <p:sldLayoutId id="2147484488" r:id="rId14"/>
    <p:sldLayoutId id="2147484489" r:id="rId15"/>
    <p:sldLayoutId id="2147484490" r:id="rId16"/>
    <p:sldLayoutId id="2147484491"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hyperlink" Target="https://www.cozumpark.com/fine-tuning-nedir/" TargetMode="External"/><Relationship Id="rId3" Type="http://schemas.openxmlformats.org/officeDocument/2006/relationships/hyperlink" Target="https://blog.openzeka.com/ai/rag-retrieval-augmented-generation-nedir/" TargetMode="External"/><Relationship Id="rId7" Type="http://schemas.openxmlformats.org/officeDocument/2006/relationships/hyperlink" Target="https://www.sap.com/turkey/resources/what-is-a-vector-database" TargetMode="External"/><Relationship Id="rId2" Type="http://schemas.openxmlformats.org/officeDocument/2006/relationships/hyperlink" Target="https://ekolsoft.com/tr/b/rag-sistemi-nedir-retrieval-augmented-generation-rehberi" TargetMode="External"/><Relationship Id="rId1" Type="http://schemas.openxmlformats.org/officeDocument/2006/relationships/slideLayout" Target="../slideLayouts/slideLayout2.xml"/><Relationship Id="rId6" Type="http://schemas.openxmlformats.org/officeDocument/2006/relationships/hyperlink" Target="https://www.komtas.com/glossary/embedding-nedir" TargetMode="External"/><Relationship Id="rId5" Type="http://schemas.openxmlformats.org/officeDocument/2006/relationships/hyperlink" Target="https://www.komtas.com/post/rag-nedir-rag-nasil-calisir" TargetMode="External"/><Relationship Id="rId4" Type="http://schemas.openxmlformats.org/officeDocument/2006/relationships/hyperlink" Target="https://medium.com/@zehrasultanguruz/rag-retrieval-augmented-generation-embedding-vector-db-cosine-similarity-ragin-anatomisi-9e631bf507c3"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D99C943-5F7A-62AE-31C7-28E9AE5BBCF6}"/>
              </a:ext>
            </a:extLst>
          </p:cNvPr>
          <p:cNvSpPr>
            <a:spLocks noGrp="1"/>
          </p:cNvSpPr>
          <p:nvPr>
            <p:ph type="ctrTitle"/>
          </p:nvPr>
        </p:nvSpPr>
        <p:spPr>
          <a:xfrm>
            <a:off x="94890" y="474452"/>
            <a:ext cx="13103603" cy="3292811"/>
          </a:xfrm>
        </p:spPr>
        <p:txBody>
          <a:bodyPr>
            <a:normAutofit/>
          </a:bodyPr>
          <a:lstStyle/>
          <a:p>
            <a:pPr algn="l"/>
            <a:r>
              <a:rPr lang="tr-TR" dirty="0"/>
              <a:t>                        SUNUM 18: RAG</a:t>
            </a:r>
            <a:br>
              <a:rPr lang="tr-TR" dirty="0"/>
            </a:br>
            <a:r>
              <a:rPr lang="tr-TR" dirty="0"/>
              <a:t>       (</a:t>
            </a:r>
            <a:r>
              <a:rPr lang="tr-TR" dirty="0" err="1"/>
              <a:t>Retrieval-Augmented</a:t>
            </a:r>
            <a:r>
              <a:rPr lang="tr-TR" dirty="0"/>
              <a:t> </a:t>
            </a:r>
            <a:r>
              <a:rPr lang="tr-TR" dirty="0" err="1"/>
              <a:t>GeneratioN</a:t>
            </a:r>
            <a:r>
              <a:rPr lang="tr-TR" dirty="0"/>
              <a:t>)</a:t>
            </a:r>
          </a:p>
        </p:txBody>
      </p:sp>
      <p:sp>
        <p:nvSpPr>
          <p:cNvPr id="3" name="Alt Başlık 2">
            <a:extLst>
              <a:ext uri="{FF2B5EF4-FFF2-40B4-BE49-F238E27FC236}">
                <a16:creationId xmlns:a16="http://schemas.microsoft.com/office/drawing/2014/main" id="{BCF43A31-E927-75D1-D55B-71AB47F1F702}"/>
              </a:ext>
            </a:extLst>
          </p:cNvPr>
          <p:cNvSpPr>
            <a:spLocks noGrp="1"/>
          </p:cNvSpPr>
          <p:nvPr>
            <p:ph type="subTitle" idx="1"/>
          </p:nvPr>
        </p:nvSpPr>
        <p:spPr>
          <a:xfrm>
            <a:off x="292680" y="4701396"/>
            <a:ext cx="9001462" cy="992037"/>
          </a:xfrm>
        </p:spPr>
        <p:txBody>
          <a:bodyPr>
            <a:normAutofit fontScale="92500" lnSpcReduction="20000"/>
          </a:bodyPr>
          <a:lstStyle/>
          <a:p>
            <a:pPr algn="l"/>
            <a:r>
              <a:rPr lang="tr-TR" sz="2600" dirty="0"/>
              <a:t>AD-SOYAD : AYŞE  HİLAL  AKAR</a:t>
            </a:r>
          </a:p>
          <a:p>
            <a:pPr algn="l"/>
            <a:r>
              <a:rPr lang="tr-TR" sz="2600" dirty="0"/>
              <a:t>ÖĞRENCİ NO :  </a:t>
            </a:r>
            <a:r>
              <a:rPr lang="tr-TR" sz="2800" dirty="0"/>
              <a:t>2412705003</a:t>
            </a:r>
            <a:endParaRPr lang="tr-TR" sz="2600" dirty="0"/>
          </a:p>
          <a:p>
            <a:pPr algn="l"/>
            <a:endParaRPr lang="tr-TR" dirty="0"/>
          </a:p>
        </p:txBody>
      </p:sp>
    </p:spTree>
    <p:extLst>
      <p:ext uri="{BB962C8B-B14F-4D97-AF65-F5344CB8AC3E}">
        <p14:creationId xmlns:p14="http://schemas.microsoft.com/office/powerpoint/2010/main" val="606680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EA5D499-C5FE-D8A3-4DCC-EA9D1CD0447E}"/>
              </a:ext>
            </a:extLst>
          </p:cNvPr>
          <p:cNvSpPr>
            <a:spLocks noGrp="1"/>
          </p:cNvSpPr>
          <p:nvPr>
            <p:ph type="title"/>
          </p:nvPr>
        </p:nvSpPr>
        <p:spPr>
          <a:xfrm>
            <a:off x="621102" y="609600"/>
            <a:ext cx="11214339" cy="1326321"/>
          </a:xfrm>
        </p:spPr>
        <p:txBody>
          <a:bodyPr/>
          <a:lstStyle/>
          <a:p>
            <a:r>
              <a:rPr lang="tr-TR" u="sng" dirty="0"/>
              <a:t>RAG (</a:t>
            </a:r>
            <a:r>
              <a:rPr lang="tr-TR" u="sng" dirty="0" err="1"/>
              <a:t>Retrieval-Augmented</a:t>
            </a:r>
            <a:r>
              <a:rPr lang="tr-TR" u="sng" dirty="0"/>
              <a:t> </a:t>
            </a:r>
            <a:r>
              <a:rPr lang="tr-TR" u="sng" dirty="0" err="1"/>
              <a:t>GeneratioN</a:t>
            </a:r>
            <a:r>
              <a:rPr lang="tr-TR" u="sng" dirty="0"/>
              <a:t>) NEDİR?</a:t>
            </a:r>
          </a:p>
        </p:txBody>
      </p:sp>
      <p:sp>
        <p:nvSpPr>
          <p:cNvPr id="3" name="İçerik Yer Tutucusu 2">
            <a:extLst>
              <a:ext uri="{FF2B5EF4-FFF2-40B4-BE49-F238E27FC236}">
                <a16:creationId xmlns:a16="http://schemas.microsoft.com/office/drawing/2014/main" id="{D513A166-72C1-34CD-E6B2-0282E2FF77FA}"/>
              </a:ext>
            </a:extLst>
          </p:cNvPr>
          <p:cNvSpPr>
            <a:spLocks noGrp="1"/>
          </p:cNvSpPr>
          <p:nvPr>
            <p:ph sz="half" idx="1"/>
          </p:nvPr>
        </p:nvSpPr>
        <p:spPr/>
        <p:txBody>
          <a:bodyPr>
            <a:normAutofit lnSpcReduction="10000"/>
          </a:bodyPr>
          <a:lstStyle/>
          <a:p>
            <a:r>
              <a:rPr lang="tr-TR" b="0" i="0" dirty="0">
                <a:solidFill>
                  <a:srgbClr val="D1D5DB"/>
                </a:solidFill>
                <a:effectLst/>
                <a:latin typeface="Inter"/>
              </a:rPr>
              <a:t>RAG Türkçe karşılığıyla ‘Almayla Artırılmış Üretim’ büyük dil modellerinin (LLM) dış veri kaynaklarından bilgi çekerek daha doğru, güncel ve bağlama uygun yanıtlar üretmesini sağlayan bir yapay zeka mimarisidir.</a:t>
            </a:r>
          </a:p>
          <a:p>
            <a:r>
              <a:rPr lang="tr-TR" b="0" i="0" dirty="0">
                <a:solidFill>
                  <a:schemeClr val="tx2"/>
                </a:solidFill>
                <a:effectLst/>
                <a:latin typeface="Inter"/>
              </a:rPr>
              <a:t>RAG, doğal dil işleme alanında bilgi çekme(</a:t>
            </a:r>
            <a:r>
              <a:rPr lang="tr-TR" b="0" i="0" dirty="0" err="1">
                <a:solidFill>
                  <a:schemeClr val="tx2"/>
                </a:solidFill>
                <a:effectLst/>
                <a:latin typeface="Inter"/>
              </a:rPr>
              <a:t>retrieval</a:t>
            </a:r>
            <a:r>
              <a:rPr lang="tr-TR" b="0" i="0" dirty="0">
                <a:solidFill>
                  <a:schemeClr val="tx2"/>
                </a:solidFill>
                <a:effectLst/>
                <a:latin typeface="Inter"/>
              </a:rPr>
              <a:t>) ve dil üretimi(</a:t>
            </a:r>
            <a:r>
              <a:rPr lang="tr-TR" b="0" i="0" dirty="0" err="1">
                <a:solidFill>
                  <a:schemeClr val="tx2"/>
                </a:solidFill>
                <a:effectLst/>
                <a:latin typeface="Inter"/>
              </a:rPr>
              <a:t>generation</a:t>
            </a:r>
            <a:r>
              <a:rPr lang="tr-TR" b="0" i="0" dirty="0">
                <a:solidFill>
                  <a:schemeClr val="tx2"/>
                </a:solidFill>
                <a:effectLst/>
                <a:latin typeface="Inter"/>
              </a:rPr>
              <a:t>) yeteneklerini birleştiren bir yapıya sahiptir ve genellikle daha derin ve bilgi odaklı cevaplar üretmek için kullanılır.</a:t>
            </a:r>
            <a:endParaRPr lang="tr-TR" dirty="0">
              <a:solidFill>
                <a:schemeClr val="tx2"/>
              </a:solidFill>
              <a:latin typeface="Inter"/>
            </a:endParaRPr>
          </a:p>
        </p:txBody>
      </p:sp>
      <p:pic>
        <p:nvPicPr>
          <p:cNvPr id="1026" name="Picture 2" descr="NVIDIA-RAG-feature-image">
            <a:extLst>
              <a:ext uri="{FF2B5EF4-FFF2-40B4-BE49-F238E27FC236}">
                <a16:creationId xmlns:a16="http://schemas.microsoft.com/office/drawing/2014/main" id="{4056B016-651B-5ECF-1E19-A297A8004B4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3788" y="2363638"/>
            <a:ext cx="5325223" cy="2934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5698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1474857-233E-710D-D837-2BD2D2A0469B}"/>
              </a:ext>
            </a:extLst>
          </p:cNvPr>
          <p:cNvSpPr>
            <a:spLocks noGrp="1"/>
          </p:cNvSpPr>
          <p:nvPr>
            <p:ph type="title"/>
          </p:nvPr>
        </p:nvSpPr>
        <p:spPr/>
        <p:txBody>
          <a:bodyPr/>
          <a:lstStyle/>
          <a:p>
            <a:r>
              <a:rPr lang="tr-TR" u="sng" dirty="0"/>
              <a:t>RAG NASIL ÇALIŞIR ?</a:t>
            </a:r>
          </a:p>
        </p:txBody>
      </p:sp>
      <p:sp>
        <p:nvSpPr>
          <p:cNvPr id="3" name="İçerik Yer Tutucusu 2">
            <a:extLst>
              <a:ext uri="{FF2B5EF4-FFF2-40B4-BE49-F238E27FC236}">
                <a16:creationId xmlns:a16="http://schemas.microsoft.com/office/drawing/2014/main" id="{9ED27E6B-BEEC-2B9E-B026-92400B4A6101}"/>
              </a:ext>
            </a:extLst>
          </p:cNvPr>
          <p:cNvSpPr>
            <a:spLocks noGrp="1"/>
          </p:cNvSpPr>
          <p:nvPr>
            <p:ph sz="half" idx="1"/>
          </p:nvPr>
        </p:nvSpPr>
        <p:spPr>
          <a:xfrm>
            <a:off x="550890" y="2088318"/>
            <a:ext cx="5467708" cy="4019183"/>
          </a:xfrm>
        </p:spPr>
        <p:txBody>
          <a:bodyPr>
            <a:normAutofit/>
          </a:bodyPr>
          <a:lstStyle/>
          <a:p>
            <a:pPr algn="l"/>
            <a:endParaRPr lang="tr-TR" b="0" i="0" dirty="0">
              <a:solidFill>
                <a:schemeClr val="tx2"/>
              </a:solidFill>
              <a:effectLst/>
              <a:latin typeface="Ubuntu" panose="020B0504030602030204" pitchFamily="34" charset="0"/>
            </a:endParaRPr>
          </a:p>
          <a:p>
            <a:pPr algn="l"/>
            <a:r>
              <a:rPr lang="tr-TR" b="0" i="0" dirty="0" err="1">
                <a:solidFill>
                  <a:schemeClr val="tx2"/>
                </a:solidFill>
                <a:effectLst/>
                <a:latin typeface="Ubuntu" panose="020B0504030602030204" pitchFamily="34" charset="0"/>
              </a:rPr>
              <a:t>RAG'ın</a:t>
            </a:r>
            <a:r>
              <a:rPr lang="tr-TR" b="0" i="0" dirty="0">
                <a:solidFill>
                  <a:schemeClr val="tx2"/>
                </a:solidFill>
                <a:effectLst/>
                <a:latin typeface="Ubuntu" panose="020B0504030602030204" pitchFamily="34" charset="0"/>
              </a:rPr>
              <a:t> temel mantığı oldukça basittir: Bir yapay zeka modeli sadece eğitim sırasında öğrendiği bilgilerle sınırlı kalmak yerine, sorgu anında güvenilir veri kaynaklarından güncel bilgileri alır ve bu bilgileri yanıt üretirken kullanır. Bu yaklaşım, iki farklı modelin güçlü yönlerini birleştirir.</a:t>
            </a:r>
          </a:p>
          <a:p>
            <a:endParaRPr lang="tr-TR" dirty="0"/>
          </a:p>
        </p:txBody>
      </p:sp>
      <p:pic>
        <p:nvPicPr>
          <p:cNvPr id="2050" name="Picture 2" descr="知识图谱融入向量数据库，带来RAG效果飞升_kg-rag-CSDN博客">
            <a:extLst>
              <a:ext uri="{FF2B5EF4-FFF2-40B4-BE49-F238E27FC236}">
                <a16:creationId xmlns:a16="http://schemas.microsoft.com/office/drawing/2014/main" id="{34BE28A4-2486-8897-B26F-A316F866C548}"/>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3788" y="2691441"/>
            <a:ext cx="5333850" cy="2639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0179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A3AEBB8-6008-4708-9015-A85C9851F93F}"/>
              </a:ext>
            </a:extLst>
          </p:cNvPr>
          <p:cNvSpPr>
            <a:spLocks noGrp="1"/>
          </p:cNvSpPr>
          <p:nvPr>
            <p:ph type="title"/>
          </p:nvPr>
        </p:nvSpPr>
        <p:spPr/>
        <p:txBody>
          <a:bodyPr/>
          <a:lstStyle/>
          <a:p>
            <a:r>
              <a:rPr lang="tr-TR" u="sng" dirty="0"/>
              <a:t>RAG NASIL ÇALIŞIR ?</a:t>
            </a:r>
          </a:p>
        </p:txBody>
      </p:sp>
      <p:sp>
        <p:nvSpPr>
          <p:cNvPr id="3" name="İçerik Yer Tutucusu 2">
            <a:extLst>
              <a:ext uri="{FF2B5EF4-FFF2-40B4-BE49-F238E27FC236}">
                <a16:creationId xmlns:a16="http://schemas.microsoft.com/office/drawing/2014/main" id="{88663292-DCA3-ABC0-F1CB-DF78FCCF7A80}"/>
              </a:ext>
            </a:extLst>
          </p:cNvPr>
          <p:cNvSpPr>
            <a:spLocks noGrp="1"/>
          </p:cNvSpPr>
          <p:nvPr>
            <p:ph sz="half" idx="1"/>
          </p:nvPr>
        </p:nvSpPr>
        <p:spPr/>
        <p:txBody>
          <a:bodyPr/>
          <a:lstStyle/>
          <a:p>
            <a:r>
              <a:rPr lang="tr-TR" b="0" i="0" dirty="0">
                <a:solidFill>
                  <a:schemeClr val="tx2"/>
                </a:solidFill>
                <a:effectLst/>
                <a:latin typeface="Ubuntu" panose="020B0504030602030204" pitchFamily="34" charset="0"/>
              </a:rPr>
              <a:t>Birinci bileşen olan </a:t>
            </a:r>
            <a:r>
              <a:rPr lang="tr-TR" b="0" i="0" dirty="0" err="1">
                <a:solidFill>
                  <a:schemeClr val="tx2"/>
                </a:solidFill>
                <a:effectLst/>
                <a:latin typeface="Ubuntu" panose="020B0504030602030204" pitchFamily="34" charset="0"/>
              </a:rPr>
              <a:t>Retrieval</a:t>
            </a:r>
            <a:r>
              <a:rPr lang="tr-TR" b="0" i="0" dirty="0">
                <a:solidFill>
                  <a:schemeClr val="tx2"/>
                </a:solidFill>
                <a:effectLst/>
                <a:latin typeface="Ubuntu" panose="020B0504030602030204" pitchFamily="34" charset="0"/>
              </a:rPr>
              <a:t> (Bilgi Çekme) Modeli, belirli bir sorguya en uygun bilgi parçalarını büyük veri tabanlarından, belgelerden veya web kaynaklarından bulmakla görevlidir. İkinci bileşen </a:t>
            </a:r>
            <a:r>
              <a:rPr lang="tr-TR" b="0" i="0" dirty="0" err="1">
                <a:solidFill>
                  <a:schemeClr val="tx2"/>
                </a:solidFill>
                <a:effectLst/>
                <a:latin typeface="Ubuntu" panose="020B0504030602030204" pitchFamily="34" charset="0"/>
              </a:rPr>
              <a:t>Generative</a:t>
            </a:r>
            <a:r>
              <a:rPr lang="tr-TR" b="0" i="0" dirty="0">
                <a:solidFill>
                  <a:schemeClr val="tx2"/>
                </a:solidFill>
                <a:effectLst/>
                <a:latin typeface="Ubuntu" panose="020B0504030602030204" pitchFamily="34" charset="0"/>
              </a:rPr>
              <a:t> (Üretim) Modeli ise, bulunan bu bilgileri kullanarak akıcı, tutarlı ve bağlama uygun yanıtlar oluşturur.</a:t>
            </a:r>
            <a:endParaRPr lang="tr-TR" dirty="0">
              <a:solidFill>
                <a:schemeClr val="tx2"/>
              </a:solidFill>
            </a:endParaRPr>
          </a:p>
        </p:txBody>
      </p:sp>
      <p:pic>
        <p:nvPicPr>
          <p:cNvPr id="9" name="İçerik Yer Tutucusu 8">
            <a:extLst>
              <a:ext uri="{FF2B5EF4-FFF2-40B4-BE49-F238E27FC236}">
                <a16:creationId xmlns:a16="http://schemas.microsoft.com/office/drawing/2014/main" id="{F3F26948-5AE3-50E7-E088-77905175540A}"/>
              </a:ext>
            </a:extLst>
          </p:cNvPr>
          <p:cNvPicPr>
            <a:picLocks noGrp="1" noChangeAspect="1"/>
          </p:cNvPicPr>
          <p:nvPr>
            <p:ph sz="half" idx="2"/>
          </p:nvPr>
        </p:nvPicPr>
        <p:blipFill>
          <a:blip r:embed="rId2"/>
          <a:stretch>
            <a:fillRect/>
          </a:stretch>
        </p:blipFill>
        <p:spPr>
          <a:xfrm>
            <a:off x="6173788" y="2320507"/>
            <a:ext cx="5402861" cy="2832242"/>
          </a:xfrm>
          <a:prstGeom prst="rect">
            <a:avLst/>
          </a:prstGeom>
        </p:spPr>
      </p:pic>
    </p:spTree>
    <p:extLst>
      <p:ext uri="{BB962C8B-B14F-4D97-AF65-F5344CB8AC3E}">
        <p14:creationId xmlns:p14="http://schemas.microsoft.com/office/powerpoint/2010/main" val="4136558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7DC5C17-EBAC-CD26-01AC-23A4E98ABE39}"/>
              </a:ext>
            </a:extLst>
          </p:cNvPr>
          <p:cNvSpPr>
            <a:spLocks noGrp="1"/>
          </p:cNvSpPr>
          <p:nvPr>
            <p:ph type="title"/>
          </p:nvPr>
        </p:nvSpPr>
        <p:spPr/>
        <p:txBody>
          <a:bodyPr/>
          <a:lstStyle/>
          <a:p>
            <a:r>
              <a:rPr lang="tr-TR" u="sng" dirty="0"/>
              <a:t>RAG  ÇALIŞMA BASAMAKLARI</a:t>
            </a:r>
          </a:p>
        </p:txBody>
      </p:sp>
      <p:sp>
        <p:nvSpPr>
          <p:cNvPr id="3" name="İçerik Yer Tutucusu 2">
            <a:extLst>
              <a:ext uri="{FF2B5EF4-FFF2-40B4-BE49-F238E27FC236}">
                <a16:creationId xmlns:a16="http://schemas.microsoft.com/office/drawing/2014/main" id="{83224A25-142E-56E0-FEB6-60D8ED15EEEF}"/>
              </a:ext>
            </a:extLst>
          </p:cNvPr>
          <p:cNvSpPr>
            <a:spLocks noGrp="1"/>
          </p:cNvSpPr>
          <p:nvPr>
            <p:ph sz="half" idx="1"/>
          </p:nvPr>
        </p:nvSpPr>
        <p:spPr>
          <a:xfrm>
            <a:off x="913795" y="1935922"/>
            <a:ext cx="5106004" cy="4750104"/>
          </a:xfrm>
        </p:spPr>
        <p:txBody>
          <a:bodyPr/>
          <a:lstStyle/>
          <a:p>
            <a:r>
              <a:rPr lang="en-US" b="1" i="0" dirty="0">
                <a:solidFill>
                  <a:schemeClr val="tx2"/>
                </a:solidFill>
                <a:effectLst/>
                <a:latin typeface="sohne"/>
              </a:rPr>
              <a:t>1) </a:t>
            </a:r>
            <a:r>
              <a:rPr lang="en-US" b="1" i="0" dirty="0" err="1">
                <a:solidFill>
                  <a:schemeClr val="tx2"/>
                </a:solidFill>
                <a:effectLst/>
                <a:latin typeface="sohne"/>
              </a:rPr>
              <a:t>Kaynakları</a:t>
            </a:r>
            <a:r>
              <a:rPr lang="en-US" b="1" i="0" dirty="0">
                <a:solidFill>
                  <a:schemeClr val="tx2"/>
                </a:solidFill>
                <a:effectLst/>
                <a:latin typeface="sohne"/>
              </a:rPr>
              <a:t> </a:t>
            </a:r>
            <a:r>
              <a:rPr lang="en-US" b="1" i="0" dirty="0" err="1">
                <a:solidFill>
                  <a:schemeClr val="tx2"/>
                </a:solidFill>
                <a:effectLst/>
                <a:latin typeface="sohne"/>
              </a:rPr>
              <a:t>Topla</a:t>
            </a:r>
            <a:r>
              <a:rPr lang="en-US" b="1" i="0" dirty="0">
                <a:solidFill>
                  <a:schemeClr val="tx2"/>
                </a:solidFill>
                <a:effectLst/>
                <a:latin typeface="sohne"/>
              </a:rPr>
              <a:t> (Gather Sources)</a:t>
            </a:r>
          </a:p>
          <a:p>
            <a:r>
              <a:rPr lang="tr-TR" b="1" i="0" dirty="0">
                <a:solidFill>
                  <a:schemeClr val="tx2"/>
                </a:solidFill>
                <a:effectLst/>
                <a:latin typeface="sohne"/>
              </a:rPr>
              <a:t>2) </a:t>
            </a:r>
            <a:r>
              <a:rPr lang="tr-TR" b="1" i="0" dirty="0" err="1">
                <a:solidFill>
                  <a:schemeClr val="tx2"/>
                </a:solidFill>
                <a:effectLst/>
                <a:latin typeface="sohne"/>
              </a:rPr>
              <a:t>Chunking</a:t>
            </a:r>
            <a:r>
              <a:rPr lang="tr-TR" b="1" i="0" dirty="0">
                <a:solidFill>
                  <a:schemeClr val="tx2"/>
                </a:solidFill>
                <a:effectLst/>
                <a:latin typeface="sohne"/>
              </a:rPr>
              <a:t>: Dokümanı Parçalara Ayır</a:t>
            </a:r>
          </a:p>
          <a:p>
            <a:r>
              <a:rPr lang="tr-TR" b="1" i="0" dirty="0">
                <a:solidFill>
                  <a:schemeClr val="tx2"/>
                </a:solidFill>
                <a:effectLst/>
                <a:latin typeface="sohne"/>
              </a:rPr>
              <a:t>3) </a:t>
            </a:r>
            <a:r>
              <a:rPr lang="tr-TR" b="1" i="0" dirty="0" err="1">
                <a:solidFill>
                  <a:schemeClr val="tx2"/>
                </a:solidFill>
                <a:effectLst/>
                <a:latin typeface="sohne"/>
              </a:rPr>
              <a:t>Embedding</a:t>
            </a:r>
            <a:r>
              <a:rPr lang="tr-TR" b="1" i="0" dirty="0">
                <a:solidFill>
                  <a:schemeClr val="tx2"/>
                </a:solidFill>
                <a:effectLst/>
                <a:latin typeface="sohne"/>
              </a:rPr>
              <a:t>: Metni Vektöre Dönüştür</a:t>
            </a:r>
          </a:p>
          <a:p>
            <a:r>
              <a:rPr lang="tr-TR" b="1" i="0" dirty="0">
                <a:solidFill>
                  <a:schemeClr val="tx2"/>
                </a:solidFill>
                <a:effectLst/>
                <a:latin typeface="sohne"/>
              </a:rPr>
              <a:t>4) </a:t>
            </a:r>
            <a:r>
              <a:rPr lang="tr-TR" b="1" i="0" dirty="0" err="1">
                <a:solidFill>
                  <a:schemeClr val="tx2"/>
                </a:solidFill>
                <a:effectLst/>
                <a:latin typeface="sohne"/>
              </a:rPr>
              <a:t>Vector</a:t>
            </a:r>
            <a:r>
              <a:rPr lang="tr-TR" b="1" i="0" dirty="0">
                <a:solidFill>
                  <a:schemeClr val="tx2"/>
                </a:solidFill>
                <a:effectLst/>
                <a:latin typeface="sohne"/>
              </a:rPr>
              <a:t> DB: Vektörleri Depola</a:t>
            </a:r>
          </a:p>
          <a:p>
            <a:r>
              <a:rPr lang="tr-TR" b="1" i="0" dirty="0">
                <a:solidFill>
                  <a:schemeClr val="tx2"/>
                </a:solidFill>
                <a:effectLst/>
                <a:latin typeface="sohne"/>
              </a:rPr>
              <a:t>5) Kullanıcı </a:t>
            </a:r>
            <a:r>
              <a:rPr lang="tr-TR" b="1" i="0" dirty="0" err="1">
                <a:solidFill>
                  <a:schemeClr val="tx2"/>
                </a:solidFill>
                <a:effectLst/>
                <a:latin typeface="sohne"/>
              </a:rPr>
              <a:t>Prompt’unu</a:t>
            </a:r>
            <a:r>
              <a:rPr lang="tr-TR" b="1" i="0" dirty="0">
                <a:solidFill>
                  <a:schemeClr val="tx2"/>
                </a:solidFill>
                <a:effectLst/>
                <a:latin typeface="sohne"/>
              </a:rPr>
              <a:t> da Vektöre Çevir</a:t>
            </a:r>
          </a:p>
          <a:p>
            <a:r>
              <a:rPr lang="tr-TR" b="1" i="0" dirty="0">
                <a:solidFill>
                  <a:schemeClr val="tx2"/>
                </a:solidFill>
                <a:effectLst/>
                <a:latin typeface="sohne"/>
              </a:rPr>
              <a:t>6) </a:t>
            </a:r>
            <a:r>
              <a:rPr lang="tr-TR" b="1" i="0" dirty="0" err="1">
                <a:solidFill>
                  <a:schemeClr val="tx2"/>
                </a:solidFill>
                <a:effectLst/>
                <a:latin typeface="sohne"/>
              </a:rPr>
              <a:t>Retrieval</a:t>
            </a:r>
            <a:r>
              <a:rPr lang="tr-TR" b="1" i="0" dirty="0">
                <a:solidFill>
                  <a:schemeClr val="tx2"/>
                </a:solidFill>
                <a:effectLst/>
                <a:latin typeface="sohne"/>
              </a:rPr>
              <a:t>: Benzerlik Oranı En Yüksek </a:t>
            </a:r>
            <a:r>
              <a:rPr lang="tr-TR" b="1" i="0" dirty="0" err="1">
                <a:solidFill>
                  <a:schemeClr val="tx2"/>
                </a:solidFill>
                <a:effectLst/>
                <a:latin typeface="sohne"/>
              </a:rPr>
              <a:t>Chunk</a:t>
            </a:r>
            <a:r>
              <a:rPr lang="tr-TR" b="1" i="0" dirty="0">
                <a:solidFill>
                  <a:schemeClr val="tx2"/>
                </a:solidFill>
                <a:effectLst/>
                <a:latin typeface="sohne"/>
              </a:rPr>
              <a:t> Bulunur</a:t>
            </a:r>
          </a:p>
          <a:p>
            <a:r>
              <a:rPr lang="tr-TR" b="1" i="0" dirty="0">
                <a:solidFill>
                  <a:schemeClr val="tx2"/>
                </a:solidFill>
                <a:effectLst/>
                <a:latin typeface="sohne"/>
              </a:rPr>
              <a:t>7) </a:t>
            </a:r>
            <a:r>
              <a:rPr lang="tr-TR" b="1" i="0" dirty="0" err="1">
                <a:solidFill>
                  <a:schemeClr val="tx2"/>
                </a:solidFill>
                <a:effectLst/>
                <a:latin typeface="sohne"/>
              </a:rPr>
              <a:t>Augmented</a:t>
            </a:r>
            <a:r>
              <a:rPr lang="tr-TR" b="1" i="0" dirty="0">
                <a:solidFill>
                  <a:schemeClr val="tx2"/>
                </a:solidFill>
                <a:effectLst/>
                <a:latin typeface="sohne"/>
              </a:rPr>
              <a:t> </a:t>
            </a:r>
            <a:r>
              <a:rPr lang="tr-TR" b="1" i="0" dirty="0" err="1">
                <a:solidFill>
                  <a:schemeClr val="tx2"/>
                </a:solidFill>
                <a:effectLst/>
                <a:latin typeface="sohne"/>
              </a:rPr>
              <a:t>Prompt</a:t>
            </a:r>
            <a:r>
              <a:rPr lang="tr-TR" b="1" i="0" dirty="0">
                <a:solidFill>
                  <a:schemeClr val="tx2"/>
                </a:solidFill>
                <a:effectLst/>
                <a:latin typeface="sohne"/>
              </a:rPr>
              <a:t>: Soru + Bağlamı Birleştir</a:t>
            </a:r>
          </a:p>
          <a:p>
            <a:r>
              <a:rPr lang="es-ES" b="1" i="0" dirty="0">
                <a:solidFill>
                  <a:schemeClr val="tx2"/>
                </a:solidFill>
                <a:effectLst/>
                <a:latin typeface="sohne"/>
              </a:rPr>
              <a:t>8) LLM Yanıtı Üretir (Generate)</a:t>
            </a:r>
          </a:p>
          <a:p>
            <a:endParaRPr lang="tr-TR" dirty="0"/>
          </a:p>
        </p:txBody>
      </p:sp>
      <p:pic>
        <p:nvPicPr>
          <p:cNvPr id="5" name="İçerik Yer Tutucusu 4">
            <a:extLst>
              <a:ext uri="{FF2B5EF4-FFF2-40B4-BE49-F238E27FC236}">
                <a16:creationId xmlns:a16="http://schemas.microsoft.com/office/drawing/2014/main" id="{B6D379C6-69A4-7E92-0690-300A7D0ABC4D}"/>
              </a:ext>
            </a:extLst>
          </p:cNvPr>
          <p:cNvPicPr>
            <a:picLocks noGrp="1" noChangeAspect="1"/>
          </p:cNvPicPr>
          <p:nvPr>
            <p:ph sz="half" idx="2"/>
          </p:nvPr>
        </p:nvPicPr>
        <p:blipFill>
          <a:blip r:embed="rId2"/>
          <a:stretch>
            <a:fillRect/>
          </a:stretch>
        </p:blipFill>
        <p:spPr>
          <a:xfrm>
            <a:off x="7191018" y="2087563"/>
            <a:ext cx="3059827" cy="3703637"/>
          </a:xfrm>
          <a:prstGeom prst="rect">
            <a:avLst/>
          </a:prstGeom>
        </p:spPr>
      </p:pic>
    </p:spTree>
    <p:extLst>
      <p:ext uri="{BB962C8B-B14F-4D97-AF65-F5344CB8AC3E}">
        <p14:creationId xmlns:p14="http://schemas.microsoft.com/office/powerpoint/2010/main" val="1515194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1FF6D64-E741-2ECC-89A0-7153C3A6B34D}"/>
              </a:ext>
            </a:extLst>
          </p:cNvPr>
          <p:cNvSpPr>
            <a:spLocks noGrp="1"/>
          </p:cNvSpPr>
          <p:nvPr>
            <p:ph type="title"/>
          </p:nvPr>
        </p:nvSpPr>
        <p:spPr/>
        <p:txBody>
          <a:bodyPr/>
          <a:lstStyle/>
          <a:p>
            <a:r>
              <a:rPr lang="tr-TR" b="1" i="0" dirty="0">
                <a:solidFill>
                  <a:srgbClr val="242424"/>
                </a:solidFill>
                <a:effectLst/>
                <a:latin typeface="sohne"/>
              </a:rPr>
              <a:t> </a:t>
            </a:r>
            <a:br>
              <a:rPr lang="tr-TR" b="1" i="0" dirty="0">
                <a:solidFill>
                  <a:srgbClr val="242424"/>
                </a:solidFill>
                <a:effectLst/>
                <a:latin typeface="sohne"/>
              </a:rPr>
            </a:br>
            <a:r>
              <a:rPr lang="tr-TR" u="sng" dirty="0" err="1">
                <a:solidFill>
                  <a:schemeClr val="tx2"/>
                </a:solidFill>
                <a:effectLst/>
                <a:latin typeface="sohne"/>
              </a:rPr>
              <a:t>Embedding</a:t>
            </a:r>
            <a:endParaRPr lang="tr-TR" u="sng" dirty="0"/>
          </a:p>
        </p:txBody>
      </p:sp>
      <p:sp>
        <p:nvSpPr>
          <p:cNvPr id="3" name="İçerik Yer Tutucusu 2">
            <a:extLst>
              <a:ext uri="{FF2B5EF4-FFF2-40B4-BE49-F238E27FC236}">
                <a16:creationId xmlns:a16="http://schemas.microsoft.com/office/drawing/2014/main" id="{CEF44129-9668-98DA-E9A7-8A22E3AC0E4C}"/>
              </a:ext>
            </a:extLst>
          </p:cNvPr>
          <p:cNvSpPr>
            <a:spLocks noGrp="1"/>
          </p:cNvSpPr>
          <p:nvPr>
            <p:ph sz="half" idx="1"/>
          </p:nvPr>
        </p:nvSpPr>
        <p:spPr>
          <a:xfrm>
            <a:off x="75501" y="2088319"/>
            <a:ext cx="6736359" cy="4396371"/>
          </a:xfrm>
        </p:spPr>
        <p:txBody>
          <a:bodyPr>
            <a:normAutofit/>
          </a:bodyPr>
          <a:lstStyle/>
          <a:p>
            <a:r>
              <a:rPr lang="tr-TR" b="0" i="0" dirty="0" err="1">
                <a:solidFill>
                  <a:schemeClr val="tx2"/>
                </a:solidFill>
                <a:effectLst/>
                <a:latin typeface="Ubuntu" panose="020B0504030602030204" pitchFamily="34" charset="0"/>
              </a:rPr>
              <a:t>Embedding</a:t>
            </a:r>
            <a:r>
              <a:rPr lang="tr-TR" b="0" i="0" dirty="0">
                <a:solidFill>
                  <a:schemeClr val="tx2"/>
                </a:solidFill>
                <a:effectLst/>
                <a:latin typeface="Ubuntu" panose="020B0504030602030204" pitchFamily="34" charset="0"/>
              </a:rPr>
              <a:t>, ham verileri daha anlaşılır ve işlenebilir bir forma dönüştüren güçlü bir araçtır.</a:t>
            </a:r>
          </a:p>
          <a:p>
            <a:r>
              <a:rPr lang="tr-TR" dirty="0">
                <a:solidFill>
                  <a:schemeClr val="tx2"/>
                </a:solidFill>
                <a:effectLst/>
                <a:latin typeface="Ubuntu" panose="020B0504030602030204" pitchFamily="34" charset="0"/>
              </a:rPr>
              <a:t>V</a:t>
            </a:r>
            <a:r>
              <a:rPr lang="tr-TR" b="0" i="0" dirty="0">
                <a:solidFill>
                  <a:schemeClr val="tx2"/>
                </a:solidFill>
                <a:effectLst/>
                <a:latin typeface="Ubuntu" panose="020B0504030602030204" pitchFamily="34" charset="0"/>
              </a:rPr>
              <a:t>eriler arasındaki anlamsal ilişkileri ortaya çıkararak modellerin daha etkili çalışmasını sağlar.</a:t>
            </a:r>
          </a:p>
          <a:p>
            <a:pPr algn="l">
              <a:buFont typeface="Arial" panose="020B0604020202020204" pitchFamily="34" charset="0"/>
              <a:buChar char="•"/>
            </a:pPr>
            <a:r>
              <a:rPr lang="tr-TR" b="0" i="0" dirty="0">
                <a:solidFill>
                  <a:schemeClr val="tx2"/>
                </a:solidFill>
                <a:effectLst/>
                <a:latin typeface="Ubuntu" panose="020B0504030602030204" pitchFamily="34" charset="0"/>
              </a:rPr>
              <a:t>Metnin anlamını sayılarla ifade eden bir vektördür.</a:t>
            </a:r>
          </a:p>
          <a:p>
            <a:pPr algn="l">
              <a:buFont typeface="Arial" panose="020B0604020202020204" pitchFamily="34" charset="0"/>
              <a:buChar char="•"/>
            </a:pPr>
            <a:r>
              <a:rPr lang="tr-TR" b="0" i="0" dirty="0">
                <a:solidFill>
                  <a:schemeClr val="tx2"/>
                </a:solidFill>
                <a:effectLst/>
                <a:latin typeface="Ubuntu" panose="020B0504030602030204" pitchFamily="34" charset="0"/>
              </a:rPr>
              <a:t>Örneğin bir </a:t>
            </a:r>
            <a:r>
              <a:rPr lang="tr-TR" b="0" i="0" dirty="0" err="1">
                <a:solidFill>
                  <a:schemeClr val="tx2"/>
                </a:solidFill>
                <a:effectLst/>
                <a:latin typeface="Ubuntu" panose="020B0504030602030204" pitchFamily="34" charset="0"/>
              </a:rPr>
              <a:t>chunk</a:t>
            </a:r>
            <a:r>
              <a:rPr lang="tr-TR" b="0" i="0" dirty="0">
                <a:solidFill>
                  <a:schemeClr val="tx2"/>
                </a:solidFill>
                <a:effectLst/>
                <a:latin typeface="Ubuntu" panose="020B0504030602030204" pitchFamily="34" charset="0"/>
              </a:rPr>
              <a:t> şu olabilir= </a:t>
            </a:r>
            <a:r>
              <a:rPr lang="tr-TR" dirty="0">
                <a:solidFill>
                  <a:schemeClr val="tx2"/>
                </a:solidFill>
                <a:latin typeface="Ubuntu" panose="020B0504030602030204" pitchFamily="34" charset="0"/>
              </a:rPr>
              <a:t>Mobil politikamız, çalışanların kişisel cihazlarını iş için kullanmalarına izin verir.</a:t>
            </a:r>
          </a:p>
          <a:p>
            <a:pPr algn="l">
              <a:buFont typeface="Arial" panose="020B0604020202020204" pitchFamily="34" charset="0"/>
              <a:buChar char="•"/>
            </a:pPr>
            <a:r>
              <a:rPr lang="tr-TR" b="0" i="0" dirty="0">
                <a:solidFill>
                  <a:schemeClr val="tx2"/>
                </a:solidFill>
                <a:effectLst/>
                <a:latin typeface="source-code-pro"/>
              </a:rPr>
              <a:t>Metin </a:t>
            </a:r>
            <a:r>
              <a:rPr lang="tr-TR" b="0" i="0" dirty="0" err="1">
                <a:solidFill>
                  <a:schemeClr val="tx2"/>
                </a:solidFill>
                <a:effectLst/>
                <a:latin typeface="source-code-pro"/>
              </a:rPr>
              <a:t>embeddingten</a:t>
            </a:r>
            <a:r>
              <a:rPr lang="tr-TR" b="0" i="0" dirty="0">
                <a:solidFill>
                  <a:schemeClr val="tx2"/>
                </a:solidFill>
                <a:effectLst/>
                <a:latin typeface="source-code-pro"/>
              </a:rPr>
              <a:t> geçer =   [</a:t>
            </a:r>
            <a:r>
              <a:rPr lang="tr-TR" b="0" i="0" dirty="0">
                <a:solidFill>
                  <a:srgbClr val="643820"/>
                </a:solidFill>
                <a:effectLst/>
                <a:latin typeface="source-code-pro"/>
              </a:rPr>
              <a:t>0.23, 0.11, 0.78, …</a:t>
            </a:r>
            <a:r>
              <a:rPr lang="tr-TR" b="0" i="0" dirty="0">
                <a:solidFill>
                  <a:schemeClr val="tx2"/>
                </a:solidFill>
                <a:effectLst/>
                <a:latin typeface="source-code-pro"/>
              </a:rPr>
              <a:t>]</a:t>
            </a:r>
            <a:endParaRPr lang="tr-TR" dirty="0">
              <a:solidFill>
                <a:schemeClr val="tx2"/>
              </a:solidFill>
              <a:latin typeface="Ubuntu" panose="020B0504030602030204" pitchFamily="34" charset="0"/>
            </a:endParaRPr>
          </a:p>
        </p:txBody>
      </p:sp>
      <p:pic>
        <p:nvPicPr>
          <p:cNvPr id="5" name="İçerik Yer Tutucusu 4">
            <a:extLst>
              <a:ext uri="{FF2B5EF4-FFF2-40B4-BE49-F238E27FC236}">
                <a16:creationId xmlns:a16="http://schemas.microsoft.com/office/drawing/2014/main" id="{67D6F432-ECA5-BA09-0A9F-E5C69756520B}"/>
              </a:ext>
            </a:extLst>
          </p:cNvPr>
          <p:cNvPicPr>
            <a:picLocks noGrp="1" noChangeAspect="1"/>
          </p:cNvPicPr>
          <p:nvPr>
            <p:ph sz="half" idx="2"/>
          </p:nvPr>
        </p:nvPicPr>
        <p:blipFill>
          <a:blip r:embed="rId2"/>
          <a:stretch>
            <a:fillRect/>
          </a:stretch>
        </p:blipFill>
        <p:spPr>
          <a:xfrm>
            <a:off x="6878972" y="2441196"/>
            <a:ext cx="4966283" cy="3103927"/>
          </a:xfrm>
          <a:prstGeom prst="rect">
            <a:avLst/>
          </a:prstGeom>
        </p:spPr>
      </p:pic>
    </p:spTree>
    <p:extLst>
      <p:ext uri="{BB962C8B-B14F-4D97-AF65-F5344CB8AC3E}">
        <p14:creationId xmlns:p14="http://schemas.microsoft.com/office/powerpoint/2010/main" val="1456047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D497402-BBFA-D691-751D-6A7858DA242F}"/>
              </a:ext>
            </a:extLst>
          </p:cNvPr>
          <p:cNvSpPr>
            <a:spLocks noGrp="1"/>
          </p:cNvSpPr>
          <p:nvPr>
            <p:ph type="title"/>
          </p:nvPr>
        </p:nvSpPr>
        <p:spPr>
          <a:xfrm>
            <a:off x="754404" y="403639"/>
            <a:ext cx="10353761" cy="1326321"/>
          </a:xfrm>
        </p:spPr>
        <p:txBody>
          <a:bodyPr/>
          <a:lstStyle/>
          <a:p>
            <a:r>
              <a:rPr lang="tr-TR" b="1" i="0" dirty="0">
                <a:solidFill>
                  <a:schemeClr val="tx2"/>
                </a:solidFill>
                <a:effectLst/>
                <a:latin typeface="sohne"/>
              </a:rPr>
              <a:t> </a:t>
            </a:r>
            <a:r>
              <a:rPr lang="tr-TR" b="1" i="0" u="sng" dirty="0" err="1">
                <a:solidFill>
                  <a:schemeClr val="tx2"/>
                </a:solidFill>
                <a:effectLst/>
                <a:latin typeface="sohne"/>
              </a:rPr>
              <a:t>Vector</a:t>
            </a:r>
            <a:r>
              <a:rPr lang="tr-TR" b="1" i="0" u="sng" dirty="0">
                <a:solidFill>
                  <a:schemeClr val="tx2"/>
                </a:solidFill>
                <a:effectLst/>
                <a:latin typeface="sohne"/>
              </a:rPr>
              <a:t> DATABASE</a:t>
            </a:r>
            <a:br>
              <a:rPr lang="tr-TR" b="1" i="0" dirty="0">
                <a:solidFill>
                  <a:srgbClr val="242424"/>
                </a:solidFill>
                <a:effectLst/>
                <a:latin typeface="sohne"/>
              </a:rPr>
            </a:br>
            <a:endParaRPr lang="tr-TR" dirty="0"/>
          </a:p>
        </p:txBody>
      </p:sp>
      <p:sp>
        <p:nvSpPr>
          <p:cNvPr id="3" name="İçerik Yer Tutucusu 2">
            <a:extLst>
              <a:ext uri="{FF2B5EF4-FFF2-40B4-BE49-F238E27FC236}">
                <a16:creationId xmlns:a16="http://schemas.microsoft.com/office/drawing/2014/main" id="{636718FF-6201-1D91-3375-26717DDA6048}"/>
              </a:ext>
            </a:extLst>
          </p:cNvPr>
          <p:cNvSpPr>
            <a:spLocks noGrp="1"/>
          </p:cNvSpPr>
          <p:nvPr>
            <p:ph sz="half" idx="1"/>
          </p:nvPr>
        </p:nvSpPr>
        <p:spPr>
          <a:xfrm>
            <a:off x="201336" y="1795244"/>
            <a:ext cx="5889339" cy="4054679"/>
          </a:xfrm>
        </p:spPr>
        <p:txBody>
          <a:bodyPr>
            <a:normAutofit/>
          </a:bodyPr>
          <a:lstStyle/>
          <a:p>
            <a:r>
              <a:rPr lang="tr-TR" b="0" i="0" dirty="0">
                <a:solidFill>
                  <a:schemeClr val="tx2"/>
                </a:solidFill>
                <a:effectLst/>
                <a:latin typeface="72 Brand Variable"/>
              </a:rPr>
              <a:t>Vektör </a:t>
            </a:r>
            <a:r>
              <a:rPr lang="tr-TR" b="0" i="0" dirty="0" err="1">
                <a:solidFill>
                  <a:schemeClr val="tx2"/>
                </a:solidFill>
                <a:effectLst/>
                <a:latin typeface="72 Brand Variable"/>
              </a:rPr>
              <a:t>veritabanı</a:t>
            </a:r>
            <a:r>
              <a:rPr lang="tr-TR" b="0" i="0" dirty="0">
                <a:solidFill>
                  <a:schemeClr val="tx2"/>
                </a:solidFill>
                <a:effectLst/>
                <a:latin typeface="72 Brand Variable"/>
              </a:rPr>
              <a:t>, vektör gömmeleri adı verilen özel veri türlerini depolamak ve aramak için oluşturulmuş bir </a:t>
            </a:r>
            <a:r>
              <a:rPr lang="tr-TR" b="0" i="0" dirty="0" err="1">
                <a:solidFill>
                  <a:schemeClr val="tx2"/>
                </a:solidFill>
                <a:effectLst/>
                <a:latin typeface="72 Brand Variable"/>
              </a:rPr>
              <a:t>veritabanı</a:t>
            </a:r>
            <a:r>
              <a:rPr lang="tr-TR" b="0" i="0" dirty="0">
                <a:solidFill>
                  <a:schemeClr val="tx2"/>
                </a:solidFill>
                <a:effectLst/>
                <a:latin typeface="72 Brand Variable"/>
              </a:rPr>
              <a:t> türüdür. Bu gömmeler, metin, görüntü, video veya ses gibi şeylerin anlamını veya özelliklerini temsil eden sayılardır.</a:t>
            </a:r>
          </a:p>
          <a:p>
            <a:r>
              <a:rPr lang="tr-TR" b="0" i="0" dirty="0">
                <a:solidFill>
                  <a:schemeClr val="tx2"/>
                </a:solidFill>
                <a:effectLst/>
                <a:latin typeface="72 Brand Variable"/>
              </a:rPr>
              <a:t>Ana işleri birbirlerine benzeyen şeyleri -benzerlik arama olarak bilinen- tam eşleşme olmasa bile, gömmelerinin matematiksel uzayda ne kadar yakın olduğunu karşılaştırarak hızlıca bulmaktır.</a:t>
            </a:r>
            <a:endParaRPr lang="tr-TR" dirty="0">
              <a:solidFill>
                <a:schemeClr val="tx2"/>
              </a:solidFill>
            </a:endParaRPr>
          </a:p>
        </p:txBody>
      </p:sp>
      <p:pic>
        <p:nvPicPr>
          <p:cNvPr id="5" name="İçerik Yer Tutucusu 4">
            <a:extLst>
              <a:ext uri="{FF2B5EF4-FFF2-40B4-BE49-F238E27FC236}">
                <a16:creationId xmlns:a16="http://schemas.microsoft.com/office/drawing/2014/main" id="{A41E5473-7336-74F0-A2AB-288689624EDB}"/>
              </a:ext>
            </a:extLst>
          </p:cNvPr>
          <p:cNvPicPr>
            <a:picLocks noGrp="1" noChangeAspect="1"/>
          </p:cNvPicPr>
          <p:nvPr>
            <p:ph sz="half" idx="2"/>
          </p:nvPr>
        </p:nvPicPr>
        <p:blipFill>
          <a:blip r:embed="rId2"/>
          <a:stretch>
            <a:fillRect/>
          </a:stretch>
        </p:blipFill>
        <p:spPr>
          <a:xfrm>
            <a:off x="6173788" y="2273418"/>
            <a:ext cx="5327518" cy="3090242"/>
          </a:xfrm>
          <a:prstGeom prst="rect">
            <a:avLst/>
          </a:prstGeom>
        </p:spPr>
      </p:pic>
    </p:spTree>
    <p:extLst>
      <p:ext uri="{BB962C8B-B14F-4D97-AF65-F5344CB8AC3E}">
        <p14:creationId xmlns:p14="http://schemas.microsoft.com/office/powerpoint/2010/main" val="1351661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7A082FA-2069-BCF4-C19A-341DB1874013}"/>
              </a:ext>
            </a:extLst>
          </p:cNvPr>
          <p:cNvSpPr>
            <a:spLocks noGrp="1"/>
          </p:cNvSpPr>
          <p:nvPr>
            <p:ph type="title"/>
          </p:nvPr>
        </p:nvSpPr>
        <p:spPr>
          <a:xfrm>
            <a:off x="927778" y="159391"/>
            <a:ext cx="10353761" cy="922789"/>
          </a:xfrm>
        </p:spPr>
        <p:txBody>
          <a:bodyPr>
            <a:normAutofit/>
          </a:bodyPr>
          <a:lstStyle/>
          <a:p>
            <a:r>
              <a:rPr lang="tr-TR" u="sng" dirty="0" err="1"/>
              <a:t>Retrieval</a:t>
            </a:r>
            <a:endParaRPr lang="tr-TR" u="sng" dirty="0"/>
          </a:p>
        </p:txBody>
      </p:sp>
      <p:sp>
        <p:nvSpPr>
          <p:cNvPr id="3" name="İçerik Yer Tutucusu 2">
            <a:extLst>
              <a:ext uri="{FF2B5EF4-FFF2-40B4-BE49-F238E27FC236}">
                <a16:creationId xmlns:a16="http://schemas.microsoft.com/office/drawing/2014/main" id="{3039835E-4780-A80D-454E-92D12EC58821}"/>
              </a:ext>
            </a:extLst>
          </p:cNvPr>
          <p:cNvSpPr>
            <a:spLocks noGrp="1"/>
          </p:cNvSpPr>
          <p:nvPr>
            <p:ph sz="half" idx="1"/>
          </p:nvPr>
        </p:nvSpPr>
        <p:spPr>
          <a:xfrm>
            <a:off x="276837" y="1082180"/>
            <a:ext cx="5742962" cy="5687735"/>
          </a:xfrm>
        </p:spPr>
        <p:txBody>
          <a:bodyPr>
            <a:normAutofit/>
          </a:bodyPr>
          <a:lstStyle/>
          <a:p>
            <a:r>
              <a:rPr lang="tr-TR" b="0" i="0" dirty="0">
                <a:solidFill>
                  <a:schemeClr val="tx2"/>
                </a:solidFill>
                <a:effectLst/>
                <a:latin typeface="source-serif-pro"/>
              </a:rPr>
              <a:t>Sistem, soru vektörü ile doküman vektörleri arasındaki benzerliği ölçer.</a:t>
            </a:r>
          </a:p>
          <a:p>
            <a:r>
              <a:rPr lang="tr-TR" b="0" i="0" dirty="0">
                <a:solidFill>
                  <a:schemeClr val="tx2"/>
                </a:solidFill>
                <a:effectLst/>
                <a:latin typeface="source-serif-pro"/>
              </a:rPr>
              <a:t>RAG sistemlerinin merkezide şu soru vardır: </a:t>
            </a:r>
            <a:r>
              <a:rPr lang="tr-TR" b="0" i="1" dirty="0">
                <a:solidFill>
                  <a:schemeClr val="tx2"/>
                </a:solidFill>
                <a:effectLst/>
                <a:latin typeface="source-serif-pro"/>
              </a:rPr>
              <a:t>“Kullanıcının sorduğu soru ile, milyonlarca satırlık kurumsal doküman arasından hangi parçalar anlam olarak en çok örtüşüyor?”</a:t>
            </a:r>
            <a:endParaRPr lang="tr-TR" b="0" i="0" dirty="0">
              <a:solidFill>
                <a:schemeClr val="tx2"/>
              </a:solidFill>
              <a:effectLst/>
              <a:latin typeface="source-serif-pro"/>
            </a:endParaRPr>
          </a:p>
          <a:p>
            <a:pPr algn="l"/>
            <a:r>
              <a:rPr lang="tr-TR" b="0" i="0" dirty="0">
                <a:solidFill>
                  <a:schemeClr val="tx2"/>
                </a:solidFill>
                <a:effectLst/>
                <a:latin typeface="source-serif-pro"/>
              </a:rPr>
              <a:t>Bu sorunun cevabı, metinleri önce </a:t>
            </a:r>
            <a:r>
              <a:rPr lang="tr-TR" b="0" i="0" dirty="0" err="1">
                <a:solidFill>
                  <a:schemeClr val="tx2"/>
                </a:solidFill>
                <a:effectLst/>
                <a:latin typeface="source-serif-pro"/>
              </a:rPr>
              <a:t>embedding</a:t>
            </a:r>
            <a:r>
              <a:rPr lang="tr-TR" b="0" i="0" dirty="0">
                <a:solidFill>
                  <a:schemeClr val="tx2"/>
                </a:solidFill>
                <a:effectLst/>
                <a:latin typeface="source-serif-pro"/>
              </a:rPr>
              <a:t> vektörlerine dönüştürmek, sonra da bu vektörlerin birbirine ne kadar benzediğini ölçmekten geçer.</a:t>
            </a:r>
          </a:p>
          <a:p>
            <a:pPr algn="l"/>
            <a:r>
              <a:rPr lang="tr-TR" b="0" i="0" dirty="0">
                <a:solidFill>
                  <a:schemeClr val="tx2"/>
                </a:solidFill>
                <a:effectLst/>
                <a:latin typeface="source-serif-pro"/>
              </a:rPr>
              <a:t>Bu benzerliği ölçmek için iki temel araç kullanıyoruz:</a:t>
            </a:r>
          </a:p>
          <a:p>
            <a:pPr algn="l">
              <a:buFont typeface="Wingdings" panose="05000000000000000000" pitchFamily="2" charset="2"/>
              <a:buChar char="v"/>
            </a:pPr>
            <a:r>
              <a:rPr lang="en-US" b="1" i="0" dirty="0">
                <a:solidFill>
                  <a:schemeClr val="tx2"/>
                </a:solidFill>
                <a:effectLst/>
                <a:latin typeface="source-serif-pro"/>
              </a:rPr>
              <a:t>Dot </a:t>
            </a:r>
            <a:r>
              <a:rPr lang="tr-TR" b="1" i="0" dirty="0">
                <a:solidFill>
                  <a:schemeClr val="tx2"/>
                </a:solidFill>
                <a:effectLst/>
                <a:latin typeface="source-serif-pro"/>
              </a:rPr>
              <a:t>P</a:t>
            </a:r>
            <a:r>
              <a:rPr lang="en-US" b="1" i="0" dirty="0" err="1">
                <a:solidFill>
                  <a:schemeClr val="tx2"/>
                </a:solidFill>
                <a:effectLst/>
                <a:latin typeface="source-serif-pro"/>
              </a:rPr>
              <a:t>roduct</a:t>
            </a:r>
            <a:r>
              <a:rPr lang="en-US" b="1" i="0" dirty="0">
                <a:solidFill>
                  <a:schemeClr val="tx2"/>
                </a:solidFill>
                <a:effectLst/>
                <a:latin typeface="source-serif-pro"/>
              </a:rPr>
              <a:t> (</a:t>
            </a:r>
            <a:r>
              <a:rPr lang="tr-TR" b="1" dirty="0">
                <a:solidFill>
                  <a:schemeClr val="tx2"/>
                </a:solidFill>
                <a:effectLst/>
                <a:latin typeface="source-serif-pro"/>
              </a:rPr>
              <a:t>S</a:t>
            </a:r>
            <a:r>
              <a:rPr lang="en-US" b="1" i="0" dirty="0" err="1">
                <a:solidFill>
                  <a:schemeClr val="tx2"/>
                </a:solidFill>
                <a:effectLst/>
                <a:latin typeface="source-serif-pro"/>
              </a:rPr>
              <a:t>kaler</a:t>
            </a:r>
            <a:r>
              <a:rPr lang="en-US" b="1" i="0" dirty="0">
                <a:solidFill>
                  <a:schemeClr val="tx2"/>
                </a:solidFill>
                <a:effectLst/>
                <a:latin typeface="source-serif-pro"/>
              </a:rPr>
              <a:t> </a:t>
            </a:r>
            <a:r>
              <a:rPr lang="tr-TR" b="1" dirty="0">
                <a:solidFill>
                  <a:schemeClr val="tx2"/>
                </a:solidFill>
                <a:effectLst/>
                <a:latin typeface="source-serif-pro"/>
              </a:rPr>
              <a:t>Ç</a:t>
            </a:r>
            <a:r>
              <a:rPr lang="en-US" b="1" i="0" dirty="0" err="1">
                <a:solidFill>
                  <a:schemeClr val="tx2"/>
                </a:solidFill>
                <a:effectLst/>
                <a:latin typeface="source-serif-pro"/>
              </a:rPr>
              <a:t>arpım</a:t>
            </a:r>
            <a:r>
              <a:rPr lang="en-US" b="1" i="0" dirty="0">
                <a:solidFill>
                  <a:schemeClr val="tx2"/>
                </a:solidFill>
                <a:effectLst/>
                <a:latin typeface="source-serif-pro"/>
              </a:rPr>
              <a:t>)</a:t>
            </a:r>
            <a:endParaRPr lang="tr-TR" dirty="0">
              <a:solidFill>
                <a:schemeClr val="tx2"/>
              </a:solidFill>
              <a:effectLst/>
              <a:latin typeface="source-serif-pro"/>
            </a:endParaRPr>
          </a:p>
          <a:p>
            <a:pPr algn="l">
              <a:buFont typeface="Wingdings" panose="05000000000000000000" pitchFamily="2" charset="2"/>
              <a:buChar char="v"/>
            </a:pPr>
            <a:r>
              <a:rPr lang="en-US" b="1" i="0" dirty="0">
                <a:solidFill>
                  <a:schemeClr val="tx2"/>
                </a:solidFill>
                <a:effectLst/>
                <a:latin typeface="source-serif-pro"/>
              </a:rPr>
              <a:t>Cosine </a:t>
            </a:r>
            <a:r>
              <a:rPr lang="tr-TR" b="1" dirty="0">
                <a:solidFill>
                  <a:schemeClr val="tx2"/>
                </a:solidFill>
                <a:effectLst/>
                <a:latin typeface="source-serif-pro"/>
              </a:rPr>
              <a:t>S</a:t>
            </a:r>
            <a:r>
              <a:rPr lang="en-US" b="1" i="0" dirty="0" err="1">
                <a:solidFill>
                  <a:schemeClr val="tx2"/>
                </a:solidFill>
                <a:effectLst/>
                <a:latin typeface="source-serif-pro"/>
              </a:rPr>
              <a:t>imilarity</a:t>
            </a:r>
            <a:r>
              <a:rPr lang="en-US" b="1" i="0" dirty="0">
                <a:solidFill>
                  <a:schemeClr val="tx2"/>
                </a:solidFill>
                <a:effectLst/>
                <a:latin typeface="source-serif-pro"/>
              </a:rPr>
              <a:t> (</a:t>
            </a:r>
            <a:r>
              <a:rPr lang="tr-TR" b="1" dirty="0">
                <a:solidFill>
                  <a:schemeClr val="tx2"/>
                </a:solidFill>
                <a:effectLst/>
                <a:latin typeface="source-serif-pro"/>
              </a:rPr>
              <a:t>K</a:t>
            </a:r>
            <a:r>
              <a:rPr lang="en-US" b="1" i="0" dirty="0" err="1">
                <a:solidFill>
                  <a:schemeClr val="tx2"/>
                </a:solidFill>
                <a:effectLst/>
                <a:latin typeface="source-serif-pro"/>
              </a:rPr>
              <a:t>osinüs</a:t>
            </a:r>
            <a:r>
              <a:rPr lang="en-US" b="1" i="0" dirty="0">
                <a:solidFill>
                  <a:schemeClr val="tx2"/>
                </a:solidFill>
                <a:effectLst/>
                <a:latin typeface="source-serif-pro"/>
              </a:rPr>
              <a:t> </a:t>
            </a:r>
            <a:r>
              <a:rPr lang="tr-TR" b="1" dirty="0">
                <a:solidFill>
                  <a:schemeClr val="tx2"/>
                </a:solidFill>
                <a:effectLst/>
                <a:latin typeface="source-serif-pro"/>
              </a:rPr>
              <a:t>B</a:t>
            </a:r>
            <a:r>
              <a:rPr lang="en-US" b="1" i="0" dirty="0" err="1">
                <a:solidFill>
                  <a:schemeClr val="tx2"/>
                </a:solidFill>
                <a:effectLst/>
                <a:latin typeface="source-serif-pro"/>
              </a:rPr>
              <a:t>enzerliği</a:t>
            </a:r>
            <a:r>
              <a:rPr lang="en-US" b="1" i="0" dirty="0">
                <a:solidFill>
                  <a:srgbClr val="242424"/>
                </a:solidFill>
                <a:effectLst/>
                <a:latin typeface="source-serif-pro"/>
              </a:rPr>
              <a:t>)</a:t>
            </a:r>
            <a:endParaRPr lang="en-US" b="0" i="0" dirty="0">
              <a:solidFill>
                <a:srgbClr val="242424"/>
              </a:solidFill>
              <a:effectLst/>
              <a:latin typeface="source-serif-pro"/>
            </a:endParaRPr>
          </a:p>
          <a:p>
            <a:pPr algn="l"/>
            <a:endParaRPr lang="tr-TR" b="0" i="0" dirty="0">
              <a:solidFill>
                <a:schemeClr val="tx2"/>
              </a:solidFill>
              <a:effectLst/>
              <a:latin typeface="source-serif-pro"/>
            </a:endParaRPr>
          </a:p>
          <a:p>
            <a:endParaRPr lang="tr-TR" dirty="0">
              <a:solidFill>
                <a:schemeClr val="tx2"/>
              </a:solidFill>
            </a:endParaRPr>
          </a:p>
        </p:txBody>
      </p:sp>
      <p:pic>
        <p:nvPicPr>
          <p:cNvPr id="4100" name="Picture 4">
            <a:extLst>
              <a:ext uri="{FF2B5EF4-FFF2-40B4-BE49-F238E27FC236}">
                <a16:creationId xmlns:a16="http://schemas.microsoft.com/office/drawing/2014/main" id="{4F8313AC-5E35-62C1-A54E-2E4B6FF36229}"/>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019799" y="1793148"/>
            <a:ext cx="6026792" cy="3590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3234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7D9EAAB-B55D-B817-2103-749966DD16B1}"/>
              </a:ext>
            </a:extLst>
          </p:cNvPr>
          <p:cNvSpPr>
            <a:spLocks noGrp="1"/>
          </p:cNvSpPr>
          <p:nvPr>
            <p:ph type="title"/>
          </p:nvPr>
        </p:nvSpPr>
        <p:spPr>
          <a:xfrm>
            <a:off x="913795" y="117447"/>
            <a:ext cx="10353761" cy="721452"/>
          </a:xfrm>
        </p:spPr>
        <p:txBody>
          <a:bodyPr/>
          <a:lstStyle/>
          <a:p>
            <a:r>
              <a:rPr lang="tr-TR" u="sng" dirty="0"/>
              <a:t>RETRİEVAL</a:t>
            </a:r>
          </a:p>
        </p:txBody>
      </p:sp>
      <p:sp>
        <p:nvSpPr>
          <p:cNvPr id="3" name="Metin Yer Tutucusu 2">
            <a:extLst>
              <a:ext uri="{FF2B5EF4-FFF2-40B4-BE49-F238E27FC236}">
                <a16:creationId xmlns:a16="http://schemas.microsoft.com/office/drawing/2014/main" id="{15F69788-D72C-7BD2-DE03-25EE044635B8}"/>
              </a:ext>
            </a:extLst>
          </p:cNvPr>
          <p:cNvSpPr>
            <a:spLocks noGrp="1"/>
          </p:cNvSpPr>
          <p:nvPr>
            <p:ph type="body" idx="1"/>
          </p:nvPr>
        </p:nvSpPr>
        <p:spPr>
          <a:xfrm>
            <a:off x="722354" y="1149291"/>
            <a:ext cx="4879199" cy="1024709"/>
          </a:xfrm>
        </p:spPr>
        <p:txBody>
          <a:bodyPr>
            <a:normAutofit fontScale="92500" lnSpcReduction="20000"/>
          </a:bodyPr>
          <a:lstStyle/>
          <a:p>
            <a:r>
              <a:rPr lang="tr-TR" b="1" i="0" dirty="0" err="1">
                <a:solidFill>
                  <a:schemeClr val="tx2"/>
                </a:solidFill>
                <a:effectLst/>
                <a:latin typeface="source-serif-pro"/>
              </a:rPr>
              <a:t>Dot</a:t>
            </a:r>
            <a:r>
              <a:rPr lang="tr-TR" b="1" i="0" dirty="0">
                <a:solidFill>
                  <a:schemeClr val="tx2"/>
                </a:solidFill>
                <a:effectLst/>
                <a:latin typeface="source-serif-pro"/>
              </a:rPr>
              <a:t> </a:t>
            </a:r>
            <a:r>
              <a:rPr lang="tr-TR" b="1" i="0" dirty="0" err="1">
                <a:solidFill>
                  <a:schemeClr val="tx2"/>
                </a:solidFill>
                <a:effectLst/>
                <a:latin typeface="source-serif-pro"/>
              </a:rPr>
              <a:t>product</a:t>
            </a:r>
            <a:r>
              <a:rPr lang="tr-TR" b="0" i="0" dirty="0">
                <a:solidFill>
                  <a:schemeClr val="tx2"/>
                </a:solidFill>
                <a:effectLst/>
                <a:latin typeface="source-serif-pro"/>
              </a:rPr>
              <a:t>, vektörlerin bileşenlerini çarpıp toplayarak hesaplanır. Vektörlerin büyüklük ve yönüne bakar.</a:t>
            </a:r>
            <a:endParaRPr lang="tr-TR" dirty="0">
              <a:solidFill>
                <a:schemeClr val="tx2"/>
              </a:solidFill>
            </a:endParaRPr>
          </a:p>
        </p:txBody>
      </p:sp>
      <p:sp>
        <p:nvSpPr>
          <p:cNvPr id="4" name="İçerik Yer Tutucusu 3">
            <a:extLst>
              <a:ext uri="{FF2B5EF4-FFF2-40B4-BE49-F238E27FC236}">
                <a16:creationId xmlns:a16="http://schemas.microsoft.com/office/drawing/2014/main" id="{4027B570-B31B-53CA-5205-1C382D6FC6EE}"/>
              </a:ext>
            </a:extLst>
          </p:cNvPr>
          <p:cNvSpPr>
            <a:spLocks noGrp="1"/>
          </p:cNvSpPr>
          <p:nvPr>
            <p:ph sz="half" idx="2"/>
          </p:nvPr>
        </p:nvSpPr>
        <p:spPr>
          <a:xfrm>
            <a:off x="175219" y="2174000"/>
            <a:ext cx="5729681" cy="4362276"/>
          </a:xfrm>
        </p:spPr>
        <p:txBody>
          <a:bodyPr>
            <a:normAutofit fontScale="92500"/>
          </a:bodyPr>
          <a:lstStyle/>
          <a:p>
            <a:r>
              <a:rPr lang="tr-TR" b="0" i="0" dirty="0" err="1">
                <a:solidFill>
                  <a:srgbClr val="5C2699"/>
                </a:solidFill>
                <a:effectLst/>
                <a:latin typeface="source-code-pro"/>
              </a:rPr>
              <a:t>dot_product</a:t>
            </a:r>
            <a:r>
              <a:rPr lang="tr-TR" b="0" i="0" dirty="0">
                <a:solidFill>
                  <a:srgbClr val="242424"/>
                </a:solidFill>
                <a:effectLst/>
                <a:latin typeface="source-code-pro"/>
              </a:rPr>
              <a:t>(</a:t>
            </a:r>
            <a:r>
              <a:rPr lang="tr-TR" b="0" i="0" dirty="0" err="1">
                <a:solidFill>
                  <a:schemeClr val="tx2"/>
                </a:solidFill>
                <a:effectLst/>
                <a:latin typeface="source-code-pro"/>
              </a:rPr>
              <a:t>a,b</a:t>
            </a:r>
            <a:r>
              <a:rPr lang="tr-TR" b="0" i="0" dirty="0">
                <a:solidFill>
                  <a:schemeClr val="tx2"/>
                </a:solidFill>
                <a:effectLst/>
                <a:latin typeface="source-code-pro"/>
              </a:rPr>
              <a:t>) = </a:t>
            </a:r>
            <a:r>
              <a:rPr lang="el-GR" b="0" i="0" dirty="0">
                <a:solidFill>
                  <a:schemeClr val="tx2"/>
                </a:solidFill>
                <a:effectLst/>
                <a:latin typeface="source-code-pro"/>
              </a:rPr>
              <a:t>Σ(</a:t>
            </a:r>
            <a:r>
              <a:rPr lang="tr-TR" b="0" i="0" dirty="0">
                <a:solidFill>
                  <a:schemeClr val="tx2"/>
                </a:solidFill>
                <a:effectLst/>
                <a:latin typeface="source-code-pro"/>
              </a:rPr>
              <a:t>aᵢ × bᵢ) = </a:t>
            </a:r>
            <a:r>
              <a:rPr lang="tr-TR" b="0" i="0" dirty="0" err="1">
                <a:solidFill>
                  <a:schemeClr val="tx2"/>
                </a:solidFill>
                <a:effectLst/>
                <a:latin typeface="source-code-pro"/>
              </a:rPr>
              <a:t>a₁b</a:t>
            </a:r>
            <a:r>
              <a:rPr lang="tr-TR" b="0" i="0" dirty="0">
                <a:solidFill>
                  <a:schemeClr val="tx2"/>
                </a:solidFill>
                <a:effectLst/>
                <a:latin typeface="source-code-pro"/>
              </a:rPr>
              <a:t>₁ + </a:t>
            </a:r>
            <a:r>
              <a:rPr lang="tr-TR" b="0" i="0" dirty="0" err="1">
                <a:solidFill>
                  <a:schemeClr val="tx2"/>
                </a:solidFill>
                <a:effectLst/>
                <a:latin typeface="source-code-pro"/>
              </a:rPr>
              <a:t>a₂b</a:t>
            </a:r>
            <a:r>
              <a:rPr lang="tr-TR" b="0" i="0" dirty="0">
                <a:solidFill>
                  <a:schemeClr val="tx2"/>
                </a:solidFill>
                <a:effectLst/>
                <a:latin typeface="source-code-pro"/>
              </a:rPr>
              <a:t>₂ + ... + </a:t>
            </a:r>
            <a:r>
              <a:rPr lang="tr-TR" b="0" i="0" dirty="0" err="1">
                <a:solidFill>
                  <a:schemeClr val="tx2"/>
                </a:solidFill>
                <a:effectLst/>
                <a:latin typeface="source-code-pro"/>
              </a:rPr>
              <a:t>aₙb</a:t>
            </a:r>
            <a:r>
              <a:rPr lang="tr-TR" b="0" i="0" dirty="0">
                <a:solidFill>
                  <a:schemeClr val="tx2"/>
                </a:solidFill>
                <a:effectLst/>
                <a:latin typeface="source-code-pro"/>
              </a:rPr>
              <a:t>ₙ</a:t>
            </a:r>
            <a:br>
              <a:rPr lang="tr-TR" dirty="0"/>
            </a:br>
            <a:r>
              <a:rPr lang="tr-TR" b="0" i="0" dirty="0">
                <a:solidFill>
                  <a:schemeClr val="tx2"/>
                </a:solidFill>
                <a:effectLst/>
                <a:latin typeface="source-code-pro"/>
              </a:rPr>
              <a:t>Geometrik olarak da şöyle ifade edilir:</a:t>
            </a:r>
            <a:br>
              <a:rPr lang="tr-TR" dirty="0">
                <a:solidFill>
                  <a:schemeClr val="tx2"/>
                </a:solidFill>
              </a:rPr>
            </a:br>
            <a:r>
              <a:rPr lang="tr-TR" b="0" i="0" dirty="0" err="1">
                <a:solidFill>
                  <a:srgbClr val="5C2699"/>
                </a:solidFill>
                <a:effectLst/>
                <a:latin typeface="source-code-pro"/>
              </a:rPr>
              <a:t>dot_product</a:t>
            </a:r>
            <a:r>
              <a:rPr lang="tr-TR" b="0" i="0" dirty="0">
                <a:solidFill>
                  <a:srgbClr val="242424"/>
                </a:solidFill>
                <a:effectLst/>
                <a:latin typeface="source-code-pro"/>
              </a:rPr>
              <a:t>(</a:t>
            </a:r>
            <a:r>
              <a:rPr lang="tr-TR" b="0" i="0" dirty="0" err="1">
                <a:solidFill>
                  <a:schemeClr val="tx2"/>
                </a:solidFill>
                <a:effectLst/>
                <a:latin typeface="source-code-pro"/>
              </a:rPr>
              <a:t>a,b</a:t>
            </a:r>
            <a:r>
              <a:rPr lang="tr-TR" b="0" i="0" dirty="0">
                <a:solidFill>
                  <a:schemeClr val="tx2"/>
                </a:solidFill>
                <a:effectLst/>
                <a:latin typeface="source-code-pro"/>
              </a:rPr>
              <a:t>) = |a| × |b| × </a:t>
            </a:r>
            <a:r>
              <a:rPr lang="tr-TR" b="0" i="0" dirty="0">
                <a:solidFill>
                  <a:srgbClr val="5C2699"/>
                </a:solidFill>
                <a:effectLst/>
                <a:latin typeface="source-code-pro"/>
              </a:rPr>
              <a:t>cos</a:t>
            </a:r>
            <a:r>
              <a:rPr lang="tr-TR" b="0" i="0" dirty="0">
                <a:solidFill>
                  <a:schemeClr val="tx2"/>
                </a:solidFill>
                <a:effectLst/>
                <a:latin typeface="source-code-pro"/>
              </a:rPr>
              <a:t>(</a:t>
            </a:r>
            <a:r>
              <a:rPr lang="el-GR" b="0" i="0" dirty="0">
                <a:solidFill>
                  <a:schemeClr val="tx2"/>
                </a:solidFill>
                <a:effectLst/>
                <a:latin typeface="source-code-pro"/>
              </a:rPr>
              <a:t>θ)</a:t>
            </a:r>
            <a:endParaRPr lang="tr-TR" b="0" i="0" dirty="0">
              <a:solidFill>
                <a:schemeClr val="tx2"/>
              </a:solidFill>
              <a:effectLst/>
              <a:latin typeface="source-code-pro"/>
            </a:endParaRPr>
          </a:p>
          <a:p>
            <a:pPr algn="l">
              <a:buFont typeface="Courier New" panose="02070309020205020404" pitchFamily="49" charset="0"/>
              <a:buChar char="o"/>
            </a:pPr>
            <a:r>
              <a:rPr lang="tr-TR" b="0" i="0" dirty="0">
                <a:solidFill>
                  <a:schemeClr val="tx2"/>
                </a:solidFill>
                <a:effectLst/>
                <a:latin typeface="source-serif-pro"/>
              </a:rPr>
              <a:t>İki vektör hem aynı yönde hem de büyükse → büyük bir </a:t>
            </a:r>
            <a:r>
              <a:rPr lang="tr-TR" b="0" i="0" dirty="0" err="1">
                <a:solidFill>
                  <a:schemeClr val="tx2"/>
                </a:solidFill>
                <a:effectLst/>
                <a:latin typeface="source-serif-pro"/>
              </a:rPr>
              <a:t>dot</a:t>
            </a:r>
            <a:r>
              <a:rPr lang="tr-TR" b="0" i="0" dirty="0">
                <a:solidFill>
                  <a:schemeClr val="tx2"/>
                </a:solidFill>
                <a:effectLst/>
                <a:latin typeface="source-serif-pro"/>
              </a:rPr>
              <a:t> </a:t>
            </a:r>
            <a:r>
              <a:rPr lang="tr-TR" b="0" i="0" dirty="0" err="1">
                <a:solidFill>
                  <a:schemeClr val="tx2"/>
                </a:solidFill>
                <a:effectLst/>
                <a:latin typeface="source-serif-pro"/>
              </a:rPr>
              <a:t>product</a:t>
            </a:r>
            <a:r>
              <a:rPr lang="tr-TR" b="0" i="0" dirty="0">
                <a:solidFill>
                  <a:schemeClr val="tx2"/>
                </a:solidFill>
                <a:effectLst/>
                <a:latin typeface="source-serif-pro"/>
              </a:rPr>
              <a:t> değeri çıkar.</a:t>
            </a:r>
          </a:p>
          <a:p>
            <a:pPr algn="l">
              <a:buFont typeface="Courier New" panose="02070309020205020404" pitchFamily="49" charset="0"/>
              <a:buChar char="o"/>
            </a:pPr>
            <a:r>
              <a:rPr lang="tr-TR" b="0" i="0" dirty="0">
                <a:solidFill>
                  <a:schemeClr val="tx2"/>
                </a:solidFill>
                <a:effectLst/>
                <a:latin typeface="source-serif-pro"/>
              </a:rPr>
              <a:t>Yönleri farklıysa → </a:t>
            </a:r>
            <a:r>
              <a:rPr lang="tr-TR" b="0" i="0" dirty="0" err="1">
                <a:solidFill>
                  <a:schemeClr val="tx2"/>
                </a:solidFill>
                <a:effectLst/>
                <a:latin typeface="source-serif-pro"/>
              </a:rPr>
              <a:t>dot</a:t>
            </a:r>
            <a:r>
              <a:rPr lang="tr-TR" b="0" i="0" dirty="0">
                <a:solidFill>
                  <a:schemeClr val="tx2"/>
                </a:solidFill>
                <a:effectLst/>
                <a:latin typeface="source-serif-pro"/>
              </a:rPr>
              <a:t> </a:t>
            </a:r>
            <a:r>
              <a:rPr lang="tr-TR" b="0" i="0" dirty="0" err="1">
                <a:solidFill>
                  <a:schemeClr val="tx2"/>
                </a:solidFill>
                <a:effectLst/>
                <a:latin typeface="source-serif-pro"/>
              </a:rPr>
              <a:t>product</a:t>
            </a:r>
            <a:r>
              <a:rPr lang="tr-TR" b="0" i="0" dirty="0">
                <a:solidFill>
                  <a:schemeClr val="tx2"/>
                </a:solidFill>
                <a:effectLst/>
                <a:latin typeface="source-serif-pro"/>
              </a:rPr>
              <a:t> düşer.</a:t>
            </a:r>
          </a:p>
          <a:p>
            <a:pPr algn="l">
              <a:buFont typeface="Courier New" panose="02070309020205020404" pitchFamily="49" charset="0"/>
              <a:buChar char="o"/>
            </a:pPr>
            <a:r>
              <a:rPr lang="tr-TR" b="0" i="0" dirty="0">
                <a:solidFill>
                  <a:schemeClr val="tx2"/>
                </a:solidFill>
                <a:effectLst/>
                <a:latin typeface="source-serif-pro"/>
              </a:rPr>
              <a:t>Tam tersi yönlerdeyse → </a:t>
            </a:r>
            <a:r>
              <a:rPr lang="tr-TR" b="0" i="0" dirty="0" err="1">
                <a:solidFill>
                  <a:schemeClr val="tx2"/>
                </a:solidFill>
                <a:effectLst/>
                <a:latin typeface="source-serif-pro"/>
              </a:rPr>
              <a:t>dot</a:t>
            </a:r>
            <a:r>
              <a:rPr lang="tr-TR" b="0" i="0" dirty="0">
                <a:solidFill>
                  <a:schemeClr val="tx2"/>
                </a:solidFill>
                <a:effectLst/>
                <a:latin typeface="source-serif-pro"/>
              </a:rPr>
              <a:t> </a:t>
            </a:r>
            <a:r>
              <a:rPr lang="tr-TR" b="0" i="0" dirty="0" err="1">
                <a:solidFill>
                  <a:schemeClr val="tx2"/>
                </a:solidFill>
                <a:effectLst/>
                <a:latin typeface="source-serif-pro"/>
              </a:rPr>
              <a:t>product</a:t>
            </a:r>
            <a:r>
              <a:rPr lang="tr-TR" b="0" i="0" dirty="0">
                <a:solidFill>
                  <a:schemeClr val="tx2"/>
                </a:solidFill>
                <a:effectLst/>
                <a:latin typeface="source-serif-pro"/>
              </a:rPr>
              <a:t> negatif olabilir.</a:t>
            </a:r>
          </a:p>
          <a:p>
            <a:r>
              <a:rPr lang="tr-TR" dirty="0"/>
              <a:t>Ancak </a:t>
            </a:r>
            <a:r>
              <a:rPr lang="tr-TR" dirty="0" err="1"/>
              <a:t>dot</a:t>
            </a:r>
            <a:r>
              <a:rPr lang="tr-TR" dirty="0"/>
              <a:t> </a:t>
            </a:r>
            <a:r>
              <a:rPr lang="tr-TR" dirty="0" err="1"/>
              <a:t>product</a:t>
            </a:r>
            <a:r>
              <a:rPr lang="tr-TR" dirty="0"/>
              <a:t> sadece yönü değil, vektörlerin büyüklüğünü de etkiler. Bu yüzden uzun vektörler bazen olduğundan daha benzer görünebilir.</a:t>
            </a:r>
            <a:endParaRPr lang="tr-TR" dirty="0">
              <a:solidFill>
                <a:schemeClr val="tx2"/>
              </a:solidFill>
            </a:endParaRPr>
          </a:p>
        </p:txBody>
      </p:sp>
      <p:sp>
        <p:nvSpPr>
          <p:cNvPr id="5" name="Metin Yer Tutucusu 4">
            <a:extLst>
              <a:ext uri="{FF2B5EF4-FFF2-40B4-BE49-F238E27FC236}">
                <a16:creationId xmlns:a16="http://schemas.microsoft.com/office/drawing/2014/main" id="{7AC5445D-E388-C9AA-9C87-6B318A080BD9}"/>
              </a:ext>
            </a:extLst>
          </p:cNvPr>
          <p:cNvSpPr>
            <a:spLocks noGrp="1"/>
          </p:cNvSpPr>
          <p:nvPr>
            <p:ph type="body" sz="quarter" idx="3"/>
          </p:nvPr>
        </p:nvSpPr>
        <p:spPr>
          <a:xfrm>
            <a:off x="6287101" y="1082180"/>
            <a:ext cx="4865554" cy="1375794"/>
          </a:xfrm>
        </p:spPr>
        <p:txBody>
          <a:bodyPr>
            <a:normAutofit fontScale="92500" lnSpcReduction="20000"/>
          </a:bodyPr>
          <a:lstStyle/>
          <a:p>
            <a:endParaRPr lang="tr-TR" b="1" i="0" dirty="0">
              <a:solidFill>
                <a:schemeClr val="tx2"/>
              </a:solidFill>
              <a:effectLst/>
              <a:latin typeface="sohne"/>
            </a:endParaRPr>
          </a:p>
          <a:p>
            <a:r>
              <a:rPr lang="tr-TR" b="1" i="0" dirty="0" err="1">
                <a:solidFill>
                  <a:schemeClr val="tx2"/>
                </a:solidFill>
                <a:effectLst/>
                <a:latin typeface="sohne"/>
              </a:rPr>
              <a:t>Cosine</a:t>
            </a:r>
            <a:r>
              <a:rPr lang="tr-TR" b="1" i="0" dirty="0">
                <a:solidFill>
                  <a:schemeClr val="tx2"/>
                </a:solidFill>
                <a:effectLst/>
                <a:latin typeface="sohne"/>
              </a:rPr>
              <a:t> </a:t>
            </a:r>
            <a:r>
              <a:rPr lang="tr-TR" b="1" i="0" dirty="0" err="1">
                <a:solidFill>
                  <a:schemeClr val="tx2"/>
                </a:solidFill>
                <a:effectLst/>
                <a:latin typeface="sohne"/>
              </a:rPr>
              <a:t>similarity</a:t>
            </a:r>
            <a:r>
              <a:rPr lang="tr-TR" dirty="0">
                <a:solidFill>
                  <a:schemeClr val="tx2"/>
                </a:solidFill>
                <a:effectLst/>
                <a:latin typeface="sohne"/>
              </a:rPr>
              <a:t>,</a:t>
            </a:r>
            <a:r>
              <a:rPr lang="tr-TR" b="0" i="0" dirty="0">
                <a:solidFill>
                  <a:srgbClr val="242424"/>
                </a:solidFill>
                <a:effectLst/>
                <a:latin typeface="source-serif-pro"/>
              </a:rPr>
              <a:t> </a:t>
            </a:r>
            <a:r>
              <a:rPr lang="tr-TR" b="0" i="0" dirty="0">
                <a:solidFill>
                  <a:schemeClr val="tx2"/>
                </a:solidFill>
                <a:effectLst/>
                <a:latin typeface="source-serif-pro"/>
              </a:rPr>
              <a:t>İki vektörün sadece yönüne bakalım, uzunluğu önemli değil. Vektörler arasındaki açıya bakar.</a:t>
            </a:r>
            <a:endParaRPr lang="tr-TR" b="1" i="0" dirty="0">
              <a:solidFill>
                <a:schemeClr val="tx2"/>
              </a:solidFill>
              <a:effectLst/>
              <a:latin typeface="sohne"/>
            </a:endParaRPr>
          </a:p>
          <a:p>
            <a:endParaRPr lang="tr-TR" dirty="0"/>
          </a:p>
        </p:txBody>
      </p:sp>
      <p:sp>
        <p:nvSpPr>
          <p:cNvPr id="6" name="İçerik Yer Tutucusu 5">
            <a:extLst>
              <a:ext uri="{FF2B5EF4-FFF2-40B4-BE49-F238E27FC236}">
                <a16:creationId xmlns:a16="http://schemas.microsoft.com/office/drawing/2014/main" id="{AB1B17E7-70FB-5910-B79F-CCD81F4CDC85}"/>
              </a:ext>
            </a:extLst>
          </p:cNvPr>
          <p:cNvSpPr>
            <a:spLocks noGrp="1"/>
          </p:cNvSpPr>
          <p:nvPr>
            <p:ph sz="quarter" idx="4"/>
          </p:nvPr>
        </p:nvSpPr>
        <p:spPr>
          <a:xfrm>
            <a:off x="6096000" y="2174001"/>
            <a:ext cx="5875089" cy="4566552"/>
          </a:xfrm>
        </p:spPr>
        <p:txBody>
          <a:bodyPr>
            <a:normAutofit fontScale="92500"/>
          </a:bodyPr>
          <a:lstStyle/>
          <a:p>
            <a:r>
              <a:rPr lang="tr-TR" b="0" i="0" dirty="0" err="1">
                <a:solidFill>
                  <a:schemeClr val="tx2"/>
                </a:solidFill>
                <a:effectLst/>
                <a:latin typeface="source-code-pro"/>
              </a:rPr>
              <a:t>cosine_similarity</a:t>
            </a:r>
            <a:r>
              <a:rPr lang="tr-TR" b="0" i="0" dirty="0">
                <a:solidFill>
                  <a:schemeClr val="tx2"/>
                </a:solidFill>
                <a:effectLst/>
                <a:latin typeface="source-code-pro"/>
              </a:rPr>
              <a:t>(</a:t>
            </a:r>
            <a:r>
              <a:rPr lang="tr-TR" b="0" i="0" dirty="0" err="1">
                <a:solidFill>
                  <a:schemeClr val="tx2"/>
                </a:solidFill>
                <a:effectLst/>
                <a:latin typeface="source-code-pro"/>
              </a:rPr>
              <a:t>a,b</a:t>
            </a:r>
            <a:r>
              <a:rPr lang="tr-TR" b="0" i="0" dirty="0">
                <a:solidFill>
                  <a:schemeClr val="tx2"/>
                </a:solidFill>
                <a:effectLst/>
                <a:latin typeface="source-code-pro"/>
              </a:rPr>
              <a:t>) = </a:t>
            </a:r>
            <a:r>
              <a:rPr lang="tr-TR" b="0" i="0" dirty="0" err="1">
                <a:solidFill>
                  <a:schemeClr val="tx2"/>
                </a:solidFill>
                <a:effectLst/>
                <a:latin typeface="source-code-pro"/>
              </a:rPr>
              <a:t>dot_product</a:t>
            </a:r>
            <a:r>
              <a:rPr lang="tr-TR" b="0" i="0" dirty="0">
                <a:solidFill>
                  <a:schemeClr val="tx2"/>
                </a:solidFill>
                <a:effectLst/>
                <a:latin typeface="source-code-pro"/>
              </a:rPr>
              <a:t>(</a:t>
            </a:r>
            <a:r>
              <a:rPr lang="tr-TR" b="0" i="0" dirty="0" err="1">
                <a:solidFill>
                  <a:schemeClr val="tx2"/>
                </a:solidFill>
                <a:effectLst/>
                <a:latin typeface="source-code-pro"/>
              </a:rPr>
              <a:t>a,b</a:t>
            </a:r>
            <a:r>
              <a:rPr lang="tr-TR" b="0" i="0" dirty="0">
                <a:solidFill>
                  <a:schemeClr val="tx2"/>
                </a:solidFill>
                <a:effectLst/>
                <a:latin typeface="source-code-pro"/>
              </a:rPr>
              <a:t>) / (|a| × |b|)</a:t>
            </a:r>
          </a:p>
          <a:p>
            <a:r>
              <a:rPr lang="tr-TR" dirty="0"/>
              <a:t> Sonuç -1 ile +1 arasında çıkar:</a:t>
            </a:r>
          </a:p>
          <a:p>
            <a:pPr>
              <a:buFont typeface="Arial" panose="020B0604020202020204" pitchFamily="34" charset="0"/>
              <a:buChar char="•"/>
            </a:pPr>
            <a:r>
              <a:rPr lang="tr-TR" dirty="0"/>
              <a:t>+1 → </a:t>
            </a:r>
            <a:r>
              <a:rPr lang="tr-TR" b="0" i="0" dirty="0">
                <a:solidFill>
                  <a:srgbClr val="242424"/>
                </a:solidFill>
                <a:effectLst/>
                <a:latin typeface="source-serif-pro"/>
              </a:rPr>
              <a:t> </a:t>
            </a:r>
            <a:r>
              <a:rPr lang="tr-TR" b="0" i="0" dirty="0">
                <a:solidFill>
                  <a:schemeClr val="tx2"/>
                </a:solidFill>
                <a:effectLst/>
                <a:latin typeface="source-serif-pro"/>
              </a:rPr>
              <a:t>tamamen aynı yön (çok benzer anlam)</a:t>
            </a:r>
            <a:endParaRPr lang="tr-TR" dirty="0">
              <a:solidFill>
                <a:schemeClr val="tx2"/>
              </a:solidFill>
            </a:endParaRPr>
          </a:p>
          <a:p>
            <a:pPr>
              <a:buFont typeface="Arial" panose="020B0604020202020204" pitchFamily="34" charset="0"/>
              <a:buChar char="•"/>
            </a:pPr>
            <a:r>
              <a:rPr lang="tr-TR" dirty="0"/>
              <a:t>0 → </a:t>
            </a:r>
            <a:r>
              <a:rPr lang="tr-TR" b="0" i="0" dirty="0">
                <a:solidFill>
                  <a:schemeClr val="tx2"/>
                </a:solidFill>
                <a:effectLst/>
                <a:latin typeface="source-serif-pro"/>
              </a:rPr>
              <a:t>dik açı (ilişki yok)</a:t>
            </a:r>
            <a:endParaRPr lang="tr-TR" dirty="0">
              <a:solidFill>
                <a:schemeClr val="tx2"/>
              </a:solidFill>
            </a:endParaRPr>
          </a:p>
          <a:p>
            <a:pPr>
              <a:buFont typeface="Arial" panose="020B0604020202020204" pitchFamily="34" charset="0"/>
              <a:buChar char="•"/>
            </a:pPr>
            <a:r>
              <a:rPr lang="tr-TR" dirty="0"/>
              <a:t>-1 → </a:t>
            </a:r>
            <a:r>
              <a:rPr lang="tr-TR" b="0" i="0" dirty="0">
                <a:solidFill>
                  <a:schemeClr val="tx2"/>
                </a:solidFill>
                <a:effectLst/>
                <a:latin typeface="source-serif-pro"/>
              </a:rPr>
              <a:t>zıt yön (tam tersi anlam</a:t>
            </a:r>
            <a:r>
              <a:rPr lang="tr-TR" b="0" i="0" dirty="0">
                <a:solidFill>
                  <a:srgbClr val="242424"/>
                </a:solidFill>
                <a:effectLst/>
                <a:latin typeface="source-serif-pro"/>
              </a:rPr>
              <a:t>)</a:t>
            </a:r>
            <a:endParaRPr lang="tr-TR" dirty="0"/>
          </a:p>
          <a:p>
            <a:r>
              <a:rPr lang="tr-TR" dirty="0"/>
              <a:t>Bu yöntem özellikle metin analizinde kullanılır çünkü metnin uzunluğundan çok anlam benzerliğini ölçer. Bu yüzden RAG ve </a:t>
            </a:r>
            <a:r>
              <a:rPr lang="tr-TR" dirty="0" err="1"/>
              <a:t>embedding</a:t>
            </a:r>
            <a:r>
              <a:rPr lang="tr-TR" dirty="0"/>
              <a:t> sistemlerinde en yaygın benzerlik ölçülerinden biridir.</a:t>
            </a:r>
          </a:p>
          <a:p>
            <a:endParaRPr lang="tr-TR" dirty="0">
              <a:solidFill>
                <a:schemeClr val="tx2"/>
              </a:solidFill>
            </a:endParaRPr>
          </a:p>
        </p:txBody>
      </p:sp>
    </p:spTree>
    <p:extLst>
      <p:ext uri="{BB962C8B-B14F-4D97-AF65-F5344CB8AC3E}">
        <p14:creationId xmlns:p14="http://schemas.microsoft.com/office/powerpoint/2010/main" val="636684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45FC41E-74B3-FF15-866D-AC1F38015FE6}"/>
              </a:ext>
            </a:extLst>
          </p:cNvPr>
          <p:cNvSpPr>
            <a:spLocks noGrp="1"/>
          </p:cNvSpPr>
          <p:nvPr>
            <p:ph type="title"/>
          </p:nvPr>
        </p:nvSpPr>
        <p:spPr>
          <a:xfrm>
            <a:off x="167780" y="956345"/>
            <a:ext cx="12024219" cy="369116"/>
          </a:xfrm>
        </p:spPr>
        <p:txBody>
          <a:bodyPr>
            <a:normAutofit fontScale="90000"/>
          </a:bodyPr>
          <a:lstStyle/>
          <a:p>
            <a:pPr algn="l"/>
            <a:r>
              <a:rPr lang="tr-TR" sz="3600" b="1" i="0" dirty="0">
                <a:solidFill>
                  <a:schemeClr val="tx2"/>
                </a:solidFill>
                <a:effectLst/>
                <a:latin typeface="sohne"/>
              </a:rPr>
              <a:t>-</a:t>
            </a:r>
            <a:r>
              <a:rPr lang="tr-TR" sz="3600" b="1" i="0" dirty="0" err="1">
                <a:solidFill>
                  <a:schemeClr val="tx2"/>
                </a:solidFill>
                <a:effectLst/>
                <a:latin typeface="sohne"/>
              </a:rPr>
              <a:t>Cosine</a:t>
            </a:r>
            <a:r>
              <a:rPr lang="tr-TR" sz="3600" b="1" i="0" dirty="0">
                <a:solidFill>
                  <a:schemeClr val="tx2"/>
                </a:solidFill>
                <a:effectLst/>
                <a:latin typeface="sohne"/>
              </a:rPr>
              <a:t> </a:t>
            </a:r>
            <a:r>
              <a:rPr lang="tr-TR" sz="3600" b="1" i="0" dirty="0" err="1">
                <a:solidFill>
                  <a:schemeClr val="tx2"/>
                </a:solidFill>
                <a:effectLst/>
                <a:latin typeface="sohne"/>
              </a:rPr>
              <a:t>similarity</a:t>
            </a:r>
            <a:r>
              <a:rPr lang="tr-TR" sz="3600" b="1" i="0" dirty="0">
                <a:solidFill>
                  <a:schemeClr val="tx2"/>
                </a:solidFill>
                <a:effectLst/>
                <a:latin typeface="sohne"/>
              </a:rPr>
              <a:t> ÖRNEK             - RAGDAKİ KULLANIMI VE DEVAMI</a:t>
            </a:r>
            <a:br>
              <a:rPr lang="tr-TR" sz="2800" b="1" i="0" dirty="0">
                <a:solidFill>
                  <a:srgbClr val="242424"/>
                </a:solidFill>
                <a:effectLst/>
                <a:latin typeface="sohne"/>
              </a:rPr>
            </a:br>
            <a:endParaRPr lang="tr-TR" sz="2800" dirty="0"/>
          </a:p>
        </p:txBody>
      </p:sp>
      <p:sp>
        <p:nvSpPr>
          <p:cNvPr id="3" name="İçerik Yer Tutucusu 2">
            <a:extLst>
              <a:ext uri="{FF2B5EF4-FFF2-40B4-BE49-F238E27FC236}">
                <a16:creationId xmlns:a16="http://schemas.microsoft.com/office/drawing/2014/main" id="{C658F150-7503-E3C5-9C33-ACB8BDEA1027}"/>
              </a:ext>
            </a:extLst>
          </p:cNvPr>
          <p:cNvSpPr>
            <a:spLocks noGrp="1"/>
          </p:cNvSpPr>
          <p:nvPr>
            <p:ph sz="half" idx="1"/>
          </p:nvPr>
        </p:nvSpPr>
        <p:spPr>
          <a:xfrm>
            <a:off x="100668" y="1325461"/>
            <a:ext cx="6072735" cy="4465739"/>
          </a:xfrm>
        </p:spPr>
        <p:txBody>
          <a:bodyPr/>
          <a:lstStyle/>
          <a:p>
            <a:pPr algn="l"/>
            <a:r>
              <a:rPr lang="tr-TR" b="0" i="0" dirty="0">
                <a:solidFill>
                  <a:schemeClr val="tx2"/>
                </a:solidFill>
                <a:effectLst/>
                <a:latin typeface="source-serif-pro"/>
              </a:rPr>
              <a:t>Diyelim ki </a:t>
            </a:r>
            <a:r>
              <a:rPr lang="tr-TR" b="0" i="0" dirty="0" err="1">
                <a:solidFill>
                  <a:schemeClr val="tx2"/>
                </a:solidFill>
                <a:effectLst/>
                <a:latin typeface="source-serif-pro"/>
              </a:rPr>
              <a:t>embedding</a:t>
            </a:r>
            <a:r>
              <a:rPr lang="tr-TR" b="0" i="0" dirty="0">
                <a:solidFill>
                  <a:schemeClr val="tx2"/>
                </a:solidFill>
                <a:effectLst/>
                <a:latin typeface="source-serif-pro"/>
              </a:rPr>
              <a:t> modeline üç kelime veriyoruz:</a:t>
            </a:r>
          </a:p>
          <a:p>
            <a:pPr algn="l">
              <a:buFont typeface="Arial" panose="020B0604020202020204" pitchFamily="34" charset="0"/>
              <a:buChar char="•"/>
            </a:pPr>
            <a:r>
              <a:rPr lang="tr-TR" b="0" i="0" dirty="0">
                <a:solidFill>
                  <a:schemeClr val="tx2"/>
                </a:solidFill>
                <a:effectLst/>
                <a:latin typeface="source-serif-pro"/>
              </a:rPr>
              <a:t>“doktor” → bir vektör</a:t>
            </a:r>
          </a:p>
          <a:p>
            <a:pPr algn="l">
              <a:buFont typeface="Arial" panose="020B0604020202020204" pitchFamily="34" charset="0"/>
              <a:buChar char="•"/>
            </a:pPr>
            <a:r>
              <a:rPr lang="tr-TR" b="0" i="0" dirty="0">
                <a:solidFill>
                  <a:schemeClr val="tx2"/>
                </a:solidFill>
                <a:effectLst/>
                <a:latin typeface="source-serif-pro"/>
              </a:rPr>
              <a:t>“hemşire” → bir vektör</a:t>
            </a:r>
          </a:p>
          <a:p>
            <a:pPr algn="l">
              <a:buFont typeface="Arial" panose="020B0604020202020204" pitchFamily="34" charset="0"/>
              <a:buChar char="•"/>
            </a:pPr>
            <a:r>
              <a:rPr lang="tr-TR" b="0" i="0" dirty="0">
                <a:solidFill>
                  <a:schemeClr val="tx2"/>
                </a:solidFill>
                <a:effectLst/>
                <a:latin typeface="source-serif-pro"/>
              </a:rPr>
              <a:t>“elma” → bir vektör</a:t>
            </a:r>
          </a:p>
          <a:p>
            <a:pPr algn="l"/>
            <a:r>
              <a:rPr lang="tr-TR" b="0" i="0" dirty="0">
                <a:solidFill>
                  <a:schemeClr val="tx2"/>
                </a:solidFill>
                <a:effectLst/>
                <a:latin typeface="source-serif-pro"/>
              </a:rPr>
              <a:t>“doktor” ve “hemşire” kelimeleri çoğu cümlede aynı bağlamlarda geçer</a:t>
            </a:r>
          </a:p>
          <a:p>
            <a:pPr>
              <a:buFont typeface="Wingdings" panose="05000000000000000000" pitchFamily="2" charset="2"/>
              <a:buChar char="q"/>
            </a:pPr>
            <a:r>
              <a:rPr lang="tr-TR" b="0" i="0" dirty="0" err="1">
                <a:solidFill>
                  <a:schemeClr val="tx2"/>
                </a:solidFill>
                <a:effectLst/>
                <a:latin typeface="source-code-pro"/>
              </a:rPr>
              <a:t>doctor</a:t>
            </a:r>
            <a:r>
              <a:rPr lang="tr-TR" b="0" i="0" dirty="0">
                <a:solidFill>
                  <a:schemeClr val="tx2"/>
                </a:solidFill>
                <a:effectLst/>
                <a:latin typeface="source-code-pro"/>
              </a:rPr>
              <a:t> </a:t>
            </a:r>
            <a:r>
              <a:rPr lang="tr-TR" b="0" i="0" dirty="0" err="1">
                <a:solidFill>
                  <a:schemeClr val="tx2"/>
                </a:solidFill>
                <a:effectLst/>
                <a:latin typeface="source-code-pro"/>
              </a:rPr>
              <a:t>vs</a:t>
            </a:r>
            <a:r>
              <a:rPr lang="tr-TR" b="0" i="0" dirty="0">
                <a:solidFill>
                  <a:schemeClr val="tx2"/>
                </a:solidFill>
                <a:effectLst/>
                <a:latin typeface="source-code-pro"/>
              </a:rPr>
              <a:t> </a:t>
            </a:r>
            <a:r>
              <a:rPr lang="tr-TR" b="0" i="0" dirty="0" err="1">
                <a:solidFill>
                  <a:schemeClr val="tx2"/>
                </a:solidFill>
                <a:effectLst/>
                <a:latin typeface="source-code-pro"/>
              </a:rPr>
              <a:t>nurse</a:t>
            </a:r>
            <a:r>
              <a:rPr lang="tr-TR" b="0" i="0" dirty="0">
                <a:solidFill>
                  <a:schemeClr val="tx2"/>
                </a:solidFill>
                <a:effectLst/>
                <a:latin typeface="source-code-pro"/>
              </a:rPr>
              <a:t> → </a:t>
            </a:r>
            <a:r>
              <a:rPr lang="tr-TR" b="0" i="0" dirty="0">
                <a:solidFill>
                  <a:srgbClr val="1C00CF"/>
                </a:solidFill>
                <a:effectLst/>
                <a:latin typeface="source-code-pro"/>
              </a:rPr>
              <a:t>0.91</a:t>
            </a:r>
            <a:r>
              <a:rPr lang="tr-TR" b="0" i="0" dirty="0">
                <a:solidFill>
                  <a:srgbClr val="242424"/>
                </a:solidFill>
                <a:effectLst/>
                <a:latin typeface="source-code-pro"/>
              </a:rPr>
              <a:t> </a:t>
            </a:r>
            <a:r>
              <a:rPr lang="tr-TR" b="0" i="0" dirty="0">
                <a:solidFill>
                  <a:schemeClr val="tx2"/>
                </a:solidFill>
                <a:effectLst/>
                <a:latin typeface="source-code-pro"/>
              </a:rPr>
              <a:t>(çok yüksek)</a:t>
            </a:r>
          </a:p>
          <a:p>
            <a:pPr>
              <a:buFont typeface="Wingdings" panose="05000000000000000000" pitchFamily="2" charset="2"/>
              <a:buChar char="q"/>
            </a:pPr>
            <a:r>
              <a:rPr lang="en-US" b="0" i="0" dirty="0">
                <a:solidFill>
                  <a:schemeClr val="tx2"/>
                </a:solidFill>
                <a:effectLst/>
                <a:latin typeface="source-code-pro"/>
              </a:rPr>
              <a:t>doctor vs apple → </a:t>
            </a:r>
            <a:r>
              <a:rPr lang="en-US" b="0" i="0" dirty="0">
                <a:solidFill>
                  <a:srgbClr val="1C00CF"/>
                </a:solidFill>
                <a:effectLst/>
                <a:latin typeface="source-code-pro"/>
              </a:rPr>
              <a:t>0.08</a:t>
            </a:r>
            <a:r>
              <a:rPr lang="en-US" b="0" i="0" dirty="0">
                <a:solidFill>
                  <a:srgbClr val="242424"/>
                </a:solidFill>
                <a:effectLst/>
                <a:latin typeface="source-code-pro"/>
              </a:rPr>
              <a:t> </a:t>
            </a:r>
            <a:r>
              <a:rPr lang="en-US" b="0" i="0" dirty="0">
                <a:solidFill>
                  <a:schemeClr val="tx2"/>
                </a:solidFill>
                <a:effectLst/>
                <a:latin typeface="source-code-pro"/>
              </a:rPr>
              <a:t>(</a:t>
            </a:r>
            <a:r>
              <a:rPr lang="en-US" b="0" i="0" dirty="0" err="1">
                <a:solidFill>
                  <a:schemeClr val="tx2"/>
                </a:solidFill>
                <a:effectLst/>
                <a:latin typeface="source-code-pro"/>
              </a:rPr>
              <a:t>çok</a:t>
            </a:r>
            <a:r>
              <a:rPr lang="en-US" b="0" i="0" dirty="0">
                <a:solidFill>
                  <a:schemeClr val="tx2"/>
                </a:solidFill>
                <a:effectLst/>
                <a:latin typeface="source-code-pro"/>
              </a:rPr>
              <a:t> </a:t>
            </a:r>
            <a:r>
              <a:rPr lang="en-US" b="0" i="0" dirty="0" err="1">
                <a:solidFill>
                  <a:schemeClr val="tx2"/>
                </a:solidFill>
                <a:effectLst/>
                <a:latin typeface="source-code-pro"/>
              </a:rPr>
              <a:t>düşük</a:t>
            </a:r>
            <a:r>
              <a:rPr lang="en-US" b="0" i="0" dirty="0">
                <a:solidFill>
                  <a:schemeClr val="tx2"/>
                </a:solidFill>
                <a:effectLst/>
                <a:latin typeface="source-code-pro"/>
              </a:rPr>
              <a:t>)</a:t>
            </a:r>
            <a:endParaRPr lang="tr-TR" dirty="0">
              <a:solidFill>
                <a:schemeClr val="tx2"/>
              </a:solidFill>
            </a:endParaRPr>
          </a:p>
        </p:txBody>
      </p:sp>
      <p:sp>
        <p:nvSpPr>
          <p:cNvPr id="4" name="İçerik Yer Tutucusu 3">
            <a:extLst>
              <a:ext uri="{FF2B5EF4-FFF2-40B4-BE49-F238E27FC236}">
                <a16:creationId xmlns:a16="http://schemas.microsoft.com/office/drawing/2014/main" id="{C786BDFA-F91F-2465-1578-653CF0D452A9}"/>
              </a:ext>
            </a:extLst>
          </p:cNvPr>
          <p:cNvSpPr>
            <a:spLocks noGrp="1"/>
          </p:cNvSpPr>
          <p:nvPr>
            <p:ph sz="half" idx="2"/>
          </p:nvPr>
        </p:nvSpPr>
        <p:spPr>
          <a:xfrm>
            <a:off x="6031684" y="1451295"/>
            <a:ext cx="6059648" cy="5301843"/>
          </a:xfrm>
        </p:spPr>
        <p:txBody>
          <a:bodyPr/>
          <a:lstStyle/>
          <a:p>
            <a:pPr algn="l"/>
            <a:r>
              <a:rPr lang="tr-TR" i="0" dirty="0" err="1">
                <a:solidFill>
                  <a:schemeClr val="tx2"/>
                </a:solidFill>
                <a:effectLst/>
                <a:latin typeface="source-serif-pro"/>
              </a:rPr>
              <a:t>Retriever</a:t>
            </a:r>
            <a:r>
              <a:rPr lang="tr-TR" i="0" dirty="0">
                <a:solidFill>
                  <a:schemeClr val="tx2"/>
                </a:solidFill>
                <a:effectLst/>
                <a:latin typeface="source-serif-pro"/>
              </a:rPr>
              <a:t> şu işlemi yapar:</a:t>
            </a:r>
          </a:p>
          <a:p>
            <a:pPr algn="l">
              <a:buFont typeface="+mj-lt"/>
              <a:buAutoNum type="arabicPeriod"/>
            </a:pPr>
            <a:r>
              <a:rPr lang="tr-TR" i="0" dirty="0">
                <a:solidFill>
                  <a:schemeClr val="tx2"/>
                </a:solidFill>
                <a:effectLst/>
                <a:latin typeface="source-serif-pro"/>
              </a:rPr>
              <a:t>Soru vektörü ile her </a:t>
            </a:r>
            <a:r>
              <a:rPr lang="tr-TR" i="0" dirty="0" err="1">
                <a:solidFill>
                  <a:schemeClr val="tx2"/>
                </a:solidFill>
                <a:effectLst/>
                <a:latin typeface="source-serif-pro"/>
              </a:rPr>
              <a:t>chunk</a:t>
            </a:r>
            <a:r>
              <a:rPr lang="tr-TR" i="0" dirty="0">
                <a:solidFill>
                  <a:schemeClr val="tx2"/>
                </a:solidFill>
                <a:effectLst/>
                <a:latin typeface="source-serif-pro"/>
              </a:rPr>
              <a:t> vektörünün </a:t>
            </a:r>
            <a:r>
              <a:rPr lang="tr-TR" i="0" dirty="0" err="1">
                <a:solidFill>
                  <a:schemeClr val="tx2"/>
                </a:solidFill>
                <a:effectLst/>
                <a:latin typeface="source-serif-pro"/>
              </a:rPr>
              <a:t>cosine</a:t>
            </a:r>
            <a:r>
              <a:rPr lang="tr-TR" i="0" dirty="0">
                <a:solidFill>
                  <a:schemeClr val="tx2"/>
                </a:solidFill>
                <a:effectLst/>
                <a:latin typeface="source-serif-pro"/>
              </a:rPr>
              <a:t> </a:t>
            </a:r>
            <a:r>
              <a:rPr lang="tr-TR" i="0" dirty="0" err="1">
                <a:solidFill>
                  <a:schemeClr val="tx2"/>
                </a:solidFill>
                <a:effectLst/>
                <a:latin typeface="source-serif-pro"/>
              </a:rPr>
              <a:t>similarity’sini</a:t>
            </a:r>
            <a:r>
              <a:rPr lang="tr-TR" i="0" dirty="0">
                <a:solidFill>
                  <a:schemeClr val="tx2"/>
                </a:solidFill>
                <a:effectLst/>
                <a:latin typeface="source-serif-pro"/>
              </a:rPr>
              <a:t> hesaplar.</a:t>
            </a:r>
          </a:p>
          <a:p>
            <a:pPr algn="l">
              <a:buFont typeface="+mj-lt"/>
              <a:buAutoNum type="arabicPeriod"/>
            </a:pPr>
            <a:r>
              <a:rPr lang="tr-TR" i="0" dirty="0">
                <a:solidFill>
                  <a:schemeClr val="tx2"/>
                </a:solidFill>
                <a:effectLst/>
                <a:latin typeface="source-serif-pro"/>
              </a:rPr>
              <a:t>En yüksek benzerliğe sahip ilk K </a:t>
            </a:r>
            <a:r>
              <a:rPr lang="tr-TR" i="0" dirty="0" err="1">
                <a:solidFill>
                  <a:schemeClr val="tx2"/>
                </a:solidFill>
                <a:effectLst/>
                <a:latin typeface="source-serif-pro"/>
              </a:rPr>
              <a:t>chunk’ı</a:t>
            </a:r>
            <a:r>
              <a:rPr lang="tr-TR" i="0" dirty="0">
                <a:solidFill>
                  <a:schemeClr val="tx2"/>
                </a:solidFill>
                <a:effectLst/>
                <a:latin typeface="source-serif-pro"/>
              </a:rPr>
              <a:t> seçer</a:t>
            </a:r>
          </a:p>
          <a:p>
            <a:pPr algn="l">
              <a:buFont typeface="+mj-lt"/>
              <a:buAutoNum type="arabicPeriod"/>
            </a:pPr>
            <a:r>
              <a:rPr lang="tr-TR" i="0" dirty="0">
                <a:solidFill>
                  <a:schemeClr val="tx2"/>
                </a:solidFill>
                <a:effectLst/>
                <a:latin typeface="source-serif-pro"/>
              </a:rPr>
              <a:t>LLM sadece bu bağlam üzerinden yanıt üretir</a:t>
            </a:r>
          </a:p>
          <a:p>
            <a:pPr algn="l">
              <a:buFont typeface="Wingdings" panose="05000000000000000000" pitchFamily="2" charset="2"/>
              <a:buChar char="Ø"/>
            </a:pPr>
            <a:r>
              <a:rPr lang="tr-TR" b="0" i="0" dirty="0" err="1">
                <a:solidFill>
                  <a:schemeClr val="tx2"/>
                </a:solidFill>
                <a:effectLst/>
                <a:latin typeface="source-serif-pro"/>
              </a:rPr>
              <a:t>Retriever</a:t>
            </a:r>
            <a:r>
              <a:rPr lang="tr-TR" b="0" i="0" dirty="0">
                <a:solidFill>
                  <a:schemeClr val="tx2"/>
                </a:solidFill>
                <a:effectLst/>
                <a:latin typeface="source-serif-pro"/>
              </a:rPr>
              <a:t> tarafından dönen metin parçaları ile kullanıcının orijinal sorusu birleştirilir.</a:t>
            </a:r>
          </a:p>
          <a:p>
            <a:pPr algn="l">
              <a:buFont typeface="Wingdings" panose="05000000000000000000" pitchFamily="2" charset="2"/>
              <a:buChar char="Ø"/>
            </a:pPr>
            <a:r>
              <a:rPr lang="tr-TR" b="0" i="0" dirty="0">
                <a:solidFill>
                  <a:schemeClr val="tx2"/>
                </a:solidFill>
                <a:effectLst/>
                <a:latin typeface="source-serif-pro"/>
              </a:rPr>
              <a:t>Bu yeni metne </a:t>
            </a:r>
            <a:r>
              <a:rPr lang="tr-TR" b="1" i="0" dirty="0" err="1">
                <a:solidFill>
                  <a:schemeClr val="tx2"/>
                </a:solidFill>
                <a:effectLst/>
                <a:latin typeface="source-serif-pro"/>
              </a:rPr>
              <a:t>augmented</a:t>
            </a:r>
            <a:r>
              <a:rPr lang="tr-TR" b="1" i="0" dirty="0">
                <a:solidFill>
                  <a:schemeClr val="tx2"/>
                </a:solidFill>
                <a:effectLst/>
                <a:latin typeface="source-serif-pro"/>
              </a:rPr>
              <a:t> </a:t>
            </a:r>
            <a:r>
              <a:rPr lang="tr-TR" b="1" i="0" dirty="0" err="1">
                <a:solidFill>
                  <a:schemeClr val="tx2"/>
                </a:solidFill>
                <a:effectLst/>
                <a:latin typeface="source-serif-pro"/>
              </a:rPr>
              <a:t>prompt</a:t>
            </a:r>
            <a:r>
              <a:rPr lang="tr-TR" b="0" i="0" dirty="0">
                <a:solidFill>
                  <a:schemeClr val="tx2"/>
                </a:solidFill>
                <a:effectLst/>
                <a:latin typeface="source-serif-pro"/>
              </a:rPr>
              <a:t> denir.</a:t>
            </a:r>
          </a:p>
          <a:p>
            <a:pPr algn="l">
              <a:buFont typeface="Wingdings" panose="05000000000000000000" pitchFamily="2" charset="2"/>
              <a:buChar char="Ø"/>
            </a:pPr>
            <a:r>
              <a:rPr lang="tr-TR" dirty="0">
                <a:solidFill>
                  <a:schemeClr val="tx2"/>
                </a:solidFill>
                <a:effectLst/>
                <a:latin typeface="source-serif-pro"/>
              </a:rPr>
              <a:t>Ve artık LLM istediği bilgileri görebilir.</a:t>
            </a:r>
            <a:endParaRPr lang="tr-TR" b="0" i="0" dirty="0">
              <a:solidFill>
                <a:schemeClr val="tx2"/>
              </a:solidFill>
              <a:effectLst/>
              <a:latin typeface="source-serif-pro"/>
            </a:endParaRPr>
          </a:p>
          <a:p>
            <a:pPr marL="0" indent="0">
              <a:buNone/>
            </a:pPr>
            <a:endParaRPr lang="tr-TR" dirty="0"/>
          </a:p>
        </p:txBody>
      </p:sp>
    </p:spTree>
    <p:extLst>
      <p:ext uri="{BB962C8B-B14F-4D97-AF65-F5344CB8AC3E}">
        <p14:creationId xmlns:p14="http://schemas.microsoft.com/office/powerpoint/2010/main" val="1267131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15E9DAA-E6AF-F66F-659C-520683F152FE}"/>
              </a:ext>
            </a:extLst>
          </p:cNvPr>
          <p:cNvSpPr>
            <a:spLocks noGrp="1"/>
          </p:cNvSpPr>
          <p:nvPr>
            <p:ph type="title"/>
          </p:nvPr>
        </p:nvSpPr>
        <p:spPr>
          <a:xfrm>
            <a:off x="913795" y="117447"/>
            <a:ext cx="10353761" cy="805342"/>
          </a:xfrm>
        </p:spPr>
        <p:txBody>
          <a:bodyPr/>
          <a:lstStyle/>
          <a:p>
            <a:r>
              <a:rPr lang="tr-TR" dirty="0"/>
              <a:t>Gerçek hayatla ilişkilendirilen örnekler</a:t>
            </a:r>
          </a:p>
        </p:txBody>
      </p:sp>
      <p:pic>
        <p:nvPicPr>
          <p:cNvPr id="6" name="İçerik Yer Tutucusu 5">
            <a:extLst>
              <a:ext uri="{FF2B5EF4-FFF2-40B4-BE49-F238E27FC236}">
                <a16:creationId xmlns:a16="http://schemas.microsoft.com/office/drawing/2014/main" id="{47F3712C-3A6A-571E-9D25-B0266E189587}"/>
              </a:ext>
            </a:extLst>
          </p:cNvPr>
          <p:cNvPicPr>
            <a:picLocks noGrp="1" noChangeAspect="1"/>
          </p:cNvPicPr>
          <p:nvPr>
            <p:ph sz="half" idx="2"/>
          </p:nvPr>
        </p:nvPicPr>
        <p:blipFill>
          <a:blip r:embed="rId2"/>
          <a:stretch>
            <a:fillRect/>
          </a:stretch>
        </p:blipFill>
        <p:spPr>
          <a:xfrm>
            <a:off x="5964238" y="2122415"/>
            <a:ext cx="5897795" cy="3502197"/>
          </a:xfrm>
          <a:prstGeom prst="rect">
            <a:avLst/>
          </a:prstGeom>
        </p:spPr>
      </p:pic>
      <p:sp>
        <p:nvSpPr>
          <p:cNvPr id="5" name="Rectangle 1">
            <a:extLst>
              <a:ext uri="{FF2B5EF4-FFF2-40B4-BE49-F238E27FC236}">
                <a16:creationId xmlns:a16="http://schemas.microsoft.com/office/drawing/2014/main" id="{22AF4F64-1DCE-5F5B-9D17-A757DCB1B76C}"/>
              </a:ext>
            </a:extLst>
          </p:cNvPr>
          <p:cNvSpPr>
            <a:spLocks noGrp="1" noChangeArrowheads="1"/>
          </p:cNvSpPr>
          <p:nvPr>
            <p:ph sz="half" idx="1"/>
          </p:nvPr>
        </p:nvSpPr>
        <p:spPr bwMode="auto">
          <a:xfrm>
            <a:off x="205371" y="1677602"/>
            <a:ext cx="611992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tr-TR" altLang="tr-TR" sz="1800" b="0" i="0" u="sng" strike="noStrike" cap="none" normalizeH="0" baseline="0" dirty="0">
                <a:ln>
                  <a:noFill/>
                </a:ln>
                <a:solidFill>
                  <a:schemeClr val="tx1"/>
                </a:solidFill>
                <a:effectLst/>
                <a:latin typeface="Arial" panose="020B0604020202020204" pitchFamily="34" charset="0"/>
              </a:rPr>
              <a:t>ÖRNEK 1 </a:t>
            </a:r>
          </a:p>
          <a:p>
            <a:pPr marL="0" marR="0" lvl="0" indent="0" algn="l" defTabSz="914400" rtl="0" eaLnBrk="0" fontAlgn="base" latinLnBrk="0" hangingPunct="0">
              <a:lnSpc>
                <a:spcPct val="100000"/>
              </a:lnSpc>
              <a:spcBef>
                <a:spcPct val="0"/>
              </a:spcBef>
              <a:spcAft>
                <a:spcPct val="0"/>
              </a:spcAft>
              <a:buClrTx/>
              <a:buSzTx/>
              <a:buNone/>
              <a:tabLst/>
            </a:pPr>
            <a:r>
              <a:rPr kumimoji="0" lang="tr-TR" altLang="tr-TR" sz="1800" b="0" i="0" u="none" strike="noStrike" cap="none" normalizeH="0" baseline="0" dirty="0">
                <a:ln>
                  <a:noFill/>
                </a:ln>
                <a:solidFill>
                  <a:schemeClr val="tx1"/>
                </a:solidFill>
                <a:effectLst/>
                <a:latin typeface="Arial" panose="020B0604020202020204" pitchFamily="34" charset="0"/>
              </a:rPr>
              <a:t>Mesela bir üniversitenin </a:t>
            </a:r>
            <a:r>
              <a:rPr kumimoji="0" lang="tr-TR" altLang="tr-TR" sz="1800" b="0" i="0" u="none" strike="noStrike" cap="none" normalizeH="0" baseline="0" dirty="0" err="1">
                <a:ln>
                  <a:noFill/>
                </a:ln>
                <a:solidFill>
                  <a:schemeClr val="tx1"/>
                </a:solidFill>
                <a:effectLst/>
                <a:latin typeface="Arial" panose="020B0604020202020204" pitchFamily="34" charset="0"/>
              </a:rPr>
              <a:t>chatbotunu</a:t>
            </a:r>
            <a:r>
              <a:rPr kumimoji="0" lang="tr-TR" altLang="tr-TR" sz="1800" b="0" i="0" u="none" strike="noStrike" cap="none" normalizeH="0" baseline="0" dirty="0">
                <a:ln>
                  <a:noFill/>
                </a:ln>
                <a:solidFill>
                  <a:schemeClr val="tx1"/>
                </a:solidFill>
                <a:effectLst/>
                <a:latin typeface="Arial" panose="020B0604020202020204" pitchFamily="34" charset="0"/>
              </a:rPr>
              <a:t> düşünelim.</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800" b="0" i="0" u="none" strike="noStrike" cap="none" normalizeH="0" baseline="0" dirty="0">
                <a:ln>
                  <a:noFill/>
                </a:ln>
                <a:solidFill>
                  <a:schemeClr val="tx1"/>
                </a:solidFill>
                <a:effectLst/>
                <a:latin typeface="Arial" panose="020B0604020202020204" pitchFamily="34" charset="0"/>
              </a:rPr>
              <a:t>Öğrenci:</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800" b="0" i="0" u="none" strike="noStrike" cap="none" normalizeH="0" baseline="0" dirty="0">
                <a:ln>
                  <a:noFill/>
                </a:ln>
                <a:solidFill>
                  <a:schemeClr val="tx1"/>
                </a:solidFill>
                <a:effectLst/>
                <a:latin typeface="Arial" panose="020B0604020202020204" pitchFamily="34" charset="0"/>
              </a:rPr>
              <a:t>“Vize sınavı ne zaman?”</a:t>
            </a: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800" b="0" i="0" u="none" strike="noStrike" cap="none" normalizeH="0" baseline="0" dirty="0">
                <a:ln>
                  <a:noFill/>
                </a:ln>
                <a:solidFill>
                  <a:schemeClr val="tx1"/>
                </a:solidFill>
                <a:effectLst/>
                <a:latin typeface="Arial" panose="020B0604020202020204" pitchFamily="34" charset="0"/>
              </a:rPr>
              <a:t>diye soruyor. </a:t>
            </a:r>
          </a:p>
          <a:p>
            <a:pPr marL="0" marR="0" lvl="0" indent="0" algn="l" defTabSz="914400" rtl="0" eaLnBrk="0" fontAlgn="base" latinLnBrk="0" hangingPunct="0">
              <a:lnSpc>
                <a:spcPct val="100000"/>
              </a:lnSpc>
              <a:spcBef>
                <a:spcPct val="0"/>
              </a:spcBef>
              <a:spcAft>
                <a:spcPct val="0"/>
              </a:spcAft>
              <a:buClrTx/>
              <a:buSzTx/>
              <a:buFontTx/>
              <a:buNone/>
              <a:tabLst/>
            </a:pPr>
            <a:r>
              <a:rPr lang="tr-TR" altLang="tr-TR" sz="1800" dirty="0">
                <a:effectLst/>
                <a:latin typeface="Arial" panose="020B0604020202020204" pitchFamily="34" charset="0"/>
              </a:rPr>
              <a:t>S</a:t>
            </a:r>
            <a:r>
              <a:rPr kumimoji="0" lang="tr-TR" altLang="tr-TR" sz="1800" b="0" i="0" u="none" strike="noStrike" cap="none" normalizeH="0" baseline="0" dirty="0">
                <a:ln>
                  <a:noFill/>
                </a:ln>
                <a:solidFill>
                  <a:schemeClr val="tx1"/>
                </a:solidFill>
                <a:effectLst/>
                <a:latin typeface="Arial" panose="020B0604020202020204" pitchFamily="34" charset="0"/>
              </a:rPr>
              <a:t>üreç şöyle işler:</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tr-TR" altLang="tr-TR" sz="1800" b="0" i="0" u="none" strike="noStrike" cap="none" normalizeH="0" baseline="0" dirty="0">
                <a:ln>
                  <a:noFill/>
                </a:ln>
                <a:solidFill>
                  <a:schemeClr val="tx1"/>
                </a:solidFill>
                <a:effectLst/>
                <a:latin typeface="Arial" panose="020B0604020202020204" pitchFamily="34" charset="0"/>
              </a:rPr>
              <a:t>Kullanıcının sorusu </a:t>
            </a:r>
            <a:r>
              <a:rPr kumimoji="0" lang="tr-TR" altLang="tr-TR" sz="1800" b="0" i="0" u="none" strike="noStrike" cap="none" normalizeH="0" baseline="0" dirty="0" err="1">
                <a:ln>
                  <a:noFill/>
                </a:ln>
                <a:solidFill>
                  <a:schemeClr val="tx1"/>
                </a:solidFill>
                <a:effectLst/>
                <a:latin typeface="Arial" panose="020B0604020202020204" pitchFamily="34" charset="0"/>
              </a:rPr>
              <a:t>embedding’e</a:t>
            </a:r>
            <a:r>
              <a:rPr kumimoji="0" lang="tr-TR" altLang="tr-TR" sz="1800" b="0" i="0" u="none" strike="noStrike" cap="none" normalizeH="0" baseline="0" dirty="0">
                <a:ln>
                  <a:noFill/>
                </a:ln>
                <a:solidFill>
                  <a:schemeClr val="tx1"/>
                </a:solidFill>
                <a:effectLst/>
                <a:latin typeface="Arial" panose="020B0604020202020204" pitchFamily="34" charset="0"/>
              </a:rPr>
              <a:t> çevrilir.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tr-TR" altLang="tr-TR" sz="1800" b="0" i="0" u="none" strike="noStrike" cap="none" normalizeH="0" baseline="0" dirty="0">
                <a:ln>
                  <a:noFill/>
                </a:ln>
                <a:solidFill>
                  <a:schemeClr val="tx1"/>
                </a:solidFill>
                <a:effectLst/>
                <a:latin typeface="Arial" panose="020B0604020202020204" pitchFamily="34" charset="0"/>
              </a:rPr>
              <a:t>Benzer belgeler </a:t>
            </a:r>
            <a:r>
              <a:rPr kumimoji="0" lang="tr-TR" altLang="tr-TR" sz="1800" b="0" i="0" u="none" strike="noStrike" cap="none" normalizeH="0" baseline="0" dirty="0" err="1">
                <a:ln>
                  <a:noFill/>
                </a:ln>
                <a:solidFill>
                  <a:schemeClr val="tx1"/>
                </a:solidFill>
                <a:effectLst/>
                <a:latin typeface="Arial" panose="020B0604020202020204" pitchFamily="34" charset="0"/>
              </a:rPr>
              <a:t>cosine</a:t>
            </a:r>
            <a:r>
              <a:rPr kumimoji="0" lang="tr-TR" altLang="tr-TR" sz="1800" b="0" i="0" u="none" strike="noStrike" cap="none" normalizeH="0" baseline="0" dirty="0">
                <a:ln>
                  <a:noFill/>
                </a:ln>
                <a:solidFill>
                  <a:schemeClr val="tx1"/>
                </a:solidFill>
                <a:effectLst/>
                <a:latin typeface="Arial" panose="020B0604020202020204" pitchFamily="34" charset="0"/>
              </a:rPr>
              <a:t> </a:t>
            </a:r>
            <a:r>
              <a:rPr kumimoji="0" lang="tr-TR" altLang="tr-TR" sz="1800" b="0" i="0" u="none" strike="noStrike" cap="none" normalizeH="0" baseline="0" dirty="0" err="1">
                <a:ln>
                  <a:noFill/>
                </a:ln>
                <a:solidFill>
                  <a:schemeClr val="tx1"/>
                </a:solidFill>
                <a:effectLst/>
                <a:latin typeface="Arial" panose="020B0604020202020204" pitchFamily="34" charset="0"/>
              </a:rPr>
              <a:t>similarity</a:t>
            </a:r>
            <a:r>
              <a:rPr kumimoji="0" lang="tr-TR" altLang="tr-TR" sz="1800" b="0" i="0" u="none" strike="noStrike" cap="none" normalizeH="0" baseline="0" dirty="0">
                <a:ln>
                  <a:noFill/>
                </a:ln>
                <a:solidFill>
                  <a:schemeClr val="tx1"/>
                </a:solidFill>
                <a:effectLst/>
                <a:latin typeface="Arial" panose="020B0604020202020204" pitchFamily="34" charset="0"/>
              </a:rPr>
              <a:t> ile bulunur.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tr-TR" altLang="tr-TR" sz="1800" b="0" i="0" u="none" strike="noStrike" cap="none" normalizeH="0" baseline="0" dirty="0">
                <a:ln>
                  <a:noFill/>
                </a:ln>
                <a:solidFill>
                  <a:schemeClr val="tx1"/>
                </a:solidFill>
                <a:effectLst/>
                <a:latin typeface="Arial" panose="020B0604020202020204" pitchFamily="34" charset="0"/>
              </a:rPr>
              <a:t>En alakalı bilgiler yapay zekâya verilir. </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tr-TR" altLang="tr-TR" sz="1800" b="0" i="0" u="none" strike="noStrike" cap="none" normalizeH="0" baseline="0" dirty="0">
                <a:ln>
                  <a:noFill/>
                </a:ln>
                <a:solidFill>
                  <a:schemeClr val="tx1"/>
                </a:solidFill>
                <a:effectLst/>
                <a:latin typeface="Arial" panose="020B0604020202020204" pitchFamily="34" charset="0"/>
              </a:rPr>
              <a:t>Yapay zekâ bu bilgilere dayanarak cevap oluşturur.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800" b="0" i="0" u="none" strike="noStrike" cap="none" normalizeH="0" baseline="0" dirty="0">
                <a:ln>
                  <a:noFill/>
                </a:ln>
                <a:solidFill>
                  <a:schemeClr val="tx1"/>
                </a:solidFill>
                <a:effectLst/>
                <a:latin typeface="Arial" panose="020B0604020202020204" pitchFamily="34" charset="0"/>
              </a:rPr>
              <a:t>Kısaca RAG: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Bilgiyi ezberden üretmek yerine,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Önce doğru kaynağı bulup,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Sonra cevap üretme yöntemidir.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tr-TR" altLang="tr-T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855410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8A6218A-F5E2-64B5-E652-9AD31E975951}"/>
              </a:ext>
            </a:extLst>
          </p:cNvPr>
          <p:cNvSpPr>
            <a:spLocks noGrp="1"/>
          </p:cNvSpPr>
          <p:nvPr>
            <p:ph type="title"/>
          </p:nvPr>
        </p:nvSpPr>
        <p:spPr/>
        <p:txBody>
          <a:bodyPr/>
          <a:lstStyle/>
          <a:p>
            <a:r>
              <a:rPr lang="tr-TR" b="0" i="0" u="sng" dirty="0">
                <a:solidFill>
                  <a:schemeClr val="tx2"/>
                </a:solidFill>
                <a:effectLst/>
                <a:latin typeface="Monaco"/>
              </a:rPr>
              <a:t>Fine-tuning</a:t>
            </a:r>
            <a:br>
              <a:rPr lang="tr-TR" b="0" i="0" dirty="0">
                <a:solidFill>
                  <a:schemeClr val="tx2"/>
                </a:solidFill>
                <a:effectLst/>
                <a:latin typeface="Monaco"/>
              </a:rPr>
            </a:br>
            <a:endParaRPr lang="tr-TR" dirty="0">
              <a:solidFill>
                <a:schemeClr val="tx2"/>
              </a:solidFill>
            </a:endParaRPr>
          </a:p>
        </p:txBody>
      </p:sp>
      <p:sp>
        <p:nvSpPr>
          <p:cNvPr id="3" name="İçerik Yer Tutucusu 2">
            <a:extLst>
              <a:ext uri="{FF2B5EF4-FFF2-40B4-BE49-F238E27FC236}">
                <a16:creationId xmlns:a16="http://schemas.microsoft.com/office/drawing/2014/main" id="{E108B5FC-945C-7413-F89C-DA2910819346}"/>
              </a:ext>
            </a:extLst>
          </p:cNvPr>
          <p:cNvSpPr>
            <a:spLocks noGrp="1"/>
          </p:cNvSpPr>
          <p:nvPr>
            <p:ph sz="half" idx="1"/>
          </p:nvPr>
        </p:nvSpPr>
        <p:spPr>
          <a:xfrm>
            <a:off x="0" y="1644243"/>
            <a:ext cx="6526635" cy="4915948"/>
          </a:xfrm>
        </p:spPr>
        <p:txBody>
          <a:bodyPr>
            <a:normAutofit/>
          </a:bodyPr>
          <a:lstStyle/>
          <a:p>
            <a:r>
              <a:rPr lang="tr-TR" b="0" i="0" dirty="0">
                <a:solidFill>
                  <a:schemeClr val="tx2"/>
                </a:solidFill>
                <a:effectLst/>
                <a:latin typeface="-apple-system"/>
              </a:rPr>
              <a:t>Fine-tuning (ince ayar)</a:t>
            </a:r>
            <a:r>
              <a:rPr lang="tr-TR" b="0" i="0" dirty="0">
                <a:solidFill>
                  <a:srgbClr val="2C2F34"/>
                </a:solidFill>
                <a:effectLst/>
                <a:latin typeface="-apple-system"/>
              </a:rPr>
              <a:t>  </a:t>
            </a:r>
            <a:r>
              <a:rPr lang="tr-TR" b="0" i="0" dirty="0">
                <a:solidFill>
                  <a:schemeClr val="tx2"/>
                </a:solidFill>
                <a:effectLst/>
                <a:latin typeface="-apple-system"/>
              </a:rPr>
              <a:t>belirli bir görevdeki performansı artırmak için önceden eğitilmiş bir modelin parametrelerini ayarlama işlemidir.</a:t>
            </a:r>
          </a:p>
          <a:p>
            <a:r>
              <a:rPr lang="tr-TR" b="0" i="0" dirty="0" err="1">
                <a:solidFill>
                  <a:schemeClr val="tx2"/>
                </a:solidFill>
                <a:effectLst/>
                <a:latin typeface="-apple-system"/>
              </a:rPr>
              <a:t>LLM’</a:t>
            </a:r>
            <a:r>
              <a:rPr lang="tr-TR" dirty="0" err="1">
                <a:solidFill>
                  <a:schemeClr val="tx2"/>
                </a:solidFill>
                <a:effectLst/>
                <a:latin typeface="-apple-system"/>
              </a:rPr>
              <a:t>lerin</a:t>
            </a:r>
            <a:r>
              <a:rPr lang="tr-TR" dirty="0">
                <a:solidFill>
                  <a:schemeClr val="tx2"/>
                </a:solidFill>
                <a:effectLst/>
                <a:latin typeface="-apple-system"/>
              </a:rPr>
              <a:t> </a:t>
            </a:r>
            <a:r>
              <a:rPr lang="tr-TR" b="0" i="0" dirty="0">
                <a:solidFill>
                  <a:schemeClr val="tx2"/>
                </a:solidFill>
                <a:effectLst/>
                <a:latin typeface="-apple-system"/>
              </a:rPr>
              <a:t> belirli görevler için yeteneğini geliştirmek üzere etiketli örneklerden oluşan bir veri kümesi ile güncellendiği bir denetimli öğrenme sürecidir.</a:t>
            </a:r>
          </a:p>
          <a:p>
            <a:r>
              <a:rPr lang="tr-TR" b="0" i="0" dirty="0">
                <a:solidFill>
                  <a:schemeClr val="tx2"/>
                </a:solidFill>
                <a:effectLst/>
                <a:latin typeface="-apple-system"/>
              </a:rPr>
              <a:t> </a:t>
            </a:r>
            <a:r>
              <a:rPr lang="tr-TR" b="0" i="0" dirty="0" err="1">
                <a:solidFill>
                  <a:schemeClr val="tx2"/>
                </a:solidFill>
                <a:effectLst/>
                <a:latin typeface="-apple-system"/>
              </a:rPr>
              <a:t>LLM’lerin</a:t>
            </a:r>
            <a:r>
              <a:rPr lang="tr-TR" b="0" i="0" dirty="0">
                <a:solidFill>
                  <a:schemeClr val="tx2"/>
                </a:solidFill>
                <a:effectLst/>
                <a:latin typeface="-apple-system"/>
              </a:rPr>
              <a:t> benzersiz iş ihtiyaçlarına uyacak ve en iyi performansı gösterecek şekilde uyarlanmasına olanak tanıdığından, transfer öğrenimi yoluyla </a:t>
            </a:r>
            <a:r>
              <a:rPr lang="tr-TR" b="0" i="0" dirty="0" err="1">
                <a:solidFill>
                  <a:schemeClr val="tx2"/>
                </a:solidFill>
                <a:effectLst/>
                <a:latin typeface="-apple-system"/>
              </a:rPr>
              <a:t>LLM’lerin</a:t>
            </a:r>
            <a:r>
              <a:rPr lang="tr-TR" b="0" i="0" dirty="0">
                <a:solidFill>
                  <a:schemeClr val="tx2"/>
                </a:solidFill>
                <a:effectLst/>
                <a:latin typeface="-apple-system"/>
              </a:rPr>
              <a:t> geliştirilmesinde önemli bir adımdır.</a:t>
            </a:r>
            <a:endParaRPr lang="tr-TR" dirty="0">
              <a:solidFill>
                <a:schemeClr val="tx2"/>
              </a:solidFill>
            </a:endParaRPr>
          </a:p>
          <a:p>
            <a:endParaRPr lang="tr-TR" dirty="0"/>
          </a:p>
        </p:txBody>
      </p:sp>
      <p:pic>
        <p:nvPicPr>
          <p:cNvPr id="5" name="İçerik Yer Tutucusu 4">
            <a:extLst>
              <a:ext uri="{FF2B5EF4-FFF2-40B4-BE49-F238E27FC236}">
                <a16:creationId xmlns:a16="http://schemas.microsoft.com/office/drawing/2014/main" id="{1C8C8EAE-FF19-3A37-8567-D3C5DE2F25EB}"/>
              </a:ext>
            </a:extLst>
          </p:cNvPr>
          <p:cNvPicPr>
            <a:picLocks noGrp="1" noChangeAspect="1"/>
          </p:cNvPicPr>
          <p:nvPr>
            <p:ph sz="half" idx="2"/>
          </p:nvPr>
        </p:nvPicPr>
        <p:blipFill>
          <a:blip r:embed="rId2"/>
          <a:stretch>
            <a:fillRect/>
          </a:stretch>
        </p:blipFill>
        <p:spPr>
          <a:xfrm>
            <a:off x="6635691" y="1853967"/>
            <a:ext cx="5360565" cy="3590487"/>
          </a:xfrm>
          <a:prstGeom prst="rect">
            <a:avLst/>
          </a:prstGeom>
        </p:spPr>
      </p:pic>
    </p:spTree>
    <p:extLst>
      <p:ext uri="{BB962C8B-B14F-4D97-AF65-F5344CB8AC3E}">
        <p14:creationId xmlns:p14="http://schemas.microsoft.com/office/powerpoint/2010/main" val="4142525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D6E0F61-75E5-6CB1-EDC6-C70D7C13C4A7}"/>
              </a:ext>
            </a:extLst>
          </p:cNvPr>
          <p:cNvSpPr>
            <a:spLocks noGrp="1"/>
          </p:cNvSpPr>
          <p:nvPr>
            <p:ph type="title"/>
          </p:nvPr>
        </p:nvSpPr>
        <p:spPr/>
        <p:txBody>
          <a:bodyPr/>
          <a:lstStyle/>
          <a:p>
            <a:r>
              <a:rPr lang="tr-TR" b="0" i="0" u="sng" dirty="0">
                <a:solidFill>
                  <a:schemeClr val="tx2"/>
                </a:solidFill>
                <a:effectLst/>
                <a:latin typeface="Monaco"/>
              </a:rPr>
              <a:t>RAG </a:t>
            </a:r>
            <a:r>
              <a:rPr lang="tr-TR" b="0" i="0" u="sng" dirty="0" err="1">
                <a:solidFill>
                  <a:schemeClr val="tx2"/>
                </a:solidFill>
                <a:effectLst/>
                <a:latin typeface="Monaco"/>
              </a:rPr>
              <a:t>vs</a:t>
            </a:r>
            <a:r>
              <a:rPr lang="tr-TR" b="0" i="0" u="sng" dirty="0">
                <a:solidFill>
                  <a:schemeClr val="tx2"/>
                </a:solidFill>
                <a:effectLst/>
                <a:latin typeface="Monaco"/>
              </a:rPr>
              <a:t> Fine-tuning</a:t>
            </a:r>
            <a:br>
              <a:rPr lang="tr-TR" b="0" i="0" dirty="0">
                <a:solidFill>
                  <a:srgbClr val="B5E853"/>
                </a:solidFill>
                <a:effectLst/>
                <a:latin typeface="Monaco"/>
              </a:rPr>
            </a:br>
            <a:endParaRPr lang="tr-TR" dirty="0"/>
          </a:p>
        </p:txBody>
      </p:sp>
      <p:sp>
        <p:nvSpPr>
          <p:cNvPr id="3" name="İçerik Yer Tutucusu 2">
            <a:extLst>
              <a:ext uri="{FF2B5EF4-FFF2-40B4-BE49-F238E27FC236}">
                <a16:creationId xmlns:a16="http://schemas.microsoft.com/office/drawing/2014/main" id="{43B91570-AA51-6249-8845-4EF3B5D3E684}"/>
              </a:ext>
            </a:extLst>
          </p:cNvPr>
          <p:cNvSpPr>
            <a:spLocks noGrp="1"/>
          </p:cNvSpPr>
          <p:nvPr>
            <p:ph sz="half" idx="1"/>
          </p:nvPr>
        </p:nvSpPr>
        <p:spPr>
          <a:xfrm>
            <a:off x="75501" y="2088319"/>
            <a:ext cx="6135593" cy="4160081"/>
          </a:xfrm>
        </p:spPr>
        <p:txBody>
          <a:bodyPr>
            <a:normAutofit/>
          </a:bodyPr>
          <a:lstStyle/>
          <a:p>
            <a:pPr algn="l">
              <a:buFont typeface="Arial" panose="020B0604020202020204" pitchFamily="34" charset="0"/>
              <a:buChar char="•"/>
            </a:pPr>
            <a:r>
              <a:rPr lang="tr-TR" b="1" i="0" dirty="0">
                <a:solidFill>
                  <a:srgbClr val="D1D5DB"/>
                </a:solidFill>
                <a:effectLst/>
                <a:latin typeface="Inter"/>
              </a:rPr>
              <a:t>RAG:</a:t>
            </a:r>
            <a:r>
              <a:rPr lang="tr-TR" b="0" i="0" dirty="0">
                <a:solidFill>
                  <a:srgbClr val="D1D5DB"/>
                </a:solidFill>
                <a:effectLst/>
                <a:latin typeface="Inter"/>
              </a:rPr>
              <a:t> Dış bilgi kaynakları kullanır, veri güncellemesi kolaydır, daha düşük maliyetlidir. Güncel ve spesifik bilgi gerektiren uygulamalar için idealdir.</a:t>
            </a:r>
          </a:p>
          <a:p>
            <a:pPr algn="l">
              <a:buFont typeface="Arial" panose="020B0604020202020204" pitchFamily="34" charset="0"/>
              <a:buChar char="•"/>
            </a:pPr>
            <a:r>
              <a:rPr lang="tr-TR" b="1" i="0" dirty="0">
                <a:solidFill>
                  <a:srgbClr val="D1D5DB"/>
                </a:solidFill>
                <a:effectLst/>
                <a:latin typeface="Inter"/>
              </a:rPr>
              <a:t>Fine-tuning:</a:t>
            </a:r>
            <a:r>
              <a:rPr lang="tr-TR" b="0" i="0" dirty="0">
                <a:solidFill>
                  <a:srgbClr val="D1D5DB"/>
                </a:solidFill>
                <a:effectLst/>
                <a:latin typeface="Inter"/>
              </a:rPr>
              <a:t> Modelin ağırlıklarını günceller, belirli bir görev veya stil için optimize eder, daha yüksek maliyetlidir. Tutarlı ton ve format gerektiren uygulamalar için uygundur.</a:t>
            </a:r>
          </a:p>
          <a:p>
            <a:pPr algn="l"/>
            <a:r>
              <a:rPr lang="tr-TR" b="0" i="0" dirty="0">
                <a:solidFill>
                  <a:srgbClr val="D1D5DB"/>
                </a:solidFill>
                <a:effectLst/>
                <a:latin typeface="Inter"/>
              </a:rPr>
              <a:t>2026'da en iyi sonuçlar genellikle RAG ve </a:t>
            </a:r>
            <a:r>
              <a:rPr lang="tr-TR" b="0" i="0" dirty="0" err="1">
                <a:solidFill>
                  <a:srgbClr val="D1D5DB"/>
                </a:solidFill>
                <a:effectLst/>
                <a:latin typeface="Inter"/>
              </a:rPr>
              <a:t>fine-tuning'in</a:t>
            </a:r>
            <a:r>
              <a:rPr lang="tr-TR" b="0" i="0" dirty="0">
                <a:solidFill>
                  <a:srgbClr val="D1D5DB"/>
                </a:solidFill>
                <a:effectLst/>
                <a:latin typeface="Inter"/>
              </a:rPr>
              <a:t> birlikte kullanılmasıyla elde edilmektedir.</a:t>
            </a:r>
          </a:p>
          <a:p>
            <a:endParaRPr lang="tr-TR" dirty="0">
              <a:solidFill>
                <a:schemeClr val="tx2"/>
              </a:solidFill>
            </a:endParaRPr>
          </a:p>
        </p:txBody>
      </p:sp>
      <p:pic>
        <p:nvPicPr>
          <p:cNvPr id="5" name="İçerik Yer Tutucusu 4">
            <a:extLst>
              <a:ext uri="{FF2B5EF4-FFF2-40B4-BE49-F238E27FC236}">
                <a16:creationId xmlns:a16="http://schemas.microsoft.com/office/drawing/2014/main" id="{E4ECF0F1-7AAB-C2AD-F760-E43BC1EF1D28}"/>
              </a:ext>
            </a:extLst>
          </p:cNvPr>
          <p:cNvPicPr>
            <a:picLocks noGrp="1" noChangeAspect="1"/>
          </p:cNvPicPr>
          <p:nvPr>
            <p:ph sz="half" idx="2"/>
          </p:nvPr>
        </p:nvPicPr>
        <p:blipFill>
          <a:blip r:embed="rId2"/>
          <a:stretch>
            <a:fillRect/>
          </a:stretch>
        </p:blipFill>
        <p:spPr>
          <a:xfrm>
            <a:off x="6211094" y="2529681"/>
            <a:ext cx="5567049" cy="3015442"/>
          </a:xfrm>
          <a:prstGeom prst="rect">
            <a:avLst/>
          </a:prstGeom>
        </p:spPr>
      </p:pic>
    </p:spTree>
    <p:extLst>
      <p:ext uri="{BB962C8B-B14F-4D97-AF65-F5344CB8AC3E}">
        <p14:creationId xmlns:p14="http://schemas.microsoft.com/office/powerpoint/2010/main" val="3317021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3E59FE3-9001-9E71-051A-D62D6677C815}"/>
              </a:ext>
            </a:extLst>
          </p:cNvPr>
          <p:cNvSpPr>
            <a:spLocks noGrp="1"/>
          </p:cNvSpPr>
          <p:nvPr>
            <p:ph type="title"/>
          </p:nvPr>
        </p:nvSpPr>
        <p:spPr/>
        <p:txBody>
          <a:bodyPr/>
          <a:lstStyle/>
          <a:p>
            <a:pPr algn="l"/>
            <a:r>
              <a:rPr lang="tr-TR" dirty="0"/>
              <a:t>kaynakça</a:t>
            </a:r>
          </a:p>
        </p:txBody>
      </p:sp>
      <p:sp>
        <p:nvSpPr>
          <p:cNvPr id="3" name="İçerik Yer Tutucusu 2">
            <a:extLst>
              <a:ext uri="{FF2B5EF4-FFF2-40B4-BE49-F238E27FC236}">
                <a16:creationId xmlns:a16="http://schemas.microsoft.com/office/drawing/2014/main" id="{EF6EF82F-D37E-1691-C691-5BFE3B6C57EF}"/>
              </a:ext>
            </a:extLst>
          </p:cNvPr>
          <p:cNvSpPr>
            <a:spLocks noGrp="1"/>
          </p:cNvSpPr>
          <p:nvPr>
            <p:ph idx="1"/>
          </p:nvPr>
        </p:nvSpPr>
        <p:spPr>
          <a:xfrm>
            <a:off x="545284" y="1627463"/>
            <a:ext cx="10722273" cy="4714613"/>
          </a:xfrm>
        </p:spPr>
        <p:txBody>
          <a:bodyPr/>
          <a:lstStyle/>
          <a:p>
            <a:pPr>
              <a:buFont typeface="Courier New" panose="02070309020205020404" pitchFamily="49" charset="0"/>
              <a:buChar char="o"/>
            </a:pPr>
            <a:r>
              <a:rPr lang="tr-TR" dirty="0">
                <a:solidFill>
                  <a:schemeClr val="tx2"/>
                </a:solidFill>
                <a:hlinkClick r:id="rId2">
                  <a:extLst>
                    <a:ext uri="{A12FA001-AC4F-418D-AE19-62706E023703}">
                      <ahyp:hlinkClr xmlns:ahyp="http://schemas.microsoft.com/office/drawing/2018/hyperlinkcolor" val="tx"/>
                    </a:ext>
                  </a:extLst>
                </a:hlinkClick>
              </a:rPr>
              <a:t>https://ekolsoft.com/tr/b/rag-sistemi-nedir-retrieval-augmented-generation-rehberi</a:t>
            </a:r>
            <a:endParaRPr lang="tr-TR" dirty="0">
              <a:solidFill>
                <a:schemeClr val="tx2"/>
              </a:solidFill>
            </a:endParaRPr>
          </a:p>
          <a:p>
            <a:pPr>
              <a:buFont typeface="Courier New" panose="02070309020205020404" pitchFamily="49" charset="0"/>
              <a:buChar char="o"/>
            </a:pPr>
            <a:r>
              <a:rPr lang="tr-TR" dirty="0">
                <a:solidFill>
                  <a:schemeClr val="tx2"/>
                </a:solidFill>
                <a:hlinkClick r:id="rId3">
                  <a:extLst>
                    <a:ext uri="{A12FA001-AC4F-418D-AE19-62706E023703}">
                      <ahyp:hlinkClr xmlns:ahyp="http://schemas.microsoft.com/office/drawing/2018/hyperlinkcolor" val="tx"/>
                    </a:ext>
                  </a:extLst>
                </a:hlinkClick>
              </a:rPr>
              <a:t>https://blog.openzeka.com/ai/rag-retrieval-augmented-generation-nedir/</a:t>
            </a:r>
            <a:endParaRPr lang="tr-TR" dirty="0">
              <a:solidFill>
                <a:schemeClr val="tx2"/>
              </a:solidFill>
            </a:endParaRPr>
          </a:p>
          <a:p>
            <a:pPr>
              <a:buFont typeface="Courier New" panose="02070309020205020404" pitchFamily="49" charset="0"/>
              <a:buChar char="o"/>
            </a:pPr>
            <a:r>
              <a:rPr lang="tr-TR" dirty="0">
                <a:solidFill>
                  <a:schemeClr val="tx2"/>
                </a:solidFill>
                <a:hlinkClick r:id="rId4">
                  <a:extLst>
                    <a:ext uri="{A12FA001-AC4F-418D-AE19-62706E023703}">
                      <ahyp:hlinkClr xmlns:ahyp="http://schemas.microsoft.com/office/drawing/2018/hyperlinkcolor" val="tx"/>
                    </a:ext>
                  </a:extLst>
                </a:hlinkClick>
              </a:rPr>
              <a:t>https://medium.com/@zehrasultanguruz/rag-retrieval-augmented-generation-embedding-vector-db-cosine-similarity-ragin-anatomisi-9e631bf507c3</a:t>
            </a:r>
            <a:endParaRPr lang="tr-TR" dirty="0">
              <a:solidFill>
                <a:schemeClr val="tx2"/>
              </a:solidFill>
            </a:endParaRPr>
          </a:p>
          <a:p>
            <a:pPr>
              <a:buFont typeface="Courier New" panose="02070309020205020404" pitchFamily="49" charset="0"/>
              <a:buChar char="o"/>
            </a:pPr>
            <a:r>
              <a:rPr lang="tr-TR" dirty="0">
                <a:solidFill>
                  <a:schemeClr val="tx2"/>
                </a:solidFill>
                <a:hlinkClick r:id="rId5">
                  <a:extLst>
                    <a:ext uri="{A12FA001-AC4F-418D-AE19-62706E023703}">
                      <ahyp:hlinkClr xmlns:ahyp="http://schemas.microsoft.com/office/drawing/2018/hyperlinkcolor" val="tx"/>
                    </a:ext>
                  </a:extLst>
                </a:hlinkClick>
              </a:rPr>
              <a:t>https://www.komtas.com/post/rag-nedir-rag-nasil-calisir</a:t>
            </a:r>
            <a:endParaRPr lang="tr-TR" dirty="0">
              <a:solidFill>
                <a:schemeClr val="tx2"/>
              </a:solidFill>
            </a:endParaRPr>
          </a:p>
          <a:p>
            <a:pPr>
              <a:buFont typeface="Courier New" panose="02070309020205020404" pitchFamily="49" charset="0"/>
              <a:buChar char="o"/>
            </a:pPr>
            <a:r>
              <a:rPr lang="tr-TR" dirty="0">
                <a:solidFill>
                  <a:schemeClr val="tx2"/>
                </a:solidFill>
                <a:hlinkClick r:id="rId6">
                  <a:extLst>
                    <a:ext uri="{A12FA001-AC4F-418D-AE19-62706E023703}">
                      <ahyp:hlinkClr xmlns:ahyp="http://schemas.microsoft.com/office/drawing/2018/hyperlinkcolor" val="tx"/>
                    </a:ext>
                  </a:extLst>
                </a:hlinkClick>
              </a:rPr>
              <a:t>https://www.komtas.com/glossary/embedding-nedir</a:t>
            </a:r>
            <a:endParaRPr lang="tr-TR" dirty="0">
              <a:solidFill>
                <a:schemeClr val="tx2"/>
              </a:solidFill>
            </a:endParaRPr>
          </a:p>
          <a:p>
            <a:pPr>
              <a:buFont typeface="Courier New" panose="02070309020205020404" pitchFamily="49" charset="0"/>
              <a:buChar char="o"/>
            </a:pPr>
            <a:r>
              <a:rPr lang="tr-TR" dirty="0">
                <a:solidFill>
                  <a:schemeClr val="tx2"/>
                </a:solidFill>
                <a:hlinkClick r:id="rId7">
                  <a:extLst>
                    <a:ext uri="{A12FA001-AC4F-418D-AE19-62706E023703}">
                      <ahyp:hlinkClr xmlns:ahyp="http://schemas.microsoft.com/office/drawing/2018/hyperlinkcolor" val="tx"/>
                    </a:ext>
                  </a:extLst>
                </a:hlinkClick>
              </a:rPr>
              <a:t>https://www.sap.com/turkey/resources/what-is-a-vector-database</a:t>
            </a:r>
            <a:endParaRPr lang="tr-TR" dirty="0">
              <a:solidFill>
                <a:schemeClr val="tx2"/>
              </a:solidFill>
            </a:endParaRPr>
          </a:p>
          <a:p>
            <a:pPr>
              <a:buFont typeface="Courier New" panose="02070309020205020404" pitchFamily="49" charset="0"/>
              <a:buChar char="o"/>
            </a:pPr>
            <a:r>
              <a:rPr lang="tr-TR" dirty="0">
                <a:solidFill>
                  <a:schemeClr val="tx2"/>
                </a:solidFill>
                <a:hlinkClick r:id="rId8">
                  <a:extLst>
                    <a:ext uri="{A12FA001-AC4F-418D-AE19-62706E023703}">
                      <ahyp:hlinkClr xmlns:ahyp="http://schemas.microsoft.com/office/drawing/2018/hyperlinkcolor" val="tx"/>
                    </a:ext>
                  </a:extLst>
                </a:hlinkClick>
              </a:rPr>
              <a:t>https://www.cozumpark.com/fine-tuning-nedir/</a:t>
            </a:r>
            <a:endParaRPr lang="tr-TR" dirty="0">
              <a:solidFill>
                <a:schemeClr val="tx2"/>
              </a:solidFill>
            </a:endParaRPr>
          </a:p>
          <a:p>
            <a:endParaRPr lang="tr-TR" dirty="0"/>
          </a:p>
        </p:txBody>
      </p:sp>
    </p:spTree>
    <p:extLst>
      <p:ext uri="{BB962C8B-B14F-4D97-AF65-F5344CB8AC3E}">
        <p14:creationId xmlns:p14="http://schemas.microsoft.com/office/powerpoint/2010/main" val="10769278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E9ED75A-30A4-A3AC-C9C7-5BBF4108F579}"/>
              </a:ext>
            </a:extLst>
          </p:cNvPr>
          <p:cNvSpPr>
            <a:spLocks noGrp="1"/>
          </p:cNvSpPr>
          <p:nvPr>
            <p:ph type="title"/>
          </p:nvPr>
        </p:nvSpPr>
        <p:spPr>
          <a:xfrm>
            <a:off x="913795" y="609600"/>
            <a:ext cx="10353761" cy="5724088"/>
          </a:xfrm>
        </p:spPr>
        <p:txBody>
          <a:bodyPr/>
          <a:lstStyle/>
          <a:p>
            <a:r>
              <a:rPr lang="tr-TR" dirty="0"/>
              <a:t>Dinlediğiniz için teşekkürler</a:t>
            </a:r>
          </a:p>
        </p:txBody>
      </p:sp>
    </p:spTree>
    <p:extLst>
      <p:ext uri="{BB962C8B-B14F-4D97-AF65-F5344CB8AC3E}">
        <p14:creationId xmlns:p14="http://schemas.microsoft.com/office/powerpoint/2010/main" val="42872460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Gri Tonlamalı">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alibri-Cambria">
      <a:majorFont>
        <a:latin typeface="Calibri" panose="020F0502020204030204"/>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300</TotalTime>
  <Words>1135</Words>
  <Application>Microsoft Office PowerPoint</Application>
  <PresentationFormat>Geniş ekran</PresentationFormat>
  <Paragraphs>99</Paragraphs>
  <Slides>15</Slides>
  <Notes>0</Notes>
  <HiddenSlides>0</HiddenSlides>
  <MMClips>0</MMClips>
  <ScaleCrop>false</ScaleCrop>
  <HeadingPairs>
    <vt:vector size="6" baseType="variant">
      <vt:variant>
        <vt:lpstr>Kullanılan Yazı Tipleri</vt:lpstr>
      </vt:variant>
      <vt:variant>
        <vt:i4>13</vt:i4>
      </vt:variant>
      <vt:variant>
        <vt:lpstr>Tema</vt:lpstr>
      </vt:variant>
      <vt:variant>
        <vt:i4>1</vt:i4>
      </vt:variant>
      <vt:variant>
        <vt:lpstr>Slayt Başlıkları</vt:lpstr>
      </vt:variant>
      <vt:variant>
        <vt:i4>15</vt:i4>
      </vt:variant>
    </vt:vector>
  </HeadingPairs>
  <TitlesOfParts>
    <vt:vector size="29" baseType="lpstr">
      <vt:lpstr>72 Brand Variable</vt:lpstr>
      <vt:lpstr>-apple-system</vt:lpstr>
      <vt:lpstr>Arial</vt:lpstr>
      <vt:lpstr>Calibri</vt:lpstr>
      <vt:lpstr>Cambria</vt:lpstr>
      <vt:lpstr>Courier New</vt:lpstr>
      <vt:lpstr>Inter</vt:lpstr>
      <vt:lpstr>Monaco</vt:lpstr>
      <vt:lpstr>sohne</vt:lpstr>
      <vt:lpstr>source-code-pro</vt:lpstr>
      <vt:lpstr>source-serif-pro</vt:lpstr>
      <vt:lpstr>Ubuntu</vt:lpstr>
      <vt:lpstr>Wingdings</vt:lpstr>
      <vt:lpstr>Damask</vt:lpstr>
      <vt:lpstr>                        SUNUM 18: RAG        (Retrieval-Augmented GeneratioN)</vt:lpstr>
      <vt:lpstr>RAG (Retrieval-Augmented GeneratioN) NEDİR?</vt:lpstr>
      <vt:lpstr>RAG NASIL ÇALIŞIR ?</vt:lpstr>
      <vt:lpstr>RAG NASIL ÇALIŞIR ?</vt:lpstr>
      <vt:lpstr>RAG  ÇALIŞMA BASAMAKLARI</vt:lpstr>
      <vt:lpstr>  Embedding</vt:lpstr>
      <vt:lpstr> Vector DATABASE </vt:lpstr>
      <vt:lpstr>Retrieval</vt:lpstr>
      <vt:lpstr>RETRİEVAL</vt:lpstr>
      <vt:lpstr>-Cosine similarity ÖRNEK             - RAGDAKİ KULLANIMI VE DEVAMI </vt:lpstr>
      <vt:lpstr>Gerçek hayatla ilişkilendirilen örnekler</vt:lpstr>
      <vt:lpstr>Fine-tuning </vt:lpstr>
      <vt:lpstr>RAG vs Fine-tuning </vt:lpstr>
      <vt:lpstr>kaynakça</vt:lpstr>
      <vt:lpstr>Dinlediğiniz için teşekkürler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SUNUM 18: RAG        (Retrieval-Augmented GeneratioN)</dc:title>
  <dc:creator>Ayşe Hilal Akar</dc:creator>
  <cp:lastModifiedBy>Ayşe Hilal Akar</cp:lastModifiedBy>
  <cp:revision>1</cp:revision>
  <dcterms:created xsi:type="dcterms:W3CDTF">2026-05-10T14:00:19Z</dcterms:created>
  <dcterms:modified xsi:type="dcterms:W3CDTF">2026-05-10T19:00:51Z</dcterms:modified>
</cp:coreProperties>
</file>