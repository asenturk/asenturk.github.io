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03" r:id="rId1"/>
  </p:sldMasterIdLst>
  <p:sldIdLst>
    <p:sldId id="360" r:id="rId2"/>
    <p:sldId id="363" r:id="rId3"/>
    <p:sldId id="369" r:id="rId4"/>
    <p:sldId id="364" r:id="rId5"/>
    <p:sldId id="365" r:id="rId6"/>
    <p:sldId id="367" r:id="rId7"/>
    <p:sldId id="370" r:id="rId8"/>
    <p:sldId id="368" r:id="rId9"/>
    <p:sldId id="366" r:id="rId10"/>
    <p:sldId id="361" r:id="rId11"/>
  </p:sldIdLst>
  <p:sldSz cx="9144000" cy="6858000" type="screen4x3"/>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8228" autoAdjust="0"/>
  </p:normalViewPr>
  <p:slideViewPr>
    <p:cSldViewPr>
      <p:cViewPr varScale="1">
        <p:scale>
          <a:sx n="63" d="100"/>
          <a:sy n="63" d="100"/>
        </p:scale>
        <p:origin x="77" y="39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Freeform 28"/>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lumMod val="75000"/>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tr-TR"/>
              <a:t>Asıl başlık stilini düzenlemek için tıklayın</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a:t>Asıl alt başlık stilini düzenlemek için tıklayın</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4/25/2026</a:t>
            </a:fld>
            <a:endParaRPr lang="en-US"/>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B6F15528-21DE-4FAA-801E-634DDDAF4B2B}" type="slidenum">
              <a:rPr lang="tr-TR" smtClean="0"/>
              <a:t>‹#›</a:t>
            </a:fld>
            <a:endParaRPr lang="tr-TR"/>
          </a:p>
        </p:txBody>
      </p:sp>
    </p:spTree>
    <p:extLst>
      <p:ext uri="{BB962C8B-B14F-4D97-AF65-F5344CB8AC3E}">
        <p14:creationId xmlns:p14="http://schemas.microsoft.com/office/powerpoint/2010/main" val="34482752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tr-TR"/>
              <a:t>Asıl başlık stilini düzenlemek için tıklayın</a:t>
            </a:r>
            <a:endParaRPr lang="en-US" dirty="0"/>
          </a:p>
        </p:txBody>
      </p:sp>
      <p:sp>
        <p:nvSpPr>
          <p:cNvPr id="3" name="Content Placeholder 2"/>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4/25/2026</a:t>
            </a:fld>
            <a:endParaRPr lang="en-US"/>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B6F15528-21DE-4FAA-801E-634DDDAF4B2B}" type="slidenum">
              <a:rPr lang="tr-TR" smtClean="0"/>
              <a:t>‹#›</a:t>
            </a:fld>
            <a:endParaRPr lang="tr-TR"/>
          </a:p>
        </p:txBody>
      </p:sp>
    </p:spTree>
    <p:extLst>
      <p:ext uri="{BB962C8B-B14F-4D97-AF65-F5344CB8AC3E}">
        <p14:creationId xmlns:p14="http://schemas.microsoft.com/office/powerpoint/2010/main" val="6613639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tr-TR"/>
              <a:t>Asıl başlık stilini düzenlemek için tıklayın</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1D8BD707-D9CF-40AE-B4C6-C98DA3205C09}" type="datetimeFigureOut">
              <a:rPr lang="en-US" smtClean="0"/>
              <a:t>4/25/2026</a:t>
            </a:fld>
            <a:endParaRPr lang="en-US"/>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B6F15528-21DE-4FAA-801E-634DDDAF4B2B}" type="slidenum">
              <a:rPr lang="tr-TR" smtClean="0"/>
              <a:t>‹#›</a:t>
            </a:fld>
            <a:endParaRPr lang="tr-TR"/>
          </a:p>
        </p:txBody>
      </p:sp>
    </p:spTree>
    <p:extLst>
      <p:ext uri="{BB962C8B-B14F-4D97-AF65-F5344CB8AC3E}">
        <p14:creationId xmlns:p14="http://schemas.microsoft.com/office/powerpoint/2010/main" val="334004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tr-TR"/>
              <a:t>Asıl başlık stilini düzenlemek için tıklayın</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t>4/25/2026</a:t>
            </a:fld>
            <a:endParaRPr lang="en-US"/>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B6F15528-21DE-4FAA-801E-634DDDAF4B2B}" type="slidenum">
              <a:rPr lang="tr-TR" smtClean="0"/>
              <a:t>‹#›</a:t>
            </a:fld>
            <a:endParaRPr lang="tr-TR"/>
          </a:p>
        </p:txBody>
      </p:sp>
    </p:spTree>
    <p:extLst>
      <p:ext uri="{BB962C8B-B14F-4D97-AF65-F5344CB8AC3E}">
        <p14:creationId xmlns:p14="http://schemas.microsoft.com/office/powerpoint/2010/main" val="28691998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tr-TR"/>
              <a:t>Asıl başlık stilini düzenlemek için tıklayın</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t>4/25/2026</a:t>
            </a:fld>
            <a:endParaRPr lang="en-US"/>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B6F15528-21DE-4FAA-801E-634DDDAF4B2B}" type="slidenum">
              <a:rPr lang="tr-TR" smtClean="0"/>
              <a:t>‹#›</a:t>
            </a:fld>
            <a:endParaRPr lang="tr-TR"/>
          </a:p>
        </p:txBody>
      </p:sp>
    </p:spTree>
    <p:extLst>
      <p:ext uri="{BB962C8B-B14F-4D97-AF65-F5344CB8AC3E}">
        <p14:creationId xmlns:p14="http://schemas.microsoft.com/office/powerpoint/2010/main" val="36263476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tr-TR"/>
              <a:t>Asıl başlık stilini düzenlemek için tıklayın</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t>4/25/2026</a:t>
            </a:fld>
            <a:endParaRPr lang="en-US"/>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B6F15528-21DE-4FAA-801E-634DDDAF4B2B}" type="slidenum">
              <a:rPr lang="tr-TR" smtClean="0"/>
              <a:t>‹#›</a:t>
            </a:fld>
            <a:endParaRPr lang="tr-TR"/>
          </a:p>
        </p:txBody>
      </p:sp>
    </p:spTree>
    <p:extLst>
      <p:ext uri="{BB962C8B-B14F-4D97-AF65-F5344CB8AC3E}">
        <p14:creationId xmlns:p14="http://schemas.microsoft.com/office/powerpoint/2010/main" val="4930016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4/25/2026</a:t>
            </a:fld>
            <a:endParaRPr lang="en-US"/>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B6F15528-21DE-4FAA-801E-634DDDAF4B2B}" type="slidenum">
              <a:rPr lang="tr-TR" smtClean="0"/>
              <a:t>‹#›</a:t>
            </a:fld>
            <a:endParaRPr lang="tr-TR"/>
          </a:p>
        </p:txBody>
      </p:sp>
    </p:spTree>
    <p:extLst>
      <p:ext uri="{BB962C8B-B14F-4D97-AF65-F5344CB8AC3E}">
        <p14:creationId xmlns:p14="http://schemas.microsoft.com/office/powerpoint/2010/main" val="304251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tr-TR"/>
              <a:t>Asıl başlık stilini düzenlemek için tıklayın</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1D8BD707-D9CF-40AE-B4C6-C98DA3205C09}" type="datetimeFigureOut">
              <a:rPr lang="en-US" smtClean="0"/>
              <a:t>4/25/2026</a:t>
            </a:fld>
            <a:endParaRPr lang="en-US"/>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B6F15528-21DE-4FAA-801E-634DDDAF4B2B}" type="slidenum">
              <a:rPr lang="tr-TR" smtClean="0"/>
              <a:t>‹#›</a:t>
            </a:fld>
            <a:endParaRPr lang="tr-TR"/>
          </a:p>
        </p:txBody>
      </p:sp>
    </p:spTree>
    <p:extLst>
      <p:ext uri="{BB962C8B-B14F-4D97-AF65-F5344CB8AC3E}">
        <p14:creationId xmlns:p14="http://schemas.microsoft.com/office/powerpoint/2010/main" val="6490768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1D8BD707-D9CF-40AE-B4C6-C98DA3205C09}" type="datetimeFigureOut">
              <a:rPr lang="en-US" smtClean="0"/>
              <a:t>4/25/2026</a:t>
            </a:fld>
            <a:endParaRPr lang="en-US"/>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B6F15528-21DE-4FAA-801E-634DDDAF4B2B}" type="slidenum">
              <a:rPr lang="tr-TR" smtClean="0"/>
              <a:t>‹#›</a:t>
            </a:fld>
            <a:endParaRPr lang="tr-TR"/>
          </a:p>
        </p:txBody>
      </p:sp>
    </p:spTree>
    <p:extLst>
      <p:ext uri="{BB962C8B-B14F-4D97-AF65-F5344CB8AC3E}">
        <p14:creationId xmlns:p14="http://schemas.microsoft.com/office/powerpoint/2010/main" val="35943952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aşlık ve Resim Yazısı">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tr-TR"/>
              <a:t>Asıl başlık stilini düzenlemek için tıklayın</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1D8BD707-D9CF-40AE-B4C6-C98DA3205C09}" type="datetimeFigureOut">
              <a:rPr lang="en-US" smtClean="0"/>
              <a:t>4/25/2026</a:t>
            </a:fld>
            <a:endParaRPr lang="en-US"/>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B6F15528-21DE-4FAA-801E-634DDDAF4B2B}" type="slidenum">
              <a:rPr lang="tr-TR" smtClean="0"/>
              <a:t>‹#›</a:t>
            </a:fld>
            <a:endParaRPr lang="tr-TR"/>
          </a:p>
        </p:txBody>
      </p:sp>
    </p:spTree>
    <p:extLst>
      <p:ext uri="{BB962C8B-B14F-4D97-AF65-F5344CB8AC3E}">
        <p14:creationId xmlns:p14="http://schemas.microsoft.com/office/powerpoint/2010/main" val="34158315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Resim Yazılı Alıntı">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tr-TR"/>
              <a:t>Asıl başlık stilini düzenlemek için tıklayın</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a:t>Asıl metin stillerini düzenlemek için tıklayın</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1D8BD707-D9CF-40AE-B4C6-C98DA3205C09}" type="datetimeFigureOut">
              <a:rPr lang="en-US" smtClean="0"/>
              <a:t>4/25/2026</a:t>
            </a:fld>
            <a:endParaRPr lang="en-US"/>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B6F15528-21DE-4FAA-801E-634DDDAF4B2B}" type="slidenum">
              <a:rPr lang="tr-TR" smtClean="0"/>
              <a:t>‹#›</a:t>
            </a:fld>
            <a:endParaRPr lang="tr-TR"/>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2412656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İsim Kartı">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tr-TR"/>
              <a:t>Asıl başlık stilini düzenlemek için tıklayın</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1D8BD707-D9CF-40AE-B4C6-C98DA3205C09}" type="datetimeFigureOut">
              <a:rPr lang="en-US" smtClean="0"/>
              <a:t>4/25/2026</a:t>
            </a:fld>
            <a:endParaRPr lang="en-US"/>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B6F15528-21DE-4FAA-801E-634DDDAF4B2B}" type="slidenum">
              <a:rPr lang="tr-TR" smtClean="0"/>
              <a:t>‹#›</a:t>
            </a:fld>
            <a:endParaRPr lang="tr-TR"/>
          </a:p>
        </p:txBody>
      </p:sp>
    </p:spTree>
    <p:extLst>
      <p:ext uri="{BB962C8B-B14F-4D97-AF65-F5344CB8AC3E}">
        <p14:creationId xmlns:p14="http://schemas.microsoft.com/office/powerpoint/2010/main" val="37833138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lıntı İsim Kartı">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tr-TR"/>
              <a:t>Asıl başlık stilini düzenlemek için tıklayın</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a:t>Asıl metin stillerini düzenlemek için tıklayın</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1D8BD707-D9CF-40AE-B4C6-C98DA3205C09}" type="datetimeFigureOut">
              <a:rPr lang="en-US" smtClean="0"/>
              <a:t>4/25/2026</a:t>
            </a:fld>
            <a:endParaRPr lang="en-US"/>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B6F15528-21DE-4FAA-801E-634DDDAF4B2B}" type="slidenum">
              <a:rPr lang="tr-TR" smtClean="0"/>
              <a:t>‹#›</a:t>
            </a:fld>
            <a:endParaRPr lang="tr-TR"/>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7949299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Doğru veya Yanlış">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tr-TR"/>
              <a:t>Asıl başlık stilini düzenlemek için tıklayın</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a:t>Asıl metin stillerini düzenlemek için tıklayın</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1D8BD707-D9CF-40AE-B4C6-C98DA3205C09}" type="datetimeFigureOut">
              <a:rPr lang="en-US" smtClean="0"/>
              <a:t>4/25/2026</a:t>
            </a:fld>
            <a:endParaRPr lang="en-US"/>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B6F15528-21DE-4FAA-801E-634DDDAF4B2B}" type="slidenum">
              <a:rPr lang="tr-TR" smtClean="0"/>
              <a:t>‹#›</a:t>
            </a:fld>
            <a:endParaRPr lang="tr-TR"/>
          </a:p>
        </p:txBody>
      </p:sp>
    </p:spTree>
    <p:extLst>
      <p:ext uri="{BB962C8B-B14F-4D97-AF65-F5344CB8AC3E}">
        <p14:creationId xmlns:p14="http://schemas.microsoft.com/office/powerpoint/2010/main" val="28923500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Vertical Text Placeholder 2"/>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4/25/2026</a:t>
            </a:fld>
            <a:endParaRPr lang="en-US"/>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B6F15528-21DE-4FAA-801E-634DDDAF4B2B}" type="slidenum">
              <a:rPr lang="tr-TR" smtClean="0"/>
              <a:t>‹#›</a:t>
            </a:fld>
            <a:endParaRPr lang="tr-TR"/>
          </a:p>
        </p:txBody>
      </p:sp>
    </p:spTree>
    <p:extLst>
      <p:ext uri="{BB962C8B-B14F-4D97-AF65-F5344CB8AC3E}">
        <p14:creationId xmlns:p14="http://schemas.microsoft.com/office/powerpoint/2010/main" val="12048754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4/25/2026</a:t>
            </a:fld>
            <a:endParaRPr lang="en-US"/>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B6F15528-21DE-4FAA-801E-634DDDAF4B2B}" type="slidenum">
              <a:rPr lang="tr-TR" smtClean="0"/>
              <a:t>‹#›</a:t>
            </a:fld>
            <a:endParaRPr lang="tr-TR"/>
          </a:p>
        </p:txBody>
      </p:sp>
    </p:spTree>
    <p:extLst>
      <p:ext uri="{BB962C8B-B14F-4D97-AF65-F5344CB8AC3E}">
        <p14:creationId xmlns:p14="http://schemas.microsoft.com/office/powerpoint/2010/main" val="40821829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4/25/2026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extLst>
      <p:ext uri="{BB962C8B-B14F-4D97-AF65-F5344CB8AC3E}">
        <p14:creationId xmlns:p14="http://schemas.microsoft.com/office/powerpoint/2010/main" val="3977865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cxnSp>
          <p:nvCxnSpPr>
            <p:cNvPr id="7" name="Straight Connector 6"/>
            <p:cNvCxnSpPr/>
            <p:nvPr/>
          </p:nvCxnSpPr>
          <p:spPr>
            <a:xfrm flipV="1">
              <a:off x="5130830" y="4175605"/>
              <a:ext cx="4022475" cy="2682396"/>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p:cNvCxnSpPr/>
            <p:nvPr/>
          </p:nvCxnSpPr>
          <p:spPr>
            <a:xfrm>
              <a:off x="7042707"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9" name="Freeform 8"/>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tr-TR"/>
              <a:t>Asıl başlık stilini düzenlemek için tıklayın</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D8BD707-D9CF-40AE-B4C6-C98DA3205C09}" type="datetimeFigureOut">
              <a:rPr lang="en-US" smtClean="0"/>
              <a:t>4/25/2026</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tr-TR"/>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B6F15528-21DE-4FAA-801E-634DDDAF4B2B}" type="slidenum">
              <a:rPr lang="tr-TR" smtClean="0"/>
              <a:t>‹#›</a:t>
            </a:fld>
            <a:endParaRPr lang="tr-TR"/>
          </a:p>
        </p:txBody>
      </p:sp>
    </p:spTree>
    <p:extLst>
      <p:ext uri="{BB962C8B-B14F-4D97-AF65-F5344CB8AC3E}">
        <p14:creationId xmlns:p14="http://schemas.microsoft.com/office/powerpoint/2010/main" val="1622471738"/>
      </p:ext>
    </p:extLst>
  </p:cSld>
  <p:clrMap bg1="dk1" tx1="lt1" bg2="dk2" tx2="lt2" accent1="accent1" accent2="accent2" accent3="accent3" accent4="accent4" accent5="accent5" accent6="accent6" hlink="hlink" folHlink="folHlink"/>
  <p:sldLayoutIdLst>
    <p:sldLayoutId id="2147483904" r:id="rId1"/>
    <p:sldLayoutId id="2147483905" r:id="rId2"/>
    <p:sldLayoutId id="2147483906" r:id="rId3"/>
    <p:sldLayoutId id="2147483907" r:id="rId4"/>
    <p:sldLayoutId id="2147483908" r:id="rId5"/>
    <p:sldLayoutId id="2147483909" r:id="rId6"/>
    <p:sldLayoutId id="2147483910" r:id="rId7"/>
    <p:sldLayoutId id="2147483911" r:id="rId8"/>
    <p:sldLayoutId id="2147483912" r:id="rId9"/>
    <p:sldLayoutId id="2147483913" r:id="rId10"/>
    <p:sldLayoutId id="2147483914" r:id="rId11"/>
    <p:sldLayoutId id="2147483915" r:id="rId12"/>
    <p:sldLayoutId id="2147483916" r:id="rId13"/>
    <p:sldLayoutId id="2147483917" r:id="rId14"/>
    <p:sldLayoutId id="2147483918" r:id="rId15"/>
    <p:sldLayoutId id="2147483919" r:id="rId16"/>
    <p:sldLayoutId id="2147483920" r:id="rId17"/>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7.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2.png"/><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8" name="Metin kutusu 7">
            <a:extLst>
              <a:ext uri="{FF2B5EF4-FFF2-40B4-BE49-F238E27FC236}">
                <a16:creationId xmlns:a16="http://schemas.microsoft.com/office/drawing/2014/main" id="{06A7ED37-5208-92D6-99C9-944C8046D67D}"/>
              </a:ext>
            </a:extLst>
          </p:cNvPr>
          <p:cNvSpPr txBox="1"/>
          <p:nvPr/>
        </p:nvSpPr>
        <p:spPr>
          <a:xfrm>
            <a:off x="619887" y="61206"/>
            <a:ext cx="7904226" cy="2118360"/>
          </a:xfrm>
          <a:prstGeom prst="rect">
            <a:avLst/>
          </a:prstGeom>
        </p:spPr>
        <p:txBody>
          <a:bodyPr vert="horz" lIns="274320" tIns="182880" rIns="274320" bIns="182880" rtlCol="0" anchor="ctr" anchorCtr="1">
            <a:normAutofit/>
          </a:bodyPr>
          <a:lstStyle/>
          <a:p>
            <a:pPr algn="ctr" defTabSz="914400">
              <a:lnSpc>
                <a:spcPct val="90000"/>
              </a:lnSpc>
              <a:spcBef>
                <a:spcPct val="0"/>
              </a:spcBef>
              <a:spcAft>
                <a:spcPts val="600"/>
              </a:spcAft>
            </a:pPr>
            <a:r>
              <a:rPr lang="en-US" sz="2500" b="1" i="0" cap="all" spc="200">
                <a:solidFill>
                  <a:srgbClr val="262626"/>
                </a:solidFill>
                <a:effectLst/>
                <a:latin typeface="Arial" panose="020B0604020202020204" pitchFamily="34" charset="0"/>
                <a:ea typeface="+mj-ea"/>
                <a:cs typeface="Arial" panose="020B0604020202020204" pitchFamily="34" charset="0"/>
              </a:rPr>
              <a:t>Isparta Uygulamalı B</a:t>
            </a:r>
            <a:r>
              <a:rPr lang="tr-TR" sz="2500" b="1" i="0" cap="all" spc="200">
                <a:solidFill>
                  <a:srgbClr val="262626"/>
                </a:solidFill>
                <a:effectLst/>
                <a:latin typeface="Arial" panose="020B0604020202020204" pitchFamily="34" charset="0"/>
                <a:ea typeface="+mj-ea"/>
                <a:cs typeface="Arial" panose="020B0604020202020204" pitchFamily="34" charset="0"/>
              </a:rPr>
              <a:t>İ</a:t>
            </a:r>
            <a:r>
              <a:rPr lang="en-US" sz="2500" b="1" i="0" cap="all" spc="200">
                <a:solidFill>
                  <a:srgbClr val="262626"/>
                </a:solidFill>
                <a:effectLst/>
                <a:latin typeface="Arial" panose="020B0604020202020204" pitchFamily="34" charset="0"/>
                <a:ea typeface="+mj-ea"/>
                <a:cs typeface="Arial" panose="020B0604020202020204" pitchFamily="34" charset="0"/>
              </a:rPr>
              <a:t>l</a:t>
            </a:r>
            <a:r>
              <a:rPr lang="tr-TR" sz="2500" b="1" i="0" cap="all" spc="200">
                <a:solidFill>
                  <a:srgbClr val="262626"/>
                </a:solidFill>
                <a:effectLst/>
                <a:latin typeface="Arial" panose="020B0604020202020204" pitchFamily="34" charset="0"/>
                <a:ea typeface="+mj-ea"/>
                <a:cs typeface="Arial" panose="020B0604020202020204" pitchFamily="34" charset="0"/>
              </a:rPr>
              <a:t>İ</a:t>
            </a:r>
            <a:r>
              <a:rPr lang="en-US" sz="2500" b="1" i="0" cap="all" spc="200">
                <a:solidFill>
                  <a:srgbClr val="262626"/>
                </a:solidFill>
                <a:effectLst/>
                <a:latin typeface="Arial" panose="020B0604020202020204" pitchFamily="34" charset="0"/>
                <a:ea typeface="+mj-ea"/>
                <a:cs typeface="Arial" panose="020B0604020202020204" pitchFamily="34" charset="0"/>
              </a:rPr>
              <a:t>mler Ün</a:t>
            </a:r>
            <a:r>
              <a:rPr lang="tr-TR" sz="2500" b="1" i="0" cap="all" spc="200">
                <a:solidFill>
                  <a:srgbClr val="262626"/>
                </a:solidFill>
                <a:effectLst/>
                <a:latin typeface="Arial" panose="020B0604020202020204" pitchFamily="34" charset="0"/>
                <a:ea typeface="+mj-ea"/>
                <a:cs typeface="Arial" panose="020B0604020202020204" pitchFamily="34" charset="0"/>
              </a:rPr>
              <a:t>İ</a:t>
            </a:r>
            <a:r>
              <a:rPr lang="en-US" sz="2500" b="1" i="0" cap="all" spc="200">
                <a:solidFill>
                  <a:srgbClr val="262626"/>
                </a:solidFill>
                <a:effectLst/>
                <a:latin typeface="Arial" panose="020B0604020202020204" pitchFamily="34" charset="0"/>
                <a:ea typeface="+mj-ea"/>
                <a:cs typeface="Arial" panose="020B0604020202020204" pitchFamily="34" charset="0"/>
              </a:rPr>
              <a:t>vers</a:t>
            </a:r>
            <a:r>
              <a:rPr lang="tr-TR" sz="2500" b="1" i="0" cap="all" spc="200">
                <a:solidFill>
                  <a:srgbClr val="262626"/>
                </a:solidFill>
                <a:effectLst/>
                <a:latin typeface="Arial" panose="020B0604020202020204" pitchFamily="34" charset="0"/>
                <a:ea typeface="+mj-ea"/>
                <a:cs typeface="Arial" panose="020B0604020202020204" pitchFamily="34" charset="0"/>
              </a:rPr>
              <a:t>İ</a:t>
            </a:r>
            <a:r>
              <a:rPr lang="en-US" sz="2500" b="1" i="0" cap="all" spc="200">
                <a:solidFill>
                  <a:srgbClr val="262626"/>
                </a:solidFill>
                <a:effectLst/>
                <a:latin typeface="Arial" panose="020B0604020202020204" pitchFamily="34" charset="0"/>
                <a:ea typeface="+mj-ea"/>
                <a:cs typeface="Arial" panose="020B0604020202020204" pitchFamily="34" charset="0"/>
              </a:rPr>
              <a:t>tes</a:t>
            </a:r>
            <a:r>
              <a:rPr lang="tr-TR" sz="2500" b="1" i="0" cap="all" spc="200">
                <a:solidFill>
                  <a:srgbClr val="262626"/>
                </a:solidFill>
                <a:effectLst/>
                <a:latin typeface="Arial" panose="020B0604020202020204" pitchFamily="34" charset="0"/>
                <a:ea typeface="+mj-ea"/>
                <a:cs typeface="Arial" panose="020B0604020202020204" pitchFamily="34" charset="0"/>
              </a:rPr>
              <a:t>İ</a:t>
            </a:r>
            <a:r>
              <a:rPr lang="en-US" sz="2500" b="1" i="0" cap="all" spc="200">
                <a:solidFill>
                  <a:srgbClr val="262626"/>
                </a:solidFill>
                <a:effectLst/>
                <a:latin typeface="Arial" panose="020B0604020202020204" pitchFamily="34" charset="0"/>
                <a:ea typeface="+mj-ea"/>
                <a:cs typeface="Arial" panose="020B0604020202020204" pitchFamily="34" charset="0"/>
              </a:rPr>
              <a:t> </a:t>
            </a:r>
          </a:p>
          <a:p>
            <a:pPr algn="ctr" defTabSz="914400">
              <a:lnSpc>
                <a:spcPct val="90000"/>
              </a:lnSpc>
              <a:spcBef>
                <a:spcPct val="0"/>
              </a:spcBef>
              <a:spcAft>
                <a:spcPts val="600"/>
              </a:spcAft>
            </a:pPr>
            <a:endParaRPr lang="en-US" sz="2500" b="1" cap="all" spc="200">
              <a:solidFill>
                <a:srgbClr val="262626"/>
              </a:solidFill>
              <a:latin typeface="Arial" panose="020B0604020202020204" pitchFamily="34" charset="0"/>
              <a:ea typeface="+mj-ea"/>
              <a:cs typeface="Arial" panose="020B0604020202020204" pitchFamily="34" charset="0"/>
            </a:endParaRPr>
          </a:p>
          <a:p>
            <a:pPr algn="ctr" defTabSz="914400">
              <a:lnSpc>
                <a:spcPct val="90000"/>
              </a:lnSpc>
              <a:spcBef>
                <a:spcPct val="0"/>
              </a:spcBef>
              <a:spcAft>
                <a:spcPts val="600"/>
              </a:spcAft>
            </a:pPr>
            <a:r>
              <a:rPr lang="en-US" sz="2500" b="1" i="0" cap="all" spc="200">
                <a:solidFill>
                  <a:srgbClr val="262626"/>
                </a:solidFill>
                <a:effectLst/>
                <a:latin typeface="Arial" panose="020B0604020202020204" pitchFamily="34" charset="0"/>
                <a:ea typeface="+mj-ea"/>
                <a:cs typeface="Arial" panose="020B0604020202020204" pitchFamily="34" charset="0"/>
              </a:rPr>
              <a:t>Elektr</a:t>
            </a:r>
            <a:r>
              <a:rPr lang="tr-TR" sz="2500" b="1" i="0" cap="all" spc="200">
                <a:solidFill>
                  <a:srgbClr val="262626"/>
                </a:solidFill>
                <a:effectLst/>
                <a:latin typeface="Arial" panose="020B0604020202020204" pitchFamily="34" charset="0"/>
                <a:ea typeface="+mj-ea"/>
                <a:cs typeface="Arial" panose="020B0604020202020204" pitchFamily="34" charset="0"/>
              </a:rPr>
              <a:t>İ</a:t>
            </a:r>
            <a:r>
              <a:rPr lang="en-US" sz="2500" b="1" i="0" cap="all" spc="200">
                <a:solidFill>
                  <a:srgbClr val="262626"/>
                </a:solidFill>
                <a:effectLst/>
                <a:latin typeface="Arial" panose="020B0604020202020204" pitchFamily="34" charset="0"/>
                <a:ea typeface="+mj-ea"/>
                <a:cs typeface="Arial" panose="020B0604020202020204" pitchFamily="34" charset="0"/>
              </a:rPr>
              <a:t>k-Elektron</a:t>
            </a:r>
            <a:r>
              <a:rPr lang="tr-TR" sz="2500" b="1" i="0" cap="all" spc="200">
                <a:solidFill>
                  <a:srgbClr val="262626"/>
                </a:solidFill>
                <a:effectLst/>
                <a:latin typeface="Arial" panose="020B0604020202020204" pitchFamily="34" charset="0"/>
                <a:ea typeface="+mj-ea"/>
                <a:cs typeface="Arial" panose="020B0604020202020204" pitchFamily="34" charset="0"/>
              </a:rPr>
              <a:t>İ</a:t>
            </a:r>
            <a:r>
              <a:rPr lang="en-US" sz="2500" b="1" i="0" cap="all" spc="200">
                <a:solidFill>
                  <a:srgbClr val="262626"/>
                </a:solidFill>
                <a:effectLst/>
                <a:latin typeface="Arial" panose="020B0604020202020204" pitchFamily="34" charset="0"/>
                <a:ea typeface="+mj-ea"/>
                <a:cs typeface="Arial" panose="020B0604020202020204" pitchFamily="34" charset="0"/>
              </a:rPr>
              <a:t>k Mühend</a:t>
            </a:r>
            <a:r>
              <a:rPr lang="tr-TR" sz="2500" b="1" i="0" cap="all" spc="200">
                <a:solidFill>
                  <a:srgbClr val="262626"/>
                </a:solidFill>
                <a:effectLst/>
                <a:latin typeface="Arial" panose="020B0604020202020204" pitchFamily="34" charset="0"/>
                <a:ea typeface="+mj-ea"/>
                <a:cs typeface="Arial" panose="020B0604020202020204" pitchFamily="34" charset="0"/>
              </a:rPr>
              <a:t>İ</a:t>
            </a:r>
            <a:r>
              <a:rPr lang="en-US" sz="2500" b="1" i="0" cap="all" spc="200">
                <a:solidFill>
                  <a:srgbClr val="262626"/>
                </a:solidFill>
                <a:effectLst/>
                <a:latin typeface="Arial" panose="020B0604020202020204" pitchFamily="34" charset="0"/>
                <a:ea typeface="+mj-ea"/>
                <a:cs typeface="Arial" panose="020B0604020202020204" pitchFamily="34" charset="0"/>
              </a:rPr>
              <a:t>sl</a:t>
            </a:r>
            <a:r>
              <a:rPr lang="tr-TR" sz="2500" b="1" i="0" cap="all" spc="200">
                <a:solidFill>
                  <a:srgbClr val="262626"/>
                </a:solidFill>
                <a:effectLst/>
                <a:latin typeface="Arial" panose="020B0604020202020204" pitchFamily="34" charset="0"/>
                <a:ea typeface="+mj-ea"/>
                <a:cs typeface="Arial" panose="020B0604020202020204" pitchFamily="34" charset="0"/>
              </a:rPr>
              <a:t>İ</a:t>
            </a:r>
            <a:r>
              <a:rPr lang="en-US" sz="2500" b="1" i="0" cap="all" spc="200">
                <a:solidFill>
                  <a:srgbClr val="262626"/>
                </a:solidFill>
                <a:effectLst/>
                <a:latin typeface="Arial" panose="020B0604020202020204" pitchFamily="34" charset="0"/>
                <a:ea typeface="+mj-ea"/>
                <a:cs typeface="Arial" panose="020B0604020202020204" pitchFamily="34" charset="0"/>
              </a:rPr>
              <a:t>ğ</a:t>
            </a:r>
            <a:r>
              <a:rPr lang="tr-TR" sz="2500" b="1" i="0" cap="all" spc="200">
                <a:solidFill>
                  <a:srgbClr val="262626"/>
                </a:solidFill>
                <a:effectLst/>
                <a:latin typeface="Arial" panose="020B0604020202020204" pitchFamily="34" charset="0"/>
                <a:ea typeface="+mj-ea"/>
                <a:cs typeface="Arial" panose="020B0604020202020204" pitchFamily="34" charset="0"/>
              </a:rPr>
              <a:t>İ</a:t>
            </a:r>
            <a:endParaRPr lang="en-US" sz="2500" b="1" i="0" cap="all" spc="200">
              <a:solidFill>
                <a:srgbClr val="262626"/>
              </a:solidFill>
              <a:effectLst/>
              <a:latin typeface="Arial" panose="020B0604020202020204" pitchFamily="34" charset="0"/>
              <a:ea typeface="+mj-ea"/>
              <a:cs typeface="Arial" panose="020B0604020202020204" pitchFamily="34" charset="0"/>
            </a:endParaRPr>
          </a:p>
        </p:txBody>
      </p:sp>
      <p:sp>
        <p:nvSpPr>
          <p:cNvPr id="9" name="Metin kutusu 8">
            <a:extLst>
              <a:ext uri="{FF2B5EF4-FFF2-40B4-BE49-F238E27FC236}">
                <a16:creationId xmlns:a16="http://schemas.microsoft.com/office/drawing/2014/main" id="{9B130BD8-53F0-5D63-E98E-F4DBC5AD79F4}"/>
              </a:ext>
            </a:extLst>
          </p:cNvPr>
          <p:cNvSpPr txBox="1"/>
          <p:nvPr/>
        </p:nvSpPr>
        <p:spPr>
          <a:xfrm>
            <a:off x="2033685" y="4755522"/>
            <a:ext cx="5101209" cy="944238"/>
          </a:xfrm>
          <a:prstGeom prst="rect">
            <a:avLst/>
          </a:prstGeom>
        </p:spPr>
        <p:txBody>
          <a:bodyPr vert="horz" lIns="91440" tIns="45720" rIns="91440" bIns="45720" rtlCol="0">
            <a:normAutofit/>
          </a:bodyPr>
          <a:lstStyle/>
          <a:p>
            <a:pPr algn="ctr" defTabSz="914400">
              <a:spcBef>
                <a:spcPts val="1000"/>
              </a:spcBef>
              <a:buClr>
                <a:schemeClr val="accent2"/>
              </a:buClr>
            </a:pPr>
            <a:endParaRPr lang="en-US" sz="2000" b="1">
              <a:solidFill>
                <a:schemeClr val="tx1">
                  <a:lumMod val="85000"/>
                  <a:lumOff val="15000"/>
                </a:schemeClr>
              </a:solidFill>
            </a:endParaRPr>
          </a:p>
        </p:txBody>
      </p:sp>
      <p:sp>
        <p:nvSpPr>
          <p:cNvPr id="7" name="Metin kutusu 6">
            <a:extLst>
              <a:ext uri="{FF2B5EF4-FFF2-40B4-BE49-F238E27FC236}">
                <a16:creationId xmlns:a16="http://schemas.microsoft.com/office/drawing/2014/main" id="{4DE7C041-EA88-DA0A-9240-1B76F87CE313}"/>
              </a:ext>
            </a:extLst>
          </p:cNvPr>
          <p:cNvSpPr txBox="1"/>
          <p:nvPr/>
        </p:nvSpPr>
        <p:spPr>
          <a:xfrm>
            <a:off x="2133600" y="4850614"/>
            <a:ext cx="4876800" cy="754053"/>
          </a:xfrm>
          <a:prstGeom prst="rect">
            <a:avLst/>
          </a:prstGeom>
          <a:noFill/>
        </p:spPr>
        <p:txBody>
          <a:bodyPr wrap="square" rtlCol="0">
            <a:spAutoFit/>
          </a:bodyPr>
          <a:lstStyle/>
          <a:p>
            <a:pPr>
              <a:spcAft>
                <a:spcPts val="600"/>
              </a:spcAft>
            </a:pPr>
            <a:r>
              <a:rPr lang="tr-TR" sz="2000" b="1" i="0">
                <a:effectLst/>
                <a:latin typeface="Arial" panose="020B0604020202020204" pitchFamily="34" charset="0"/>
                <a:cs typeface="Arial" panose="020B0604020202020204" pitchFamily="34" charset="0"/>
              </a:rPr>
              <a:t>Generative Models (Üretken Modeller)</a:t>
            </a:r>
          </a:p>
          <a:p>
            <a:pPr>
              <a:spcAft>
                <a:spcPts val="600"/>
              </a:spcAft>
            </a:pPr>
            <a:endParaRPr lang="tr-TR"/>
          </a:p>
        </p:txBody>
      </p:sp>
      <p:sp>
        <p:nvSpPr>
          <p:cNvPr id="5" name="Metin kutusu 4">
            <a:extLst>
              <a:ext uri="{FF2B5EF4-FFF2-40B4-BE49-F238E27FC236}">
                <a16:creationId xmlns:a16="http://schemas.microsoft.com/office/drawing/2014/main" id="{A6ACC4FA-BAEC-174C-9F2B-4CCAD36491F9}"/>
              </a:ext>
            </a:extLst>
          </p:cNvPr>
          <p:cNvSpPr txBox="1"/>
          <p:nvPr/>
        </p:nvSpPr>
        <p:spPr>
          <a:xfrm>
            <a:off x="3517489" y="5569974"/>
            <a:ext cx="2133600" cy="381000"/>
          </a:xfrm>
          <a:prstGeom prst="rect">
            <a:avLst/>
          </a:prstGeom>
          <a:noFill/>
        </p:spPr>
        <p:txBody>
          <a:bodyPr wrap="square" rtlCol="0">
            <a:spAutoFit/>
          </a:bodyPr>
          <a:lstStyle/>
          <a:p>
            <a:r>
              <a:rPr lang="tr-TR" b="1"/>
              <a:t>Batuhan Agalday</a:t>
            </a:r>
          </a:p>
        </p:txBody>
      </p:sp>
      <p:sp>
        <p:nvSpPr>
          <p:cNvPr id="10" name="object 4">
            <a:extLst>
              <a:ext uri="{FF2B5EF4-FFF2-40B4-BE49-F238E27FC236}">
                <a16:creationId xmlns:a16="http://schemas.microsoft.com/office/drawing/2014/main" id="{779DF990-D65F-B2D0-D5A2-1AFEB99B10CC}"/>
              </a:ext>
            </a:extLst>
          </p:cNvPr>
          <p:cNvSpPr/>
          <p:nvPr/>
        </p:nvSpPr>
        <p:spPr>
          <a:xfrm>
            <a:off x="3136489" y="2250117"/>
            <a:ext cx="2514600" cy="2331460"/>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19106383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Metin kutusu 1">
            <a:extLst>
              <a:ext uri="{FF2B5EF4-FFF2-40B4-BE49-F238E27FC236}">
                <a16:creationId xmlns:a16="http://schemas.microsoft.com/office/drawing/2014/main" id="{C1283F13-2316-F40F-2DBA-7BAEFA133309}"/>
              </a:ext>
            </a:extLst>
          </p:cNvPr>
          <p:cNvSpPr txBox="1"/>
          <p:nvPr/>
        </p:nvSpPr>
        <p:spPr>
          <a:xfrm>
            <a:off x="4421221" y="479493"/>
            <a:ext cx="4094129" cy="132556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2800" b="1" kern="1200">
                <a:solidFill>
                  <a:schemeClr val="tx1"/>
                </a:solidFill>
                <a:latin typeface="Airal"/>
                <a:ea typeface="+mj-ea"/>
                <a:cs typeface="+mj-cs"/>
              </a:rPr>
              <a:t>Generative Models (Üretken Modeller)</a:t>
            </a:r>
          </a:p>
        </p:txBody>
      </p:sp>
      <p:pic>
        <p:nvPicPr>
          <p:cNvPr id="8" name="Graphic 7" descr="Circles with Lines">
            <a:extLst>
              <a:ext uri="{FF2B5EF4-FFF2-40B4-BE49-F238E27FC236}">
                <a16:creationId xmlns:a16="http://schemas.microsoft.com/office/drawing/2014/main" id="{EFE1C44C-3634-EE88-C142-3C7C7774395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27386" y="1552610"/>
            <a:ext cx="3583036" cy="3583036"/>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4" name="Metin kutusu 3">
            <a:extLst>
              <a:ext uri="{FF2B5EF4-FFF2-40B4-BE49-F238E27FC236}">
                <a16:creationId xmlns:a16="http://schemas.microsoft.com/office/drawing/2014/main" id="{822847DF-4BBA-AB66-E79A-DF2FF44A7B22}"/>
              </a:ext>
            </a:extLst>
          </p:cNvPr>
          <p:cNvSpPr txBox="1"/>
          <p:nvPr/>
        </p:nvSpPr>
        <p:spPr>
          <a:xfrm>
            <a:off x="4421221" y="1984443"/>
            <a:ext cx="4094129" cy="3730557"/>
          </a:xfrm>
          <a:prstGeom prst="rect">
            <a:avLst/>
          </a:prstGeom>
        </p:spPr>
        <p:txBody>
          <a:bodyPr vert="horz" lIns="91440" tIns="45720" rIns="91440" bIns="45720" rtlCol="0">
            <a:normAutofit/>
          </a:bodyPr>
          <a:lstStyle/>
          <a:p>
            <a:pPr>
              <a:lnSpc>
                <a:spcPct val="90000"/>
              </a:lnSpc>
              <a:spcAft>
                <a:spcPts val="600"/>
              </a:spcAft>
            </a:pPr>
            <a:r>
              <a:rPr lang="tr-TR"/>
              <a:t>   </a:t>
            </a:r>
            <a:r>
              <a:rPr lang="en-US"/>
              <a:t>Üretken Modeller, mevcut bir veri setinden öğrendiği örüntüleri kullanarak, o verilere benzer ama tamamen </a:t>
            </a:r>
            <a:r>
              <a:rPr lang="en-US" b="1"/>
              <a:t>yeni ve orijinal veriler üreten</a:t>
            </a:r>
            <a:r>
              <a:rPr lang="en-US"/>
              <a:t> sistemleridir.</a:t>
            </a:r>
          </a:p>
          <a:p>
            <a:pPr indent="-228600">
              <a:lnSpc>
                <a:spcPct val="90000"/>
              </a:lnSpc>
              <a:spcAft>
                <a:spcPts val="600"/>
              </a:spcAft>
              <a:buFont typeface="Arial" panose="020B0604020202020204" pitchFamily="34" charset="0"/>
              <a:buChar char="•"/>
            </a:pPr>
            <a:endParaRPr lang="en-US"/>
          </a:p>
          <a:p>
            <a:pPr>
              <a:lnSpc>
                <a:spcPct val="90000"/>
              </a:lnSpc>
              <a:spcAft>
                <a:spcPts val="600"/>
              </a:spcAft>
            </a:pPr>
            <a:r>
              <a:rPr lang="tr-TR"/>
              <a:t>   </a:t>
            </a:r>
            <a:r>
              <a:rPr lang="en-US"/>
              <a:t>Geleneksel makine öğrenmesi modelleri genellikle bir veriyi sınıflandırmak için kullanılırken; üretken modeller sıfırdan bir veri oluşturmaya odaklanır.</a:t>
            </a:r>
          </a:p>
        </p:txBody>
      </p:sp>
    </p:spTree>
    <p:extLst>
      <p:ext uri="{BB962C8B-B14F-4D97-AF65-F5344CB8AC3E}">
        <p14:creationId xmlns:p14="http://schemas.microsoft.com/office/powerpoint/2010/main" val="16365593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Metin kutusu 2">
            <a:extLst>
              <a:ext uri="{FF2B5EF4-FFF2-40B4-BE49-F238E27FC236}">
                <a16:creationId xmlns:a16="http://schemas.microsoft.com/office/drawing/2014/main" id="{3EA78C65-330F-59FE-7102-526640AAFC82}"/>
              </a:ext>
            </a:extLst>
          </p:cNvPr>
          <p:cNvSpPr txBox="1"/>
          <p:nvPr/>
        </p:nvSpPr>
        <p:spPr>
          <a:xfrm>
            <a:off x="4421221" y="479493"/>
            <a:ext cx="2893979" cy="132556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2800" b="0" i="0" kern="1200">
                <a:solidFill>
                  <a:schemeClr val="tx1"/>
                </a:solidFill>
                <a:effectLst/>
                <a:latin typeface="Arial" panose="020B0604020202020204" pitchFamily="34" charset="0"/>
                <a:ea typeface="+mj-ea"/>
                <a:cs typeface="Arial" panose="020B0604020202020204" pitchFamily="34" charset="0"/>
              </a:rPr>
              <a:t>Latent Space (</a:t>
            </a:r>
            <a:r>
              <a:rPr lang="en-US" sz="2800" kern="1200">
                <a:solidFill>
                  <a:schemeClr val="tx1"/>
                </a:solidFill>
                <a:latin typeface="Arial" panose="020B0604020202020204" pitchFamily="34" charset="0"/>
                <a:ea typeface="+mj-ea"/>
                <a:cs typeface="Arial" panose="020B0604020202020204" pitchFamily="34" charset="0"/>
              </a:rPr>
              <a:t>Gizli Uzay)</a:t>
            </a:r>
          </a:p>
        </p:txBody>
      </p:sp>
      <p:pic>
        <p:nvPicPr>
          <p:cNvPr id="7" name="Resim 6" descr="ekran görüntüsü, diyagram, metin içeren bir resim&#10;&#10;Açıklama otomatik olarak oluşturuldu">
            <a:extLst>
              <a:ext uri="{FF2B5EF4-FFF2-40B4-BE49-F238E27FC236}">
                <a16:creationId xmlns:a16="http://schemas.microsoft.com/office/drawing/2014/main" id="{2AD95644-7313-CF6A-BABE-FBF3DFF28C8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200" y="1986900"/>
            <a:ext cx="4620903" cy="2599257"/>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2" name="Metin kutusu 1">
            <a:extLst>
              <a:ext uri="{FF2B5EF4-FFF2-40B4-BE49-F238E27FC236}">
                <a16:creationId xmlns:a16="http://schemas.microsoft.com/office/drawing/2014/main" id="{B47DF6F2-04AA-E9AF-679E-6FAA90928A12}"/>
              </a:ext>
            </a:extLst>
          </p:cNvPr>
          <p:cNvSpPr txBox="1"/>
          <p:nvPr/>
        </p:nvSpPr>
        <p:spPr>
          <a:xfrm>
            <a:off x="4800600" y="1968019"/>
            <a:ext cx="3695300" cy="2892358"/>
          </a:xfrm>
          <a:prstGeom prst="rect">
            <a:avLst/>
          </a:prstGeom>
        </p:spPr>
        <p:txBody>
          <a:bodyPr vert="horz" lIns="91440" tIns="45720" rIns="91440" bIns="45720" rtlCol="0">
            <a:normAutofit/>
          </a:bodyPr>
          <a:lstStyle/>
          <a:p>
            <a:pPr>
              <a:lnSpc>
                <a:spcPct val="90000"/>
              </a:lnSpc>
              <a:spcAft>
                <a:spcPts val="600"/>
              </a:spcAft>
            </a:pPr>
            <a:r>
              <a:rPr lang="tr-TR" sz="1600">
                <a:latin typeface="Arial" panose="020B0604020202020204" pitchFamily="34" charset="0"/>
                <a:cs typeface="Arial" panose="020B0604020202020204" pitchFamily="34" charset="0"/>
              </a:rPr>
              <a:t>   </a:t>
            </a:r>
            <a:r>
              <a:rPr lang="tr-TR" sz="1400">
                <a:latin typeface="Arial" panose="020B0604020202020204" pitchFamily="34" charset="0"/>
                <a:cs typeface="Arial" panose="020B0604020202020204" pitchFamily="34" charset="0"/>
              </a:rPr>
              <a:t>K</a:t>
            </a:r>
            <a:r>
              <a:rPr lang="en-US" sz="1400">
                <a:latin typeface="Arial" panose="020B0604020202020204" pitchFamily="34" charset="0"/>
                <a:cs typeface="Arial" panose="020B0604020202020204" pitchFamily="34" charset="0"/>
              </a:rPr>
              <a:t>armaşık ve yüksek boyutlu verilerin, yapay zeka tarafından analiz edilerek en temel ve ayırt edici özelliklerinin sıkıştırıldığı çok boyutlu, soyut ve matematiksel bir uzaydır. Model, veriyi piksel piksel ezberlemek yerine bu uzayda verinin özünü koordinatlara dönüştürür. Bu uzaydaki koordinatlar arasında matematiksel olarak gezinmek, kopukluk olmadan pürüzsüz ve anlamlı yepyeni verilerin sentezlenmesini sağlar</a:t>
            </a:r>
            <a:r>
              <a:rPr lang="en-US" sz="160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42182656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Metin kutusu 1">
            <a:extLst>
              <a:ext uri="{FF2B5EF4-FFF2-40B4-BE49-F238E27FC236}">
                <a16:creationId xmlns:a16="http://schemas.microsoft.com/office/drawing/2014/main" id="{D66A11B6-A114-2539-FD7A-64110921233F}"/>
              </a:ext>
            </a:extLst>
          </p:cNvPr>
          <p:cNvSpPr txBox="1"/>
          <p:nvPr/>
        </p:nvSpPr>
        <p:spPr>
          <a:xfrm>
            <a:off x="4421221" y="479493"/>
            <a:ext cx="3046379" cy="132556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2800" b="1" kern="1200">
                <a:solidFill>
                  <a:schemeClr val="tx1"/>
                </a:solidFill>
                <a:latin typeface="Arial" panose="020B0604020202020204" pitchFamily="34" charset="0"/>
                <a:ea typeface="+mj-ea"/>
                <a:cs typeface="Arial" panose="020B0604020202020204" pitchFamily="34" charset="0"/>
              </a:rPr>
              <a:t>Autoencoders (Otokodlayıcılar)</a:t>
            </a:r>
          </a:p>
        </p:txBody>
      </p:sp>
      <p:pic>
        <p:nvPicPr>
          <p:cNvPr id="6" name="Resim 5" descr="diyagram, çizgi, öykü gelişim çizgisi; kumpas; grafiğini çıkarma, ekran görüntüsü içeren bir resim&#10;&#10;Açıklama otomatik olarak oluşturuldu">
            <a:extLst>
              <a:ext uri="{FF2B5EF4-FFF2-40B4-BE49-F238E27FC236}">
                <a16:creationId xmlns:a16="http://schemas.microsoft.com/office/drawing/2014/main" id="{9DB8FF74-1CAB-80F6-2390-551040B302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2172929"/>
            <a:ext cx="3583036" cy="1961712"/>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3" name="Metin kutusu 2">
            <a:extLst>
              <a:ext uri="{FF2B5EF4-FFF2-40B4-BE49-F238E27FC236}">
                <a16:creationId xmlns:a16="http://schemas.microsoft.com/office/drawing/2014/main" id="{F8AC681C-7131-04F1-8606-27ADE1751B6E}"/>
              </a:ext>
            </a:extLst>
          </p:cNvPr>
          <p:cNvSpPr txBox="1"/>
          <p:nvPr/>
        </p:nvSpPr>
        <p:spPr>
          <a:xfrm>
            <a:off x="4267200" y="2209800"/>
            <a:ext cx="4094129" cy="2135051"/>
          </a:xfrm>
          <a:prstGeom prst="rect">
            <a:avLst/>
          </a:prstGeom>
        </p:spPr>
        <p:txBody>
          <a:bodyPr vert="horz" lIns="91440" tIns="45720" rIns="91440" bIns="45720" rtlCol="0">
            <a:normAutofit/>
          </a:bodyPr>
          <a:lstStyle/>
          <a:p>
            <a:pPr>
              <a:lnSpc>
                <a:spcPct val="90000"/>
              </a:lnSpc>
              <a:spcAft>
                <a:spcPts val="600"/>
              </a:spcAft>
            </a:pPr>
            <a:r>
              <a:rPr lang="tr-TR"/>
              <a:t>   </a:t>
            </a:r>
            <a:r>
              <a:rPr lang="en-US"/>
              <a:t>Veriyi sıkıştırıp, ardından orijinal haline en yakın şekilde yeniden inşa eden sinir ağı mimarisidir.</a:t>
            </a:r>
            <a:endParaRPr lang="tr-TR"/>
          </a:p>
          <a:p>
            <a:pPr>
              <a:lnSpc>
                <a:spcPct val="90000"/>
              </a:lnSpc>
              <a:spcAft>
                <a:spcPts val="600"/>
              </a:spcAft>
            </a:pPr>
            <a:endParaRPr lang="tr-TR"/>
          </a:p>
          <a:p>
            <a:pPr>
              <a:lnSpc>
                <a:spcPct val="90000"/>
              </a:lnSpc>
              <a:spcAft>
                <a:spcPts val="600"/>
              </a:spcAft>
            </a:pPr>
            <a:r>
              <a:rPr lang="tr-TR"/>
              <a:t>   Otokodlayıcılar, girdiyi alır ve bir noktaya sıkıştırır. Daha sonra girdiyi tekrar oluşturmaya çalışır.</a:t>
            </a:r>
            <a:endParaRPr lang="en-US"/>
          </a:p>
        </p:txBody>
      </p:sp>
    </p:spTree>
    <p:extLst>
      <p:ext uri="{BB962C8B-B14F-4D97-AF65-F5344CB8AC3E}">
        <p14:creationId xmlns:p14="http://schemas.microsoft.com/office/powerpoint/2010/main" val="18485908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Metin kutusu 1">
            <a:extLst>
              <a:ext uri="{FF2B5EF4-FFF2-40B4-BE49-F238E27FC236}">
                <a16:creationId xmlns:a16="http://schemas.microsoft.com/office/drawing/2014/main" id="{95233E7B-EAA6-445C-0247-C79903A6AE13}"/>
              </a:ext>
            </a:extLst>
          </p:cNvPr>
          <p:cNvSpPr txBox="1"/>
          <p:nvPr/>
        </p:nvSpPr>
        <p:spPr>
          <a:xfrm>
            <a:off x="304800" y="381000"/>
            <a:ext cx="4654214" cy="132556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2800" b="1" kern="1200">
                <a:solidFill>
                  <a:schemeClr val="tx1"/>
                </a:solidFill>
                <a:latin typeface="Arial" panose="020B0604020202020204" pitchFamily="34" charset="0"/>
                <a:ea typeface="+mj-ea"/>
                <a:cs typeface="Arial" panose="020B0604020202020204" pitchFamily="34" charset="0"/>
              </a:rPr>
              <a:t>Variational Autoencoders (Varyasyonel Otoenkoder)</a:t>
            </a:r>
          </a:p>
        </p:txBody>
      </p:sp>
      <p:pic>
        <p:nvPicPr>
          <p:cNvPr id="5" name="Resim 4" descr="diyagram, daire, çizgi içeren bir resim&#10;&#10;Açıklama otomatik olarak oluşturuldu">
            <a:extLst>
              <a:ext uri="{FF2B5EF4-FFF2-40B4-BE49-F238E27FC236}">
                <a16:creationId xmlns:a16="http://schemas.microsoft.com/office/drawing/2014/main" id="{A06BB247-3B1C-19F7-79B7-23FD507CDC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7386" y="2537945"/>
            <a:ext cx="3583036" cy="1612366"/>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3" name="Metin kutusu 2">
            <a:extLst>
              <a:ext uri="{FF2B5EF4-FFF2-40B4-BE49-F238E27FC236}">
                <a16:creationId xmlns:a16="http://schemas.microsoft.com/office/drawing/2014/main" id="{3A360CD8-2FA8-9E4B-B2D7-608864A3E326}"/>
              </a:ext>
            </a:extLst>
          </p:cNvPr>
          <p:cNvSpPr txBox="1"/>
          <p:nvPr/>
        </p:nvSpPr>
        <p:spPr>
          <a:xfrm>
            <a:off x="4267200" y="1981200"/>
            <a:ext cx="4094129" cy="4192520"/>
          </a:xfrm>
          <a:prstGeom prst="rect">
            <a:avLst/>
          </a:prstGeom>
        </p:spPr>
        <p:txBody>
          <a:bodyPr vert="horz" lIns="91440" tIns="45720" rIns="91440" bIns="45720" rtlCol="0">
            <a:normAutofit/>
          </a:bodyPr>
          <a:lstStyle/>
          <a:p>
            <a:pPr>
              <a:lnSpc>
                <a:spcPct val="90000"/>
              </a:lnSpc>
              <a:spcAft>
                <a:spcPts val="600"/>
              </a:spcAft>
            </a:pPr>
            <a:r>
              <a:rPr lang="tr-TR"/>
              <a:t>   </a:t>
            </a:r>
            <a:r>
              <a:rPr lang="en-US" sz="1600"/>
              <a:t>Verileri sıkıştırıp yeniden oluşturmanın ötesine geçerek, </a:t>
            </a:r>
            <a:r>
              <a:rPr lang="en-US" sz="1600" b="1"/>
              <a:t>yeni veriler üretebilen </a:t>
            </a:r>
            <a:r>
              <a:rPr lang="en-US" sz="1600"/>
              <a:t> yapay sinir ağı mimarileridir</a:t>
            </a:r>
            <a:endParaRPr lang="tr-TR" sz="1600"/>
          </a:p>
          <a:p>
            <a:pPr>
              <a:lnSpc>
                <a:spcPct val="90000"/>
              </a:lnSpc>
              <a:spcAft>
                <a:spcPts val="600"/>
              </a:spcAft>
            </a:pPr>
            <a:endParaRPr lang="en-US" sz="1600"/>
          </a:p>
          <a:p>
            <a:pPr>
              <a:lnSpc>
                <a:spcPct val="90000"/>
              </a:lnSpc>
            </a:pPr>
            <a:r>
              <a:rPr lang="tr-TR" sz="1600"/>
              <a:t>   </a:t>
            </a:r>
            <a:r>
              <a:rPr lang="en-US" sz="1600"/>
              <a:t>Varyasyonel otoenkoder, girdiyi gizli uzayda sabit tek bir noktaya dönüştürmez. Bunun yerine, girdiyi bir </a:t>
            </a:r>
            <a:r>
              <a:rPr lang="en-US" sz="1600" b="1"/>
              <a:t>olasılık dağılımına</a:t>
            </a:r>
            <a:r>
              <a:rPr lang="en-US" sz="1600"/>
              <a:t> dönüştürür.</a:t>
            </a:r>
          </a:p>
          <a:p>
            <a:pPr indent="-228600">
              <a:lnSpc>
                <a:spcPct val="90000"/>
              </a:lnSpc>
              <a:buFont typeface="Arial" panose="020B0604020202020204" pitchFamily="34" charset="0"/>
              <a:buChar char="•"/>
            </a:pPr>
            <a:endParaRPr lang="en-US" sz="1600"/>
          </a:p>
          <a:p>
            <a:pPr>
              <a:lnSpc>
                <a:spcPct val="90000"/>
              </a:lnSpc>
            </a:pPr>
            <a:r>
              <a:rPr lang="tr-TR" sz="1600"/>
              <a:t>   </a:t>
            </a:r>
            <a:r>
              <a:rPr lang="en-US" sz="1600"/>
              <a:t>Yani kodlayıcı ağ bize tek bir sayı dizisi vermek yerine iki şey verir:</a:t>
            </a:r>
          </a:p>
          <a:p>
            <a:pPr indent="-228600">
              <a:lnSpc>
                <a:spcPct val="90000"/>
              </a:lnSpc>
              <a:buFont typeface="Arial" panose="020B0604020202020204" pitchFamily="34" charset="0"/>
              <a:buChar char="•"/>
            </a:pPr>
            <a:endParaRPr lang="en-US" sz="1600"/>
          </a:p>
          <a:p>
            <a:pPr marL="342900" indent="-228600">
              <a:lnSpc>
                <a:spcPct val="90000"/>
              </a:lnSpc>
              <a:buFont typeface="Arial" panose="020B0604020202020204" pitchFamily="34" charset="0"/>
              <a:buChar char="•"/>
            </a:pPr>
            <a:r>
              <a:rPr lang="en-US" sz="1600"/>
              <a:t>Ortalama vektörü (µ) </a:t>
            </a:r>
          </a:p>
          <a:p>
            <a:pPr marL="342900" indent="-228600">
              <a:lnSpc>
                <a:spcPct val="90000"/>
              </a:lnSpc>
              <a:buFont typeface="Arial" panose="020B0604020202020204" pitchFamily="34" charset="0"/>
              <a:buChar char="•"/>
            </a:pPr>
            <a:r>
              <a:rPr lang="en-US" sz="1600"/>
              <a:t>Standart sapma vektörü (σ)</a:t>
            </a:r>
          </a:p>
        </p:txBody>
      </p:sp>
    </p:spTree>
    <p:extLst>
      <p:ext uri="{BB962C8B-B14F-4D97-AF65-F5344CB8AC3E}">
        <p14:creationId xmlns:p14="http://schemas.microsoft.com/office/powerpoint/2010/main" val="18202125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Metin kutusu 1">
            <a:extLst>
              <a:ext uri="{FF2B5EF4-FFF2-40B4-BE49-F238E27FC236}">
                <a16:creationId xmlns:a16="http://schemas.microsoft.com/office/drawing/2014/main" id="{87E2A717-D966-D43E-C597-F26339E66B16}"/>
              </a:ext>
            </a:extLst>
          </p:cNvPr>
          <p:cNvSpPr txBox="1"/>
          <p:nvPr/>
        </p:nvSpPr>
        <p:spPr>
          <a:xfrm>
            <a:off x="914400" y="381000"/>
            <a:ext cx="5867399" cy="132556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2800" b="1" i="0" kern="1200">
                <a:solidFill>
                  <a:schemeClr val="tx1"/>
                </a:solidFill>
                <a:effectLst/>
                <a:latin typeface="Arial" panose="020B0604020202020204" pitchFamily="34" charset="0"/>
                <a:ea typeface="+mj-ea"/>
                <a:cs typeface="Arial" panose="020B0604020202020204" pitchFamily="34" charset="0"/>
              </a:rPr>
              <a:t>Generative Adversarial Networks </a:t>
            </a:r>
            <a:r>
              <a:rPr lang="tr-TR" sz="2800" b="1" i="0" kern="1200">
                <a:solidFill>
                  <a:schemeClr val="tx1"/>
                </a:solidFill>
                <a:effectLst/>
                <a:latin typeface="Arial" panose="020B0604020202020204" pitchFamily="34" charset="0"/>
                <a:ea typeface="+mj-ea"/>
                <a:cs typeface="Arial" panose="020B0604020202020204" pitchFamily="34" charset="0"/>
              </a:rPr>
              <a:t>(</a:t>
            </a:r>
            <a:r>
              <a:rPr lang="tr-TR" sz="2800" b="1">
                <a:latin typeface="Arial" panose="020B0604020202020204" pitchFamily="34" charset="0"/>
                <a:ea typeface="+mj-ea"/>
                <a:cs typeface="Arial" panose="020B0604020202020204" pitchFamily="34" charset="0"/>
              </a:rPr>
              <a:t>Üretici Çekişmeli Ağlar)</a:t>
            </a:r>
            <a:endParaRPr lang="en-US" sz="2800" b="1" i="0" kern="1200">
              <a:solidFill>
                <a:schemeClr val="tx1"/>
              </a:solidFill>
              <a:effectLst/>
              <a:latin typeface="Arial" panose="020B0604020202020204" pitchFamily="34" charset="0"/>
              <a:ea typeface="+mj-ea"/>
              <a:cs typeface="Arial" panose="020B0604020202020204" pitchFamily="34" charset="0"/>
            </a:endParaRPr>
          </a:p>
          <a:p>
            <a:pPr>
              <a:lnSpc>
                <a:spcPct val="90000"/>
              </a:lnSpc>
              <a:spcBef>
                <a:spcPct val="0"/>
              </a:spcBef>
              <a:spcAft>
                <a:spcPts val="600"/>
              </a:spcAft>
            </a:pPr>
            <a:endParaRPr lang="en-US" sz="3100" kern="1200">
              <a:solidFill>
                <a:schemeClr val="tx1"/>
              </a:solidFill>
              <a:latin typeface="+mj-lt"/>
              <a:ea typeface="+mj-ea"/>
              <a:cs typeface="+mj-cs"/>
            </a:endParaRPr>
          </a:p>
        </p:txBody>
      </p:sp>
      <p:pic>
        <p:nvPicPr>
          <p:cNvPr id="5" name="Resim 4" descr="metin, ekran görüntüsü, dikdörtgen, diyagram içeren bir resim&#10;&#10;Açıklama otomatik olarak oluşturuldu">
            <a:extLst>
              <a:ext uri="{FF2B5EF4-FFF2-40B4-BE49-F238E27FC236}">
                <a16:creationId xmlns:a16="http://schemas.microsoft.com/office/drawing/2014/main" id="{0BA490DA-6F3E-DEDF-9780-76C46EB1DA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7520" y="3082540"/>
            <a:ext cx="6802080" cy="2952297"/>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3" name="Metin kutusu 2">
            <a:extLst>
              <a:ext uri="{FF2B5EF4-FFF2-40B4-BE49-F238E27FC236}">
                <a16:creationId xmlns:a16="http://schemas.microsoft.com/office/drawing/2014/main" id="{DEFA29C3-B0D4-9C57-B295-69A36DB69E8F}"/>
              </a:ext>
            </a:extLst>
          </p:cNvPr>
          <p:cNvSpPr txBox="1"/>
          <p:nvPr/>
        </p:nvSpPr>
        <p:spPr>
          <a:xfrm>
            <a:off x="914400" y="1602188"/>
            <a:ext cx="7696200" cy="1507327"/>
          </a:xfrm>
          <a:prstGeom prst="rect">
            <a:avLst/>
          </a:prstGeom>
        </p:spPr>
        <p:txBody>
          <a:bodyPr vert="horz" lIns="91440" tIns="45720" rIns="91440" bIns="45720" rtlCol="0">
            <a:normAutofit/>
          </a:bodyPr>
          <a:lstStyle/>
          <a:p>
            <a:pPr>
              <a:lnSpc>
                <a:spcPct val="90000"/>
              </a:lnSpc>
              <a:spcAft>
                <a:spcPts val="600"/>
              </a:spcAft>
            </a:pPr>
            <a:r>
              <a:rPr lang="tr-TR" sz="1600" b="0" i="0">
                <a:effectLst/>
                <a:latin typeface="Arial" panose="020B0604020202020204" pitchFamily="34" charset="0"/>
                <a:cs typeface="Arial" panose="020B0604020202020204" pitchFamily="34" charset="0"/>
              </a:rPr>
              <a:t>   </a:t>
            </a:r>
            <a:r>
              <a:rPr lang="en-US" sz="1600" b="0" i="0">
                <a:effectLst/>
                <a:latin typeface="Arial" panose="020B0604020202020204" pitchFamily="34" charset="0"/>
                <a:cs typeface="Arial" panose="020B0604020202020204" pitchFamily="34" charset="0"/>
              </a:rPr>
              <a:t>Üretken </a:t>
            </a:r>
            <a:r>
              <a:rPr lang="tr-TR" sz="1600">
                <a:latin typeface="Arial" panose="020B0604020202020204" pitchFamily="34" charset="0"/>
                <a:cs typeface="Arial" panose="020B0604020202020204" pitchFamily="34" charset="0"/>
              </a:rPr>
              <a:t>çekişmeli</a:t>
            </a:r>
            <a:r>
              <a:rPr lang="en-US" sz="1600" b="0" i="0">
                <a:effectLst/>
                <a:latin typeface="Arial" panose="020B0604020202020204" pitchFamily="34" charset="0"/>
                <a:cs typeface="Arial" panose="020B0604020202020204" pitchFamily="34" charset="0"/>
              </a:rPr>
              <a:t> ağ</a:t>
            </a:r>
            <a:r>
              <a:rPr lang="tr-TR" sz="1600" b="0" i="0">
                <a:effectLst/>
                <a:latin typeface="Arial" panose="020B0604020202020204" pitchFamily="34" charset="0"/>
                <a:cs typeface="Arial" panose="020B0604020202020204" pitchFamily="34" charset="0"/>
              </a:rPr>
              <a:t>lar</a:t>
            </a:r>
            <a:r>
              <a:rPr lang="en-US" sz="1600" b="0" i="0">
                <a:effectLst/>
                <a:latin typeface="Arial" panose="020B0604020202020204" pitchFamily="34" charset="0"/>
                <a:cs typeface="Arial" panose="020B0604020202020204" pitchFamily="34" charset="0"/>
              </a:rPr>
              <a:t>, mevcut eğitim veri kümelerinden kalıplar öğrenerek gerçekçi veriler üretmek üzere tasarlanmış bir </a:t>
            </a:r>
            <a:r>
              <a:rPr lang="en-US" sz="1600" b="0" i="0" u="none" strike="noStrike">
                <a:effectLst/>
                <a:latin typeface="Arial" panose="020B0604020202020204" pitchFamily="34" charset="0"/>
                <a:cs typeface="Arial" panose="020B0604020202020204" pitchFamily="34" charset="0"/>
              </a:rPr>
              <a:t>makine öğrenme modelidir. Derin öğrenme</a:t>
            </a:r>
            <a:r>
              <a:rPr lang="en-US" sz="1600" b="0" i="0">
                <a:effectLst/>
                <a:latin typeface="Arial" panose="020B0604020202020204" pitchFamily="34" charset="0"/>
                <a:cs typeface="Arial" panose="020B0604020202020204" pitchFamily="34" charset="0"/>
              </a:rPr>
              <a:t> tekniklerin kullanarak </a:t>
            </a:r>
            <a:r>
              <a:rPr lang="en-US" sz="1600" b="0" i="0" u="none" strike="noStrike">
                <a:effectLst/>
                <a:latin typeface="Arial" panose="020B0604020202020204" pitchFamily="34" charset="0"/>
                <a:cs typeface="Arial" panose="020B0604020202020204" pitchFamily="34" charset="0"/>
              </a:rPr>
              <a:t>denetimsiz</a:t>
            </a:r>
            <a:r>
              <a:rPr lang="tr-TR" sz="1600">
                <a:latin typeface="Arial" panose="020B0604020202020204" pitchFamily="34" charset="0"/>
                <a:cs typeface="Arial" panose="020B0604020202020204" pitchFamily="34" charset="0"/>
              </a:rPr>
              <a:t> öğrenme çerçevesinde</a:t>
            </a:r>
            <a:r>
              <a:rPr lang="tr-TR" sz="1600" b="0" i="0" u="none" strike="noStrike">
                <a:effectLst/>
                <a:latin typeface="Arial" panose="020B0604020202020204" pitchFamily="34" charset="0"/>
                <a:cs typeface="Arial" panose="020B0604020202020204" pitchFamily="34" charset="0"/>
              </a:rPr>
              <a:t> </a:t>
            </a:r>
            <a:r>
              <a:rPr lang="en-US" sz="1600" b="0" i="0">
                <a:effectLst/>
                <a:latin typeface="Arial" panose="020B0604020202020204" pitchFamily="34" charset="0"/>
                <a:cs typeface="Arial" panose="020B0604020202020204" pitchFamily="34" charset="0"/>
              </a:rPr>
              <a:t>çalışır; burada iki </a:t>
            </a:r>
            <a:r>
              <a:rPr lang="en-US" sz="1600" b="0" i="0" u="none" strike="noStrike">
                <a:effectLst/>
                <a:latin typeface="Arial" panose="020B0604020202020204" pitchFamily="34" charset="0"/>
                <a:cs typeface="Arial" panose="020B0604020202020204" pitchFamily="34" charset="0"/>
              </a:rPr>
              <a:t>sinir ağı</a:t>
            </a:r>
            <a:r>
              <a:rPr lang="en-US" sz="1600" b="0" i="0">
                <a:effectLst/>
                <a:latin typeface="Arial" panose="020B0604020202020204" pitchFamily="34" charset="0"/>
                <a:cs typeface="Arial" panose="020B0604020202020204" pitchFamily="34" charset="0"/>
              </a:rPr>
              <a:t> zıt yönlerde çalışır: </a:t>
            </a:r>
            <a:r>
              <a:rPr lang="tr-TR" sz="1600">
                <a:latin typeface="Arial" panose="020B0604020202020204" pitchFamily="34" charset="0"/>
                <a:cs typeface="Arial" panose="020B0604020202020204" pitchFamily="34" charset="0"/>
              </a:rPr>
              <a:t>B</a:t>
            </a:r>
            <a:r>
              <a:rPr lang="en-US" sz="1600" b="0" i="0">
                <a:effectLst/>
                <a:latin typeface="Arial" panose="020B0604020202020204" pitchFamily="34" charset="0"/>
                <a:cs typeface="Arial" panose="020B0604020202020204" pitchFamily="34" charset="0"/>
              </a:rPr>
              <a:t>iri veri üretirken diğeri verinin gerçek mi yoksa üretilmiş mi olduğunu değerlendirir.</a:t>
            </a:r>
            <a:endParaRPr lang="en-US" sz="16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699845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sim 2">
            <a:extLst>
              <a:ext uri="{FF2B5EF4-FFF2-40B4-BE49-F238E27FC236}">
                <a16:creationId xmlns:a16="http://schemas.microsoft.com/office/drawing/2014/main" id="{04638281-DCC5-1CED-EE28-42C5AEB0A6FD}"/>
              </a:ext>
            </a:extLst>
          </p:cNvPr>
          <p:cNvPicPr>
            <a:picLocks noChangeAspect="1"/>
          </p:cNvPicPr>
          <p:nvPr/>
        </p:nvPicPr>
        <p:blipFill>
          <a:blip r:embed="rId2"/>
          <a:stretch>
            <a:fillRect/>
          </a:stretch>
        </p:blipFill>
        <p:spPr>
          <a:xfrm>
            <a:off x="87987" y="1828800"/>
            <a:ext cx="2821432" cy="2689924"/>
          </a:xfrm>
          <a:prstGeom prst="rect">
            <a:avLst/>
          </a:prstGeom>
        </p:spPr>
      </p:pic>
      <p:pic>
        <p:nvPicPr>
          <p:cNvPr id="5" name="Resim 4">
            <a:extLst>
              <a:ext uri="{FF2B5EF4-FFF2-40B4-BE49-F238E27FC236}">
                <a16:creationId xmlns:a16="http://schemas.microsoft.com/office/drawing/2014/main" id="{E5D04628-770F-6F4B-0BA5-E2AA0DAA911B}"/>
              </a:ext>
            </a:extLst>
          </p:cNvPr>
          <p:cNvPicPr>
            <a:picLocks noChangeAspect="1"/>
          </p:cNvPicPr>
          <p:nvPr/>
        </p:nvPicPr>
        <p:blipFill>
          <a:blip r:embed="rId3"/>
          <a:stretch>
            <a:fillRect/>
          </a:stretch>
        </p:blipFill>
        <p:spPr>
          <a:xfrm>
            <a:off x="3048000" y="1828800"/>
            <a:ext cx="2935006" cy="2689924"/>
          </a:xfrm>
          <a:prstGeom prst="rect">
            <a:avLst/>
          </a:prstGeom>
        </p:spPr>
      </p:pic>
      <p:pic>
        <p:nvPicPr>
          <p:cNvPr id="7" name="Resim 6">
            <a:extLst>
              <a:ext uri="{FF2B5EF4-FFF2-40B4-BE49-F238E27FC236}">
                <a16:creationId xmlns:a16="http://schemas.microsoft.com/office/drawing/2014/main" id="{4DFC3BE5-03E6-86E3-79E7-8A7D06184FFC}"/>
              </a:ext>
            </a:extLst>
          </p:cNvPr>
          <p:cNvPicPr>
            <a:picLocks noChangeAspect="1"/>
          </p:cNvPicPr>
          <p:nvPr/>
        </p:nvPicPr>
        <p:blipFill>
          <a:blip r:embed="rId4"/>
          <a:stretch>
            <a:fillRect/>
          </a:stretch>
        </p:blipFill>
        <p:spPr>
          <a:xfrm>
            <a:off x="6121587" y="1828800"/>
            <a:ext cx="2873535" cy="2689924"/>
          </a:xfrm>
          <a:prstGeom prst="rect">
            <a:avLst/>
          </a:prstGeom>
        </p:spPr>
      </p:pic>
    </p:spTree>
    <p:extLst>
      <p:ext uri="{BB962C8B-B14F-4D97-AF65-F5344CB8AC3E}">
        <p14:creationId xmlns:p14="http://schemas.microsoft.com/office/powerpoint/2010/main" val="40323096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Metin kutusu 1">
            <a:extLst>
              <a:ext uri="{FF2B5EF4-FFF2-40B4-BE49-F238E27FC236}">
                <a16:creationId xmlns:a16="http://schemas.microsoft.com/office/drawing/2014/main" id="{4CA958EB-0060-8649-27DD-076A0643801A}"/>
              </a:ext>
            </a:extLst>
          </p:cNvPr>
          <p:cNvSpPr txBox="1"/>
          <p:nvPr/>
        </p:nvSpPr>
        <p:spPr>
          <a:xfrm>
            <a:off x="4421221" y="479493"/>
            <a:ext cx="3503579" cy="132556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2800" kern="1200">
                <a:solidFill>
                  <a:schemeClr val="tx1"/>
                </a:solidFill>
                <a:latin typeface="Arial" panose="020B0604020202020204" pitchFamily="34" charset="0"/>
                <a:ea typeface="+mj-ea"/>
                <a:cs typeface="Arial" panose="020B0604020202020204" pitchFamily="34" charset="0"/>
              </a:rPr>
              <a:t>Super Resolution (Süper Çözünürlük)</a:t>
            </a:r>
          </a:p>
        </p:txBody>
      </p:sp>
      <p:pic>
        <p:nvPicPr>
          <p:cNvPr id="5" name="Resim 4">
            <a:extLst>
              <a:ext uri="{FF2B5EF4-FFF2-40B4-BE49-F238E27FC236}">
                <a16:creationId xmlns:a16="http://schemas.microsoft.com/office/drawing/2014/main" id="{B96B62F4-B761-46A3-E44E-DBBBDFBB564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7386" y="2457326"/>
            <a:ext cx="3810250" cy="1886073"/>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3" name="Metin kutusu 2">
            <a:extLst>
              <a:ext uri="{FF2B5EF4-FFF2-40B4-BE49-F238E27FC236}">
                <a16:creationId xmlns:a16="http://schemas.microsoft.com/office/drawing/2014/main" id="{E7556FD0-98EB-6264-761F-72BDB2CE085C}"/>
              </a:ext>
            </a:extLst>
          </p:cNvPr>
          <p:cNvSpPr txBox="1"/>
          <p:nvPr/>
        </p:nvSpPr>
        <p:spPr>
          <a:xfrm>
            <a:off x="4421221" y="1984443"/>
            <a:ext cx="4094129" cy="3273357"/>
          </a:xfrm>
          <a:prstGeom prst="rect">
            <a:avLst/>
          </a:prstGeom>
        </p:spPr>
        <p:txBody>
          <a:bodyPr vert="horz" lIns="91440" tIns="45720" rIns="91440" bIns="45720" rtlCol="0">
            <a:normAutofit/>
          </a:bodyPr>
          <a:lstStyle/>
          <a:p>
            <a:pPr>
              <a:lnSpc>
                <a:spcPct val="90000"/>
              </a:lnSpc>
              <a:spcAft>
                <a:spcPts val="600"/>
              </a:spcAft>
            </a:pPr>
            <a:r>
              <a:rPr lang="tr-TR"/>
              <a:t>   </a:t>
            </a:r>
            <a:r>
              <a:rPr lang="tr-TR" sz="1600">
                <a:latin typeface="Arial" panose="020B0604020202020204" pitchFamily="34" charset="0"/>
                <a:cs typeface="Arial" panose="020B0604020202020204" pitchFamily="34" charset="0"/>
              </a:rPr>
              <a:t>D</a:t>
            </a:r>
            <a:r>
              <a:rPr lang="en-US" sz="1600">
                <a:latin typeface="Arial" panose="020B0604020202020204" pitchFamily="34" charset="0"/>
                <a:cs typeface="Arial" panose="020B0604020202020204" pitchFamily="34" charset="0"/>
              </a:rPr>
              <a:t>üşük çözünürlüklü ve detaysız bir görüntüyü</a:t>
            </a:r>
            <a:r>
              <a:rPr lang="tr-TR" sz="1600">
                <a:latin typeface="Arial" panose="020B0604020202020204" pitchFamily="34" charset="0"/>
                <a:cs typeface="Arial" panose="020B0604020202020204" pitchFamily="34" charset="0"/>
              </a:rPr>
              <a:t> </a:t>
            </a:r>
            <a:r>
              <a:rPr lang="en-US" sz="1600">
                <a:latin typeface="Arial" panose="020B0604020202020204" pitchFamily="34" charset="0"/>
                <a:cs typeface="Arial" panose="020B0604020202020204" pitchFamily="34" charset="0"/>
              </a:rPr>
              <a:t>Derin Öğrenme ve GAN'lar kullanarak yüksek çözünürlüklü ve net bir formata dönüştürme işlemidir. Geleneksel piksel büyütme yöntemleri görüntüyü sadece esneterek bulanıklaştırırken; Süper Çözünürlük modelleri, devasa veri setlerinden öğrendikleri kalıpları kullanarak eksik piksellerin ne olması gerektiğini tahmin eder ve yeniden inşa eder. Bu sayede, orijinalinde seçilemeyen ince detaylar ve dokular bile matematiksel olarak hesaplanarak görüntüye geri kazandırılır.</a:t>
            </a:r>
          </a:p>
        </p:txBody>
      </p:sp>
    </p:spTree>
    <p:extLst>
      <p:ext uri="{BB962C8B-B14F-4D97-AF65-F5344CB8AC3E}">
        <p14:creationId xmlns:p14="http://schemas.microsoft.com/office/powerpoint/2010/main" val="3240536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etin kutusu 1">
            <a:extLst>
              <a:ext uri="{FF2B5EF4-FFF2-40B4-BE49-F238E27FC236}">
                <a16:creationId xmlns:a16="http://schemas.microsoft.com/office/drawing/2014/main" id="{E612BCFE-BA64-230F-CFED-31DB2BB62ABE}"/>
              </a:ext>
            </a:extLst>
          </p:cNvPr>
          <p:cNvSpPr txBox="1"/>
          <p:nvPr/>
        </p:nvSpPr>
        <p:spPr>
          <a:xfrm>
            <a:off x="280219" y="1828800"/>
            <a:ext cx="8839200" cy="1477328"/>
          </a:xfrm>
          <a:prstGeom prst="rect">
            <a:avLst/>
          </a:prstGeom>
          <a:noFill/>
        </p:spPr>
        <p:txBody>
          <a:bodyPr wrap="square" rtlCol="0">
            <a:spAutoFit/>
          </a:bodyPr>
          <a:lstStyle/>
          <a:p>
            <a:pPr marL="285750" indent="-285750">
              <a:buFont typeface="Arial" panose="020B0604020202020204" pitchFamily="34" charset="0"/>
              <a:buChar char="•"/>
            </a:pPr>
            <a:r>
              <a:rPr lang="tr-TR"/>
              <a:t>https://dergipark.org.tr/tr/download/article-file/942990</a:t>
            </a:r>
          </a:p>
          <a:p>
            <a:pPr marL="285750" indent="-285750">
              <a:buFont typeface="Arial" panose="020B0604020202020204" pitchFamily="34" charset="0"/>
              <a:buChar char="•"/>
            </a:pPr>
            <a:r>
              <a:rPr lang="tr-TR"/>
              <a:t>https://www.ibm.com/think/topics/generative-adversarial-networks</a:t>
            </a:r>
          </a:p>
          <a:p>
            <a:pPr marL="285750" indent="-285750">
              <a:buFont typeface="Arial" panose="020B0604020202020204" pitchFamily="34" charset="0"/>
              <a:buChar char="•"/>
            </a:pPr>
            <a:r>
              <a:rPr lang="tr-TR"/>
              <a:t>https://www.geeksforgeeks.org/deep-learning/latent-space-in-deep-learning/</a:t>
            </a:r>
          </a:p>
          <a:p>
            <a:endParaRPr lang="tr-TR"/>
          </a:p>
          <a:p>
            <a:endParaRPr lang="tr-TR"/>
          </a:p>
        </p:txBody>
      </p:sp>
      <p:sp>
        <p:nvSpPr>
          <p:cNvPr id="4" name="Metin kutusu 3">
            <a:extLst>
              <a:ext uri="{FF2B5EF4-FFF2-40B4-BE49-F238E27FC236}">
                <a16:creationId xmlns:a16="http://schemas.microsoft.com/office/drawing/2014/main" id="{2F4F0A5F-04C9-95F9-9776-193AE8C91B81}"/>
              </a:ext>
            </a:extLst>
          </p:cNvPr>
          <p:cNvSpPr txBox="1"/>
          <p:nvPr/>
        </p:nvSpPr>
        <p:spPr>
          <a:xfrm>
            <a:off x="3175819" y="304800"/>
            <a:ext cx="3048000" cy="707886"/>
          </a:xfrm>
          <a:prstGeom prst="rect">
            <a:avLst/>
          </a:prstGeom>
          <a:noFill/>
        </p:spPr>
        <p:txBody>
          <a:bodyPr wrap="square" rtlCol="0">
            <a:spAutoFit/>
          </a:bodyPr>
          <a:lstStyle/>
          <a:p>
            <a:r>
              <a:rPr lang="tr-TR" sz="4000">
                <a:latin typeface="Arial" panose="020B0604020202020204" pitchFamily="34" charset="0"/>
                <a:cs typeface="Arial" panose="020B0604020202020204" pitchFamily="34" charset="0"/>
              </a:rPr>
              <a:t>KAYNAKÇA</a:t>
            </a:r>
          </a:p>
        </p:txBody>
      </p:sp>
    </p:spTree>
    <p:extLst>
      <p:ext uri="{BB962C8B-B14F-4D97-AF65-F5344CB8AC3E}">
        <p14:creationId xmlns:p14="http://schemas.microsoft.com/office/powerpoint/2010/main" val="35882941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0" y="103631"/>
            <a:ext cx="9143999" cy="1775460"/>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2438400" y="1879090"/>
            <a:ext cx="3217164" cy="2849879"/>
          </a:xfrm>
          <a:prstGeom prst="rect">
            <a:avLst/>
          </a:prstGeom>
          <a:blipFill>
            <a:blip r:embed="rId3" cstate="print"/>
            <a:stretch>
              <a:fillRect/>
            </a:stretch>
          </a:blipFill>
        </p:spPr>
        <p:txBody>
          <a:bodyPr wrap="square" lIns="0" tIns="0" rIns="0" bIns="0" rtlCol="0"/>
          <a:lstStyle/>
          <a:p>
            <a:endParaRPr/>
          </a:p>
        </p:txBody>
      </p:sp>
      <p:sp>
        <p:nvSpPr>
          <p:cNvPr id="7" name="object 7"/>
          <p:cNvSpPr txBox="1"/>
          <p:nvPr/>
        </p:nvSpPr>
        <p:spPr>
          <a:xfrm>
            <a:off x="631177" y="4978910"/>
            <a:ext cx="7881643" cy="415498"/>
          </a:xfrm>
          <a:prstGeom prst="rect">
            <a:avLst/>
          </a:prstGeom>
        </p:spPr>
        <p:txBody>
          <a:bodyPr vert="horz" wrap="square" lIns="0" tIns="0" rIns="0" bIns="0" rtlCol="0">
            <a:spAutoFit/>
          </a:bodyPr>
          <a:lstStyle/>
          <a:p>
            <a:pPr marL="12700" algn="ctr">
              <a:lnSpc>
                <a:spcPct val="100000"/>
              </a:lnSpc>
            </a:pPr>
            <a:r>
              <a:rPr lang="tr-TR" sz="2700">
                <a:latin typeface="Arial"/>
                <a:cs typeface="Arial"/>
              </a:rPr>
              <a:t>Beni dinlediğiniz için teşekkür ederim.</a:t>
            </a:r>
          </a:p>
        </p:txBody>
      </p:sp>
    </p:spTree>
    <p:extLst>
      <p:ext uri="{BB962C8B-B14F-4D97-AF65-F5344CB8AC3E}">
        <p14:creationId xmlns:p14="http://schemas.microsoft.com/office/powerpoint/2010/main" val="3594773830"/>
      </p:ext>
    </p:extLst>
  </p:cSld>
  <p:clrMapOvr>
    <a:masterClrMapping/>
  </p:clrMapOvr>
</p:sld>
</file>

<file path=ppt/theme/theme1.xml><?xml version="1.0" encoding="utf-8"?>
<a:theme xmlns:a="http://schemas.openxmlformats.org/drawingml/2006/main" name="Yüzeyler">
  <a:themeElements>
    <a:clrScheme name="Gri Tonlamalı">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Yüzeyler">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Yüzeyler">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8C59B386-999D-4CB6-B907-9F3997C027CC}"/>
    </a:ext>
  </a:extLst>
</a:theme>
</file>

<file path=docProps/app.xml><?xml version="1.0" encoding="utf-8"?>
<Properties xmlns="http://schemas.openxmlformats.org/officeDocument/2006/extended-properties" xmlns:vt="http://schemas.openxmlformats.org/officeDocument/2006/docPropsVTypes">
  <Template>Facet</Template>
  <TotalTime>1598</TotalTime>
  <Words>440</Words>
  <Application>Microsoft Office PowerPoint</Application>
  <PresentationFormat>Ekran Gösterisi (4:3)</PresentationFormat>
  <Paragraphs>33</Paragraphs>
  <Slides>10</Slides>
  <Notes>0</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10</vt:i4>
      </vt:variant>
    </vt:vector>
  </HeadingPairs>
  <TitlesOfParts>
    <vt:vector size="15" baseType="lpstr">
      <vt:lpstr>Airal</vt:lpstr>
      <vt:lpstr>Arial</vt:lpstr>
      <vt:lpstr>Trebuchet MS</vt:lpstr>
      <vt:lpstr>Wingdings 3</vt:lpstr>
      <vt:lpstr>Yüzeyler</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creator>Windows Kullanıcısı</dc:creator>
  <cp:lastModifiedBy>Batuhan Agalday</cp:lastModifiedBy>
  <cp:revision>52</cp:revision>
  <dcterms:created xsi:type="dcterms:W3CDTF">2021-03-02T22:14:27Z</dcterms:created>
  <dcterms:modified xsi:type="dcterms:W3CDTF">2026-04-25T18:56:08Z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2020-10-14T00:00:00Z</vt:filetime>
  </property>
  <property fmtid="{D5CDD505-2E9C-101B-9397-08002B2CF9AE}" pid="3" name="Creator">
    <vt:lpwstr>Microsoft® PowerPoint® 2013</vt:lpwstr>
  </property>
  <property fmtid="{D5CDD505-2E9C-101B-9397-08002B2CF9AE}" pid="4" name="LastSaved">
    <vt:filetime>2021-03-02T00:00:00Z</vt:filetime>
  </property>
</Properties>
</file>